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4"/>
  </p:sldMasterIdLst>
  <p:notesMasterIdLst>
    <p:notesMasterId r:id="rId13"/>
  </p:notesMasterIdLst>
  <p:handoutMasterIdLst>
    <p:handoutMasterId r:id="rId14"/>
  </p:handoutMasterIdLst>
  <p:sldIdLst>
    <p:sldId id="256" r:id="rId5"/>
    <p:sldId id="309" r:id="rId6"/>
    <p:sldId id="304" r:id="rId7"/>
    <p:sldId id="305" r:id="rId8"/>
    <p:sldId id="308" r:id="rId9"/>
    <p:sldId id="306" r:id="rId10"/>
    <p:sldId id="300" r:id="rId11"/>
    <p:sldId id="276" r:id="rId12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82930" autoAdjust="0"/>
  </p:normalViewPr>
  <p:slideViewPr>
    <p:cSldViewPr snapToGrid="0">
      <p:cViewPr varScale="1">
        <p:scale>
          <a:sx n="60" d="100"/>
          <a:sy n="60" d="100"/>
        </p:scale>
        <p:origin x="72" y="768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882" y="13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ed Belhocine" userId="200cc0e2b299676e" providerId="LiveId" clId="{9D5C2755-5B7D-406A-B8B3-AE8FBAA81AB3}"/>
    <pc:docChg chg="undo custSel addSld delSld modSld sldOrd">
      <pc:chgData name="Zied Belhocine" userId="200cc0e2b299676e" providerId="LiveId" clId="{9D5C2755-5B7D-406A-B8B3-AE8FBAA81AB3}" dt="2026-01-15T12:41:22.035" v="1137"/>
      <pc:docMkLst>
        <pc:docMk/>
      </pc:docMkLst>
      <pc:sldChg chg="modSp mod ord modNotesTx">
        <pc:chgData name="Zied Belhocine" userId="200cc0e2b299676e" providerId="LiveId" clId="{9D5C2755-5B7D-406A-B8B3-AE8FBAA81AB3}" dt="2026-01-15T12:38:03.386" v="1134"/>
        <pc:sldMkLst>
          <pc:docMk/>
          <pc:sldMk cId="4153042215" sldId="300"/>
        </pc:sldMkLst>
        <pc:spChg chg="mod">
          <ac:chgData name="Zied Belhocine" userId="200cc0e2b299676e" providerId="LiveId" clId="{9D5C2755-5B7D-406A-B8B3-AE8FBAA81AB3}" dt="2026-01-09T16:22:46.845" v="1126" actId="20577"/>
          <ac:spMkLst>
            <pc:docMk/>
            <pc:sldMk cId="4153042215" sldId="300"/>
            <ac:spMk id="10" creationId="{0519737F-9D2D-31DE-5686-D6F447D5D3F5}"/>
          </ac:spMkLst>
        </pc:spChg>
        <pc:spChg chg="mod">
          <ac:chgData name="Zied Belhocine" userId="200cc0e2b299676e" providerId="LiveId" clId="{9D5C2755-5B7D-406A-B8B3-AE8FBAA81AB3}" dt="2026-01-09T08:14:38.762" v="656" actId="1076"/>
          <ac:spMkLst>
            <pc:docMk/>
            <pc:sldMk cId="4153042215" sldId="300"/>
            <ac:spMk id="12" creationId="{F8A892BB-5431-CA08-0719-4F1CA5524A86}"/>
          </ac:spMkLst>
        </pc:spChg>
        <pc:picChg chg="mod">
          <ac:chgData name="Zied Belhocine" userId="200cc0e2b299676e" providerId="LiveId" clId="{9D5C2755-5B7D-406A-B8B3-AE8FBAA81AB3}" dt="2026-01-09T08:15:02.712" v="660" actId="1076"/>
          <ac:picMkLst>
            <pc:docMk/>
            <pc:sldMk cId="4153042215" sldId="300"/>
            <ac:picMk id="9" creationId="{F58E550A-D9A8-0666-3A29-58548655973C}"/>
          </ac:picMkLst>
        </pc:picChg>
      </pc:sldChg>
      <pc:sldChg chg="modSp mod ord modNotesTx">
        <pc:chgData name="Zied Belhocine" userId="200cc0e2b299676e" providerId="LiveId" clId="{9D5C2755-5B7D-406A-B8B3-AE8FBAA81AB3}" dt="2026-01-15T12:41:22.035" v="1137"/>
        <pc:sldMkLst>
          <pc:docMk/>
          <pc:sldMk cId="3063745067" sldId="304"/>
        </pc:sldMkLst>
        <pc:spChg chg="mod">
          <ac:chgData name="Zied Belhocine" userId="200cc0e2b299676e" providerId="LiveId" clId="{9D5C2755-5B7D-406A-B8B3-AE8FBAA81AB3}" dt="2026-01-09T08:18:35.078" v="745" actId="14100"/>
          <ac:spMkLst>
            <pc:docMk/>
            <pc:sldMk cId="3063745067" sldId="304"/>
            <ac:spMk id="3" creationId="{E503D5C8-EABC-8DB3-766D-2D8D43C29F2E}"/>
          </ac:spMkLst>
        </pc:spChg>
        <pc:spChg chg="mod">
          <ac:chgData name="Zied Belhocine" userId="200cc0e2b299676e" providerId="LiveId" clId="{9D5C2755-5B7D-406A-B8B3-AE8FBAA81AB3}" dt="2026-01-09T08:14:31.795" v="655" actId="1076"/>
          <ac:spMkLst>
            <pc:docMk/>
            <pc:sldMk cId="3063745067" sldId="304"/>
            <ac:spMk id="5" creationId="{4F487A6A-202B-34F2-3157-3A0DB7CFF017}"/>
          </ac:spMkLst>
        </pc:spChg>
        <pc:picChg chg="mod">
          <ac:chgData name="Zied Belhocine" userId="200cc0e2b299676e" providerId="LiveId" clId="{9D5C2755-5B7D-406A-B8B3-AE8FBAA81AB3}" dt="2026-01-09T08:19:01.683" v="750" actId="1076"/>
          <ac:picMkLst>
            <pc:docMk/>
            <pc:sldMk cId="3063745067" sldId="304"/>
            <ac:picMk id="2" creationId="{2415FE7D-904B-B539-B403-F92F79825ED8}"/>
          </ac:picMkLst>
        </pc:picChg>
      </pc:sldChg>
      <pc:sldChg chg="modSp mod ord modShow modNotesTx">
        <pc:chgData name="Zied Belhocine" userId="200cc0e2b299676e" providerId="LiveId" clId="{9D5C2755-5B7D-406A-B8B3-AE8FBAA81AB3}" dt="2026-01-15T12:41:01.724" v="1135" actId="729"/>
        <pc:sldMkLst>
          <pc:docMk/>
          <pc:sldMk cId="3998171594" sldId="305"/>
        </pc:sldMkLst>
        <pc:spChg chg="mod">
          <ac:chgData name="Zied Belhocine" userId="200cc0e2b299676e" providerId="LiveId" clId="{9D5C2755-5B7D-406A-B8B3-AE8FBAA81AB3}" dt="2026-01-09T08:15:42.256" v="719" actId="1076"/>
          <ac:spMkLst>
            <pc:docMk/>
            <pc:sldMk cId="3998171594" sldId="305"/>
            <ac:spMk id="5" creationId="{5F2CDB22-66E5-2C01-0C7C-51F41FB5CFD6}"/>
          </ac:spMkLst>
        </pc:spChg>
        <pc:spChg chg="mod">
          <ac:chgData name="Zied Belhocine" userId="200cc0e2b299676e" providerId="LiveId" clId="{9D5C2755-5B7D-406A-B8B3-AE8FBAA81AB3}" dt="2026-01-09T08:15:15.872" v="664" actId="1076"/>
          <ac:spMkLst>
            <pc:docMk/>
            <pc:sldMk cId="3998171594" sldId="305"/>
            <ac:spMk id="6" creationId="{82AF1DA3-8DEB-180C-05DF-BBE028A18A6E}"/>
          </ac:spMkLst>
        </pc:spChg>
        <pc:picChg chg="mod">
          <ac:chgData name="Zied Belhocine" userId="200cc0e2b299676e" providerId="LiveId" clId="{9D5C2755-5B7D-406A-B8B3-AE8FBAA81AB3}" dt="2026-01-09T08:15:37.386" v="718" actId="1076"/>
          <ac:picMkLst>
            <pc:docMk/>
            <pc:sldMk cId="3998171594" sldId="305"/>
            <ac:picMk id="3" creationId="{E91176A3-5CA2-CCD2-8A6A-6351999522B5}"/>
          </ac:picMkLst>
        </pc:picChg>
      </pc:sldChg>
      <pc:sldChg chg="modSp mod ord modNotesTx">
        <pc:chgData name="Zied Belhocine" userId="200cc0e2b299676e" providerId="LiveId" clId="{9D5C2755-5B7D-406A-B8B3-AE8FBAA81AB3}" dt="2026-01-09T15:50:00.756" v="897" actId="1076"/>
        <pc:sldMkLst>
          <pc:docMk/>
          <pc:sldMk cId="2353362535" sldId="306"/>
        </pc:sldMkLst>
        <pc:spChg chg="mod">
          <ac:chgData name="Zied Belhocine" userId="200cc0e2b299676e" providerId="LiveId" clId="{9D5C2755-5B7D-406A-B8B3-AE8FBAA81AB3}" dt="2026-01-09T15:50:00.756" v="897" actId="1076"/>
          <ac:spMkLst>
            <pc:docMk/>
            <pc:sldMk cId="2353362535" sldId="306"/>
            <ac:spMk id="3" creationId="{EF0CD643-2533-5CD6-2446-CB3E7AD4785B}"/>
          </ac:spMkLst>
        </pc:spChg>
        <pc:spChg chg="mod">
          <ac:chgData name="Zied Belhocine" userId="200cc0e2b299676e" providerId="LiveId" clId="{9D5C2755-5B7D-406A-B8B3-AE8FBAA81AB3}" dt="2026-01-09T08:15:52.854" v="721" actId="1076"/>
          <ac:spMkLst>
            <pc:docMk/>
            <pc:sldMk cId="2353362535" sldId="306"/>
            <ac:spMk id="5" creationId="{B638DCEF-0E7B-FF5A-E4B0-9C14906D4760}"/>
          </ac:spMkLst>
        </pc:spChg>
        <pc:picChg chg="mod">
          <ac:chgData name="Zied Belhocine" userId="200cc0e2b299676e" providerId="LiveId" clId="{9D5C2755-5B7D-406A-B8B3-AE8FBAA81AB3}" dt="2026-01-09T08:16:17.111" v="727" actId="14100"/>
          <ac:picMkLst>
            <pc:docMk/>
            <pc:sldMk cId="2353362535" sldId="306"/>
            <ac:picMk id="2" creationId="{2CFC9D1A-A636-6112-F50A-51C38D5FEE45}"/>
          </ac:picMkLst>
        </pc:picChg>
      </pc:sldChg>
      <pc:sldChg chg="modSp mod ord modNotesTx">
        <pc:chgData name="Zied Belhocine" userId="200cc0e2b299676e" providerId="LiveId" clId="{9D5C2755-5B7D-406A-B8B3-AE8FBAA81AB3}" dt="2026-01-09T15:51:13.286" v="898" actId="20577"/>
        <pc:sldMkLst>
          <pc:docMk/>
          <pc:sldMk cId="1250150470" sldId="308"/>
        </pc:sldMkLst>
        <pc:spChg chg="mod">
          <ac:chgData name="Zied Belhocine" userId="200cc0e2b299676e" providerId="LiveId" clId="{9D5C2755-5B7D-406A-B8B3-AE8FBAA81AB3}" dt="2026-01-09T15:49:18.203" v="852" actId="20577"/>
          <ac:spMkLst>
            <pc:docMk/>
            <pc:sldMk cId="1250150470" sldId="308"/>
            <ac:spMk id="6" creationId="{672B12A8-6C11-5AE7-B843-F4233C2A8988}"/>
          </ac:spMkLst>
        </pc:spChg>
        <pc:spChg chg="mod">
          <ac:chgData name="Zied Belhocine" userId="200cc0e2b299676e" providerId="LiveId" clId="{9D5C2755-5B7D-406A-B8B3-AE8FBAA81AB3}" dt="2026-01-09T08:17:17.100" v="740" actId="1076"/>
          <ac:spMkLst>
            <pc:docMk/>
            <pc:sldMk cId="1250150470" sldId="308"/>
            <ac:spMk id="7" creationId="{9B346097-CD60-B70F-E35D-83B3B4CC3325}"/>
          </ac:spMkLst>
        </pc:spChg>
        <pc:picChg chg="mod">
          <ac:chgData name="Zied Belhocine" userId="200cc0e2b299676e" providerId="LiveId" clId="{9D5C2755-5B7D-406A-B8B3-AE8FBAA81AB3}" dt="2026-01-09T08:17:22.195" v="741" actId="14100"/>
          <ac:picMkLst>
            <pc:docMk/>
            <pc:sldMk cId="1250150470" sldId="308"/>
            <ac:picMk id="5" creationId="{29786476-4BDF-EE96-67CE-9A1137BB4B39}"/>
          </ac:picMkLst>
        </pc:picChg>
      </pc:sldChg>
      <pc:sldChg chg="addSp modSp add mod ord">
        <pc:chgData name="Zied Belhocine" userId="200cc0e2b299676e" providerId="LiveId" clId="{9D5C2755-5B7D-406A-B8B3-AE8FBAA81AB3}" dt="2026-01-15T12:37:52.003" v="1132" actId="962"/>
        <pc:sldMkLst>
          <pc:docMk/>
          <pc:sldMk cId="392528271" sldId="309"/>
        </pc:sldMkLst>
        <pc:picChg chg="add mod">
          <ac:chgData name="Zied Belhocine" userId="200cc0e2b299676e" providerId="LiveId" clId="{9D5C2755-5B7D-406A-B8B3-AE8FBAA81AB3}" dt="2026-01-15T12:37:52.003" v="1132" actId="962"/>
          <ac:picMkLst>
            <pc:docMk/>
            <pc:sldMk cId="392528271" sldId="309"/>
            <ac:picMk id="3" creationId="{1644FE99-D60F-F9B7-54F1-E7C63F4B7639}"/>
          </ac:picMkLst>
        </pc:picChg>
      </pc:sldChg>
      <pc:sldChg chg="new del">
        <pc:chgData name="Zied Belhocine" userId="200cc0e2b299676e" providerId="LiveId" clId="{9D5C2755-5B7D-406A-B8B3-AE8FBAA81AB3}" dt="2026-01-09T15:51:44.127" v="901" actId="47"/>
        <pc:sldMkLst>
          <pc:docMk/>
          <pc:sldMk cId="899877994" sldId="309"/>
        </pc:sldMkLst>
      </pc:sldChg>
      <pc:sldChg chg="modSp new del mod">
        <pc:chgData name="Zied Belhocine" userId="200cc0e2b299676e" providerId="LiveId" clId="{9D5C2755-5B7D-406A-B8B3-AE8FBAA81AB3}" dt="2026-01-09T15:53:11.703" v="1079" actId="47"/>
        <pc:sldMkLst>
          <pc:docMk/>
          <pc:sldMk cId="411004168" sldId="310"/>
        </pc:sldMkLst>
        <pc:spChg chg="mod">
          <ac:chgData name="Zied Belhocine" userId="200cc0e2b299676e" providerId="LiveId" clId="{9D5C2755-5B7D-406A-B8B3-AE8FBAA81AB3}" dt="2026-01-09T15:51:48.543" v="911" actId="20577"/>
          <ac:spMkLst>
            <pc:docMk/>
            <pc:sldMk cId="411004168" sldId="310"/>
            <ac:spMk id="2" creationId="{72403460-8D24-9C22-8E78-B54FBC524C0D}"/>
          </ac:spMkLst>
        </pc:spChg>
        <pc:spChg chg="mod">
          <ac:chgData name="Zied Belhocine" userId="200cc0e2b299676e" providerId="LiveId" clId="{9D5C2755-5B7D-406A-B8B3-AE8FBAA81AB3}" dt="2026-01-09T15:52:30.234" v="1078" actId="20577"/>
          <ac:spMkLst>
            <pc:docMk/>
            <pc:sldMk cId="411004168" sldId="310"/>
            <ac:spMk id="3" creationId="{308EEAFC-94E5-4D32-8435-59276F008B6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96F3730-8562-4D7F-A2D1-B258C4FC42CB}" type="datetime1">
              <a:rPr lang="fr-FR" smtClean="0"/>
              <a:t>15/01/2026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8B237-C4D2-43EE-AC18-AA163EB3D7BC}" type="datetime1">
              <a:rPr lang="fr-FR" smtClean="0"/>
              <a:pPr/>
              <a:t>15/01/2026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7011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dirty="0"/>
              <a:t>L’année dernière, nous avons tourné la page du High Tech pour concentrer nos efforts sur la nourriture et les biens de consommation (juillet 2019). Cet arrêt du high tech a mécaniquement fait baisser notre chiffre total. Cependant l’évolution de la partie nourriture est très encourageante.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6867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La conséquence de cela a été une forte augmentation du nombre de visites et de ventes dès cette transition (juillet 2019). Le nombre de visite augmente d’ailleurs de manière exponentielle (presque +150k entre janvier et février ~ +30% ).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8687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Cela a eu un impact fort sur le taux de conversion qui est divisé par deux entre juillet et février (0,10 à 0,05). Néanmoins, il y a une tendance de stabilisation sur les deux derniers mois et décroit moins rapidement que le taux de conversion augmente, c’est bon signe.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00482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On peut voir ici que plus ils passent de temps sur notre site, plus ils vont avoir un panier élevé.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1401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On constate par ailleurs que ce changement de stratégie entraine des changements de comportements chez nos clients. Ceux-ci ont des profils beaucoup plus variés. Ils sont notamment beaucoup plus nombreux à passer moins de 6 minutes pour faire leurs achats. 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98792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dirty="0"/>
              <a:t>L’année dernière, nous avons tourné la page du High Tech pour concentrer nos efforts sur la nourriture et les biens de consommation (juillet 2019). Cet arrêt du high tech a mécaniquement fait baisser notre chiffre total. Cependant l’évolution de la partie nourriture est très encourageante.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94331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328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pic>
        <p:nvPicPr>
          <p:cNvPr id="8" name="Graphisme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rogram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sme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ronolog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sme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TITRE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LES STYLES DU TEXTE</a:t>
            </a:r>
          </a:p>
        </p:txBody>
      </p:sp>
      <p:sp>
        <p:nvSpPr>
          <p:cNvPr id="17" name="Espace réservé du texte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LES STYLES DU TEXTE</a:t>
            </a:r>
          </a:p>
        </p:txBody>
      </p:sp>
      <p:sp>
        <p:nvSpPr>
          <p:cNvPr id="18" name="Espace réservé du texte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LES STYLES DU TEXTE</a:t>
            </a:r>
          </a:p>
        </p:txBody>
      </p:sp>
      <p:sp>
        <p:nvSpPr>
          <p:cNvPr id="19" name="Espace réservé du texte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LES STYLES DU TEXTE</a:t>
            </a:r>
          </a:p>
        </p:txBody>
      </p:sp>
      <p:sp>
        <p:nvSpPr>
          <p:cNvPr id="34" name="Espace réservé du texte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 style du texte</a:t>
            </a:r>
          </a:p>
        </p:txBody>
      </p:sp>
      <p:sp>
        <p:nvSpPr>
          <p:cNvPr id="35" name="Espace réservé du texte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 style du texte</a:t>
            </a:r>
          </a:p>
        </p:txBody>
      </p:sp>
      <p:sp>
        <p:nvSpPr>
          <p:cNvPr id="36" name="Espace réservé du texte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 style du texte</a:t>
            </a:r>
          </a:p>
        </p:txBody>
      </p:sp>
      <p:sp>
        <p:nvSpPr>
          <p:cNvPr id="37" name="Espace réservé du texte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 style du texte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nne de contenu 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15" name="Espace réservé du texte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7" name="Espace réservé du texte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1" name="Espace réservé du texte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POUR AJOUTER UN SOUS-TITRE</a:t>
            </a:r>
          </a:p>
        </p:txBody>
      </p:sp>
      <p:sp>
        <p:nvSpPr>
          <p:cNvPr id="32" name="Espace réservé du texte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3" name="Espace réservé du texte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POUR AJOUTER UN SOUS-TITRE</a:t>
            </a:r>
          </a:p>
        </p:txBody>
      </p:sp>
      <p:sp>
        <p:nvSpPr>
          <p:cNvPr id="34" name="Espace réservé du texte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2" name="Espace réservé du texte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POUR AJOUTER UN SOUS-TITRE</a:t>
            </a:r>
          </a:p>
        </p:txBody>
      </p:sp>
      <p:sp>
        <p:nvSpPr>
          <p:cNvPr id="13" name="Espace réservé du texte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fr-FR" noProof="0"/>
              <a:t>20XX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fr-FR" noProof="0"/>
              <a:t>Pitch Deck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sme 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sme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nne de contenu 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15" name="Espace réservé du texte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7" name="Espace réservé du texte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8" name="Espace réservé du texte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9" name="Espace réservé du texte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20" name="Espace réservé du texte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3" name="Espace réservé du texte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24" name="Espace réservé du texte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pic>
        <p:nvPicPr>
          <p:cNvPr id="2" name="Graphisme 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e la date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10" name="Espace réservé du pied de page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11" name="Espace réservé du numéro de diapositive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ut de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pic>
        <p:nvPicPr>
          <p:cNvPr id="5" name="Graphisme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sme 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u texte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2" name="Espace réservé du texte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3" name="Espace réservé du texte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4" name="Espace réservé du texte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5" name="Espace réservé du texte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6" name="Espace réservé du texte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7" name="Espace réservé de la date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18" name="Espace réservé du pied de page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19" name="Espace réservé du numéro de diapositive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ois contenu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 LE TEXTE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ICI POUR MODIFIER LE TEXTE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 LE TEXTE</a:t>
            </a:r>
          </a:p>
        </p:txBody>
      </p:sp>
      <p:sp>
        <p:nvSpPr>
          <p:cNvPr id="22" name="Espace réservé du contenu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 des marché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2" name="Espace réservé du contenu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pic>
        <p:nvPicPr>
          <p:cNvPr id="11" name="Graphisme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sme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sme 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Espace réservé du contenu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6" name="Espace réservé du contenu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endParaRPr lang="fr-FR" noProof="0"/>
          </a:p>
        </p:txBody>
      </p:sp>
      <p:sp>
        <p:nvSpPr>
          <p:cNvPr id="27" name="Espace réservé du contenu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Deux conten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 LE TEXTE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ICI POUR MODIFIER LE TEXTE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11" name="Graphisme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sme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r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20" name="Espace réservé du texte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25" name="Espace réservé du texte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6" name="Espace réservé du texte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27" name="Espace réservé du texte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8" name="Espace réservé du texte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29" name="Espace réservé du texte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1" name="Espace réservé de la date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22" name="Espace réservé du pied de page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24" name="Espace réservé du numéro de diapositiv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ronolog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6" name="Espace réservé du texte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Année</a:t>
            </a:r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9" name="Espace réservé du texte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0" name="Espace réservé du texte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Année</a:t>
            </a:r>
          </a:p>
        </p:txBody>
      </p:sp>
      <p:sp>
        <p:nvSpPr>
          <p:cNvPr id="12" name="Espace réservé du texte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3" name="Espace réservé du texte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4" name="Espace réservé du texte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6" name="Espace réservé du texte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7" name="Espace réservé du texte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8" name="Espace réservé du texte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0" name="Espace réservé du texte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1" name="Espace réservé du texte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2" name="Espace réservé du texte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3" name="Espace réservé du texte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4" name="Espace réservé du texte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5" name="Espace réservé du texte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6" name="Espace réservé du texte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7" name="Espace réservé du texte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8" name="Espace réservé du texte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9" name="Espace réservé du texte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30" name="Espace réservé du texte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31" name="Espace réservé du texte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Espace réservé de la date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37" name="Espace réservé du pied de page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38" name="Espace réservé du numéro de diapositive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 graphique SmartArt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 équipe 4 personn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11" name="Espace réservé d’image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7" name="Espace réservé d’image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8" name="Espace réservé d’image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fr-FR" noProof="0"/>
              <a:t>Cliquez sur l’icône pour ajouter une image</a:t>
            </a:r>
          </a:p>
        </p:txBody>
      </p:sp>
      <p:sp>
        <p:nvSpPr>
          <p:cNvPr id="19" name="Espace réservé d’image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6" name="Espace réservé du texte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7" name="Espace réservé du texte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8" name="Espace réservé du texte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9" name="Espace réservé du texte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 équipe 8 personne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11" name="Espace réservé d’image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7" name="Espace réservé d’image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8" name="Espace réservé d’image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fr-FR" noProof="0"/>
              <a:t>Cliquez sur l’icône pour ajouter une image</a:t>
            </a:r>
          </a:p>
        </p:txBody>
      </p:sp>
      <p:sp>
        <p:nvSpPr>
          <p:cNvPr id="19" name="Espace réservé d’image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6" name="Espace réservé du texte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7" name="Espace réservé du texte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8" name="Espace réservé du texte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9" name="Espace réservé du texte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55" name="Espace réservé d’image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56" name="Espace réservé d’image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57" name="Espace réservé d’image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fr-FR" noProof="0"/>
              <a:t>Cliquez sur l’icône pour ajouter une image</a:t>
            </a:r>
          </a:p>
        </p:txBody>
      </p:sp>
      <p:sp>
        <p:nvSpPr>
          <p:cNvPr id="58" name="Espace réservé d’image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54" name="Espace réservé du texte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2" name="Espace réservé du texte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59" name="Espace réservé du texte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3" name="Espace réservé du texte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0" name="Espace réservé du texte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4" name="Espace réservé du texte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1" name="Espace réservé du texte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5" name="Espace réservé du texte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13" name="Graphisme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sme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fr-FR" noProof="0"/>
              <a:t>Cliquez ici pour ajouter du contenu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4" name="Espace réservé du contenu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fr-FR" noProof="0"/>
              <a:t>Cliquez ici pour ajouter du contenu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ICI POUR MODIFIER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5" name="Espace réservé du contenu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fr-FR" noProof="0"/>
              <a:t>Cliquez ici pour ajouter du contenu</a:t>
            </a:r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2" name="Espace réservé du contenu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6" name="Espace réservé du contenu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fr-FR" noProof="0"/>
              <a:t>Cliquez ici pour ajouter du contenu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contenu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ynthè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e la date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22" name="Espace réservé du pied de page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24" name="Espace réservé du numéro de diapositiv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clus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pic>
        <p:nvPicPr>
          <p:cNvPr id="6" name="Graphisme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Espace réservé de la date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10" name="Espace réservé du pied de page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11" name="Espace réservé du numéro de diapositiv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 rtlCol="0"/>
          <a:lstStyle/>
          <a:p>
            <a:pPr rtl="0"/>
            <a:r>
              <a:rPr lang="fr-FR" b="1" dirty="0"/>
              <a:t>rapport mensuel des actions marketing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/>
          <a:lstStyle/>
          <a:p>
            <a:pPr rtl="0"/>
            <a:r>
              <a:rPr lang="fr-FR" dirty="0"/>
              <a:t>Zied Belhocine</a:t>
            </a:r>
          </a:p>
        </p:txBody>
      </p:sp>
      <p:pic>
        <p:nvPicPr>
          <p:cNvPr id="7" name="Image 6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2838F9F2-4DA9-9E4B-C123-DC6A8FC32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4093" y="6206721"/>
            <a:ext cx="1127436" cy="42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4448" y="6492875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fr-FR" smtClean="0"/>
              <a:pPr rtl="0"/>
              <a:t>2</a:t>
            </a:fld>
            <a:endParaRPr lang="fr-FR" dirty="0"/>
          </a:p>
        </p:txBody>
      </p:sp>
      <p:pic>
        <p:nvPicPr>
          <p:cNvPr id="9" name="Image 8" descr="Une image contenant texte, capture d’écran, ligne, Caractère coloré&#10;&#10;Le contenu généré par l’IA peut être incorrect.">
            <a:extLst>
              <a:ext uri="{FF2B5EF4-FFF2-40B4-BE49-F238E27FC236}">
                <a16:creationId xmlns:a16="http://schemas.microsoft.com/office/drawing/2014/main" id="{F58E550A-D9A8-0666-3A29-585486559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472" y="313235"/>
            <a:ext cx="8589055" cy="5719236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0519737F-9D2D-31DE-5686-D6F447D5D3F5}"/>
              </a:ext>
            </a:extLst>
          </p:cNvPr>
          <p:cNvSpPr txBox="1"/>
          <p:nvPr/>
        </p:nvSpPr>
        <p:spPr>
          <a:xfrm>
            <a:off x="2136301" y="5621435"/>
            <a:ext cx="81811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Arrêt du high tech a mécaniquement fait baisser notre chiffre total. </a:t>
            </a:r>
          </a:p>
          <a:p>
            <a:pPr algn="ctr"/>
            <a:r>
              <a:rPr lang="fr-FR" dirty="0"/>
              <a:t>Biens de conso. Reste stable ~200k€/mois</a:t>
            </a:r>
          </a:p>
          <a:p>
            <a:pPr algn="ctr"/>
            <a:r>
              <a:rPr lang="fr-FR" dirty="0"/>
              <a:t>Très forte évolution de la partie nourriture (~+100k entre janvier et février ~+25%)</a:t>
            </a:r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F8A892BB-5431-CA08-0719-4F1CA5524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056" y="55749"/>
            <a:ext cx="10515600" cy="923330"/>
          </a:xfrm>
        </p:spPr>
        <p:txBody>
          <a:bodyPr/>
          <a:lstStyle/>
          <a:p>
            <a:r>
              <a:rPr lang="fr-FR" dirty="0"/>
              <a:t>Évolution du chiffre d’affaires au cours des 12 derniers mois par catégorie</a:t>
            </a:r>
          </a:p>
        </p:txBody>
      </p:sp>
      <p:pic>
        <p:nvPicPr>
          <p:cNvPr id="13" name="Image 12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12BCD33F-C23C-C272-322D-3BD4DEA0E0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4093" y="6206721"/>
            <a:ext cx="1127436" cy="422580"/>
          </a:xfrm>
          <a:prstGeom prst="rect">
            <a:avLst/>
          </a:prstGeom>
        </p:spPr>
      </p:pic>
      <p:pic>
        <p:nvPicPr>
          <p:cNvPr id="3" name="Image 2" descr="Une image contenant texte, capture d’écran, ligne, Tracé&#10;&#10;Le contenu généré par l’IA peut être incorrect.">
            <a:extLst>
              <a:ext uri="{FF2B5EF4-FFF2-40B4-BE49-F238E27FC236}">
                <a16:creationId xmlns:a16="http://schemas.microsoft.com/office/drawing/2014/main" id="{1644FE99-D60F-F9B7-54F1-E7C63F4B76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0262" y="227870"/>
            <a:ext cx="8231475" cy="6402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28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4448" y="6492875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fr-FR" smtClean="0"/>
              <a:pPr rtl="0"/>
              <a:t>3</a:t>
            </a:fld>
            <a:endParaRPr lang="fr-FR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415FE7D-904B-B539-B403-F92F79825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294" y="468058"/>
            <a:ext cx="9287412" cy="5921884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E503D5C8-EABC-8DB3-766D-2D8D43C29F2E}"/>
              </a:ext>
            </a:extLst>
          </p:cNvPr>
          <p:cNvSpPr txBox="1"/>
          <p:nvPr/>
        </p:nvSpPr>
        <p:spPr>
          <a:xfrm>
            <a:off x="974683" y="6020610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Forte augmentation du nombre de visites et de ventes dès cette transition (juillet 2019). 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4F487A6A-202B-34F2-3157-3A0DB7CFF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211" y="6393"/>
            <a:ext cx="10515600" cy="923330"/>
          </a:xfrm>
        </p:spPr>
        <p:txBody>
          <a:bodyPr>
            <a:normAutofit/>
          </a:bodyPr>
          <a:lstStyle/>
          <a:p>
            <a:r>
              <a:rPr lang="fr-FR" dirty="0"/>
              <a:t>Évolution du nombre de ventes et de visites sur le site au cours des 12 derniers mois</a:t>
            </a:r>
          </a:p>
        </p:txBody>
      </p:sp>
      <p:pic>
        <p:nvPicPr>
          <p:cNvPr id="6" name="Image 5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0512DA33-A46C-9CBD-2F91-B8108D6CF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4093" y="6206721"/>
            <a:ext cx="1127436" cy="42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745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4448" y="6492875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fr-FR" smtClean="0"/>
              <a:pPr rtl="0"/>
              <a:t>4</a:t>
            </a:fld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91176A3-5CA2-CCD2-8A6A-635199952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1057" y="462373"/>
            <a:ext cx="7989885" cy="5998968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5F2CDB22-66E5-2C01-0C7C-51F41FB5CFD6}"/>
              </a:ext>
            </a:extLst>
          </p:cNvPr>
          <p:cNvSpPr txBox="1"/>
          <p:nvPr/>
        </p:nvSpPr>
        <p:spPr>
          <a:xfrm>
            <a:off x="2357728" y="6123543"/>
            <a:ext cx="8289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/>
              <a:t>Taux de conversion qui est divisé par deux entre juillet et février (0,10 à 0,05). 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82AF1DA3-8DEB-180C-05DF-BBE028A18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848" y="72736"/>
            <a:ext cx="10515600" cy="942543"/>
          </a:xfrm>
        </p:spPr>
        <p:txBody>
          <a:bodyPr/>
          <a:lstStyle/>
          <a:p>
            <a:r>
              <a:rPr lang="fr-FR" dirty="0"/>
              <a:t>Évolution du taux de conversion au cours des 12 derniers mois</a:t>
            </a:r>
          </a:p>
        </p:txBody>
      </p:sp>
      <p:pic>
        <p:nvPicPr>
          <p:cNvPr id="7" name="Image 6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9439E07F-D4F2-2CBD-3578-0B61A7D1B6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4093" y="6206721"/>
            <a:ext cx="1127436" cy="42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171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4448" y="6492875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fr-FR" smtClean="0"/>
              <a:pPr rtl="0"/>
              <a:t>5</a:t>
            </a:fld>
            <a:endParaRPr lang="fr-FR" dirty="0"/>
          </a:p>
        </p:txBody>
      </p:sp>
      <p:pic>
        <p:nvPicPr>
          <p:cNvPr id="5" name="Image 4" descr="Une image contenant capture d’écran, visualisation&#10;&#10;Le contenu généré par l’IA peut être incorrect.">
            <a:extLst>
              <a:ext uri="{FF2B5EF4-FFF2-40B4-BE49-F238E27FC236}">
                <a16:creationId xmlns:a16="http://schemas.microsoft.com/office/drawing/2014/main" id="{29786476-4BDF-EE96-67CE-9A1137BB4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160" y="464179"/>
            <a:ext cx="7751180" cy="586388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72B12A8-6C11-5AE7-B843-F4233C2A8988}"/>
              </a:ext>
            </a:extLst>
          </p:cNvPr>
          <p:cNvSpPr txBox="1"/>
          <p:nvPr/>
        </p:nvSpPr>
        <p:spPr>
          <a:xfrm>
            <a:off x="2315660" y="6106886"/>
            <a:ext cx="7560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Forte concentration de paniers autour de 40€. </a:t>
            </a:r>
          </a:p>
          <a:p>
            <a:pPr algn="ctr"/>
            <a:r>
              <a:rPr lang="fr-FR" dirty="0"/>
              <a:t>Plus ils passent de temps sur notre site, plus ils vont avoir un panier élevé. 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9B346097-CD60-B70F-E35D-83B3B4CC3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211" y="228699"/>
            <a:ext cx="10515600" cy="911271"/>
          </a:xfrm>
        </p:spPr>
        <p:txBody>
          <a:bodyPr/>
          <a:lstStyle/>
          <a:p>
            <a:r>
              <a:rPr lang="fr-FR" dirty="0"/>
              <a:t>Comparaison entre le temps passé sur le site et le panier moyen</a:t>
            </a: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A4C1BADD-9F05-A50E-1952-FF83019CB9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4093" y="6206721"/>
            <a:ext cx="1127436" cy="42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150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4448" y="6492875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fr-FR" smtClean="0"/>
              <a:pPr rtl="0"/>
              <a:t>6</a:t>
            </a:fld>
            <a:endParaRPr lang="fr-FR" dirty="0"/>
          </a:p>
        </p:txBody>
      </p:sp>
      <p:pic>
        <p:nvPicPr>
          <p:cNvPr id="2" name="Image 1" descr="Une image contenant texte, diagramme, capture d’écran, Rectangle&#10;&#10;Le contenu généré par l’IA peut être incorrect.">
            <a:extLst>
              <a:ext uri="{FF2B5EF4-FFF2-40B4-BE49-F238E27FC236}">
                <a16:creationId xmlns:a16="http://schemas.microsoft.com/office/drawing/2014/main" id="{2CFC9D1A-A636-6112-F50A-51C38D5FE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237" y="498763"/>
            <a:ext cx="7796230" cy="5486401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EF0CD643-2533-5CD6-2446-CB3E7AD4785B}"/>
              </a:ext>
            </a:extLst>
          </p:cNvPr>
          <p:cNvSpPr txBox="1"/>
          <p:nvPr/>
        </p:nvSpPr>
        <p:spPr>
          <a:xfrm>
            <a:off x="1242352" y="5541453"/>
            <a:ext cx="93465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Variance augmente et les clients sont beaucoup plus nombreux à passer moins de 6 minutes pour faire leurs achats.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Revoir la segmentation de notre base client est une priorité.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B638DCEF-0E7B-FF5A-E4B0-9C14906D4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218"/>
            <a:ext cx="10515600" cy="880197"/>
          </a:xfrm>
        </p:spPr>
        <p:txBody>
          <a:bodyPr/>
          <a:lstStyle/>
          <a:p>
            <a:r>
              <a:rPr lang="fr-FR" dirty="0"/>
              <a:t>Évolution de la variabilité du temps passé sur le site au cours des 12 derniers mois</a:t>
            </a:r>
          </a:p>
        </p:txBody>
      </p:sp>
      <p:pic>
        <p:nvPicPr>
          <p:cNvPr id="6" name="Image 5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4F138E42-FF66-5DDF-93AB-626C58984D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4093" y="6206721"/>
            <a:ext cx="1127436" cy="42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362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4448" y="6492875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fr-FR" smtClean="0"/>
              <a:pPr rtl="0"/>
              <a:t>7</a:t>
            </a:fld>
            <a:endParaRPr lang="fr-FR" dirty="0"/>
          </a:p>
        </p:txBody>
      </p:sp>
      <p:pic>
        <p:nvPicPr>
          <p:cNvPr id="9" name="Image 8" descr="Une image contenant texte, capture d’écran, ligne, Caractère coloré&#10;&#10;Le contenu généré par l’IA peut être incorrect.">
            <a:extLst>
              <a:ext uri="{FF2B5EF4-FFF2-40B4-BE49-F238E27FC236}">
                <a16:creationId xmlns:a16="http://schemas.microsoft.com/office/drawing/2014/main" id="{F58E550A-D9A8-0666-3A29-585486559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472" y="313235"/>
            <a:ext cx="8589055" cy="5719236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0519737F-9D2D-31DE-5686-D6F447D5D3F5}"/>
              </a:ext>
            </a:extLst>
          </p:cNvPr>
          <p:cNvSpPr txBox="1"/>
          <p:nvPr/>
        </p:nvSpPr>
        <p:spPr>
          <a:xfrm>
            <a:off x="2136301" y="5621435"/>
            <a:ext cx="81811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Arrêt du high tech a mécaniquement fait baisser notre chiffre total. </a:t>
            </a:r>
          </a:p>
          <a:p>
            <a:pPr algn="ctr"/>
            <a:r>
              <a:rPr lang="fr-FR" dirty="0"/>
              <a:t>Biens de conso. Reste stable ~200k€/mois</a:t>
            </a:r>
          </a:p>
          <a:p>
            <a:pPr algn="ctr"/>
            <a:r>
              <a:rPr lang="fr-FR" dirty="0"/>
              <a:t>Très forte évolution de la partie nourriture (~+100k entre janvier et février ~+25%)</a:t>
            </a:r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F8A892BB-5431-CA08-0719-4F1CA5524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056" y="55749"/>
            <a:ext cx="10515600" cy="923330"/>
          </a:xfrm>
        </p:spPr>
        <p:txBody>
          <a:bodyPr/>
          <a:lstStyle/>
          <a:p>
            <a:r>
              <a:rPr lang="fr-FR" dirty="0"/>
              <a:t>Évolution du chiffre d’affaires au cours des 12 derniers mois par catégorie</a:t>
            </a:r>
          </a:p>
        </p:txBody>
      </p:sp>
      <p:pic>
        <p:nvPicPr>
          <p:cNvPr id="13" name="Image 12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12BCD33F-C23C-C272-322D-3BD4DEA0E0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4093" y="6206721"/>
            <a:ext cx="1127436" cy="42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042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 rtlCol="0"/>
          <a:lstStyle/>
          <a:p>
            <a:pPr rtl="0"/>
            <a:r>
              <a:rPr lang="fr-FR" dirty="0"/>
              <a:t>MERCI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/>
          <a:p>
            <a:pPr rtl="0"/>
            <a:r>
              <a:rPr lang="fr-FR" dirty="0"/>
              <a:t>Zied Belhocine</a:t>
            </a:r>
          </a:p>
          <a:p>
            <a:pPr rtl="0"/>
            <a:r>
              <a:rPr lang="fr-FR" dirty="0"/>
              <a:t>+33 6 12 34 56 78</a:t>
            </a:r>
          </a:p>
          <a:p>
            <a:pPr rtl="0"/>
            <a:r>
              <a:rPr lang="fr-FR" dirty="0"/>
              <a:t>ziedb@legrandmarche.com</a:t>
            </a:r>
          </a:p>
          <a:p>
            <a:pPr rtl="0"/>
            <a:r>
              <a:rPr lang="fr-FR" dirty="0"/>
              <a:t>www.legrandmarche.com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fr-FR" smtClean="0"/>
              <a:pPr rtl="0"/>
              <a:t>8</a:t>
            </a:fld>
            <a:endParaRPr lang="fr-FR"/>
          </a:p>
        </p:txBody>
      </p:sp>
      <p:pic>
        <p:nvPicPr>
          <p:cNvPr id="7" name="Image 6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2DAFD555-2984-F033-E4A1-79B51714A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4093" y="6206721"/>
            <a:ext cx="1127436" cy="42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g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35_TF56180624_Win32" id="{86818CA5-A7A1-4A11-825D-121ACC2F2553}" vid="{B15E7544-D123-4273-B0AB-D8F961E44E2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Argumentaire de vente clair et minimaliste</Template>
  <TotalTime>166</TotalTime>
  <Words>554</Words>
  <Application>Microsoft Office PowerPoint</Application>
  <PresentationFormat>Grand écran</PresentationFormat>
  <Paragraphs>47</Paragraphs>
  <Slides>8</Slides>
  <Notes>8</Notes>
  <HiddenSlides>1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Tenorite</vt:lpstr>
      <vt:lpstr>Monoligne</vt:lpstr>
      <vt:lpstr>rapport mensuel des actions marketing</vt:lpstr>
      <vt:lpstr>Évolution du chiffre d’affaires au cours des 12 derniers mois par catégorie</vt:lpstr>
      <vt:lpstr>Évolution du nombre de ventes et de visites sur le site au cours des 12 derniers mois</vt:lpstr>
      <vt:lpstr>Évolution du taux de conversion au cours des 12 derniers mois</vt:lpstr>
      <vt:lpstr>Comparaison entre le temps passé sur le site et le panier moyen</vt:lpstr>
      <vt:lpstr>Évolution de la variabilité du temps passé sur le site au cours des 12 derniers mois</vt:lpstr>
      <vt:lpstr>Évolution du chiffre d’affaires au cours des 12 derniers mois par catégorie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Zied Belhocine</dc:creator>
  <cp:lastModifiedBy>Zied Belhocine</cp:lastModifiedBy>
  <cp:revision>1</cp:revision>
  <dcterms:created xsi:type="dcterms:W3CDTF">2026-01-08T10:01:40Z</dcterms:created>
  <dcterms:modified xsi:type="dcterms:W3CDTF">2026-01-15T13:07:10Z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