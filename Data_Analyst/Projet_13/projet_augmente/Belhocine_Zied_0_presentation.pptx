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déplacer la diapo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8274602-3D4E-4EB3-BB62-38D761B5953C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Slide de titre. Se présenter brièvement : Data Analyst, projet Bottleneck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(marchand de vin), amélioration du livrable P6 via IA de façon critique et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documentée.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471018-E1BA-41EE-A3E0-28C0AEB4F7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76A597-0D52-4B9A-B9AA-CF6BBA6B30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Les 4 volets exigés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par la mission : veille,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besoin métier, gestion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 projet,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documentation.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Chacun avec un vrai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livrable dédié.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3FD6EC-CD56-49A4-BDAB-F2490C87D0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Chaque source a une date de consultation documentée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dans le livrable 1. Le point notable : pour le besoin 2, peu de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littérature existe sur Claude-vs-Copilot en tâche réelle 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d'où l'importance du test mené soi-même.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B2AE53-1143-4F65-A291-AEFE54949B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Test réel exécuté des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deux côtés. La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capture Altair montre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concrètement le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problème : des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centaines de labels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produits illisibles sur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l'axe x dès qu'on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descend au détail.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Plotly retenu sur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preuve observée, pas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sur préférence 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priori. Limite Dash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assumée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explicitement.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A26BD0-1E76-4151-B55A-7DA70A1D79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point le plus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fort du projet 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comparaison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réellement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testée, pas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déclarative.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Insister sur le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fait que la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fiabilité vient de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 vérification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croisée, pas du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choix d'un outil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'meilleur'.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6F7213-A198-45A0-8958-C7582D1303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 anomalies dépasse l'objectif du commanditaire. 3 bugs trouvés montrent la valeur de tester plutôt que de faire confiance a priori. Le test daltonisme est un vrai avant/après, pas une bonne pratique appliquée par défaut.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38CDB0-7D40-4C08-8253-759C57D963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Kanban vit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réellement dans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Notion, pas juste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sur un slide.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Bien insister 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capture prise en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cours de projet,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volontairement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gardée pour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montrer le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processus.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56BFF3-008C-423B-86AF-9523CE0CBA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4e volet, souvent sous-estimé : ce n'est pas juste écrire un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README, c'est rendre le travail auditable par quelqu'un d'autre. La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synthèse recruteur/client est le livrable le plus lu, donc le plus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soigné.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2B8E3B-0341-49D5-A0A3-9EF24FC4FB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Conclure sur le message central : ce n'est pas quelle IA est meilleure mais vérifier systématiquement ce que produit l'IA. Ouvrir aux questions.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769650-E785-48ED-A518-57C0D84C92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ez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po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ur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éd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ite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le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for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at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du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te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xt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e-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titr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4.png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503920" y="-2011680"/>
            <a:ext cx="6400440" cy="640044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418320" y="-1097280"/>
            <a:ext cx="4571640" cy="4571640"/>
          </a:xfrm>
          <a:prstGeom prst="ellipse">
            <a:avLst/>
          </a:prstGeom>
          <a:solidFill>
            <a:srgbClr val="3a0f20"/>
          </a:solidFill>
          <a:ln w="9525">
            <a:solidFill>
              <a:srgbClr val="c9a22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2331720"/>
            <a:ext cx="9600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199" strike="noStrike">
                <a:solidFill>
                  <a:srgbClr val="ffffff"/>
                </a:solidFill>
                <a:latin typeface="Cambria"/>
                <a:ea typeface="Cambria"/>
              </a:rPr>
              <a:t>BOTTLENECK</a:t>
            </a:r>
            <a:endParaRPr b="0" lang="fr-FR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361188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e8d9de"/>
                </a:solidFill>
                <a:latin typeface="Calibri"/>
                <a:ea typeface="Calibri"/>
              </a:rPr>
              <a:t>Amélioration du livrable Projet 6, augmentée par l'IA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5806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Zied Belhocine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6144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9aeb8"/>
                </a:solidFill>
                <a:latin typeface="Calibri"/>
                <a:ea typeface="Calibri"/>
              </a:rPr>
              <a:t>Data Analyst — Juillet 2026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640080" y="4572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5c1a33"/>
                </a:solidFill>
                <a:latin typeface="Cambria"/>
                <a:ea typeface="Cambria"/>
              </a:rPr>
              <a:t>Contexte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40080" y="10515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6b6b"/>
                </a:solidFill>
                <a:latin typeface="Calibri"/>
                <a:ea typeface="Calibri"/>
              </a:rPr>
              <a:t>Bottleneck, marchand de vins et spiritueux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40080" y="1691640"/>
            <a:ext cx="594324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2b2b2b"/>
                </a:solidFill>
                <a:latin typeface="Calibri"/>
              </a:rPr>
              <a:t>Le contexte du projet bottleneck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b2b2b"/>
                </a:solidFill>
                <a:latin typeface="Calibri"/>
              </a:rPr>
              <a:t>Les outils d'analyse sont artisanaux ; la gestion des stocks est difficile à piloter. Il faut nettoyer, fusionner et analyser les données pour répondre aux besoins commerciaux de l’entreprise.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2b2b2b"/>
                </a:solidFill>
                <a:latin typeface="Calibri"/>
              </a:rPr>
              <a:t>L'objectif de la mission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b2b2b"/>
                </a:solidFill>
                <a:latin typeface="Calibri"/>
              </a:rPr>
              <a:t>Reprendre le notebook du Projet 6 et l'améliorer grâce à l'IA — de manière </a:t>
            </a:r>
            <a:r>
              <a:rPr b="1" lang="en-US" sz="1400" spc="-1" strike="noStrike">
                <a:solidFill>
                  <a:srgbClr val="5c1a33"/>
                </a:solidFill>
                <a:latin typeface="Calibri"/>
              </a:rPr>
              <a:t>critique et documentée</a:t>
            </a:r>
            <a:r>
              <a:rPr b="0" lang="en-US" sz="1400" spc="-1" strike="noStrike">
                <a:solidFill>
                  <a:srgbClr val="2b2b2b"/>
                </a:solidFill>
                <a:latin typeface="Calibri"/>
              </a:rPr>
              <a:t> : tester, comparer, justifier chaque choix.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b2b2b"/>
                </a:solidFill>
                <a:latin typeface="Calibri"/>
                <a:ea typeface="Noto Sans CJK SC"/>
              </a:rPr>
              <a:t>Choix d’amélioration du notebook initial 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br>
              <a:rPr sz="1600"/>
            </a:br>
            <a:r>
              <a:rPr b="0" lang="en-US" sz="1400" spc="-1" strike="noStrike">
                <a:solidFill>
                  <a:srgbClr val="2b2b2b"/>
                </a:solidFill>
                <a:latin typeface="Calibri"/>
                <a:ea typeface="Noto Sans CJK SC"/>
              </a:rPr>
              <a:t>Les deux axes d’amélioration du projet identifiés sont la visualisation et le nettoyage/fusion des données.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7315200" y="2377440"/>
            <a:ext cx="1051200" cy="105120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995160" y="350208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b2b2b"/>
                </a:solidFill>
                <a:latin typeface="Calibri"/>
                <a:ea typeface="Calibri"/>
              </a:rPr>
              <a:t>ERP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8732520" y="2377440"/>
            <a:ext cx="1051200" cy="105120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412480" y="350208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b2b2b"/>
                </a:solidFill>
                <a:latin typeface="Calibri"/>
                <a:ea typeface="Calibri"/>
              </a:rPr>
              <a:t>Site Web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10149840" y="2377440"/>
            <a:ext cx="1051200" cy="105120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9829800" y="350208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b2b2b"/>
                </a:solidFill>
                <a:latin typeface="Calibri"/>
                <a:ea typeface="Calibri"/>
              </a:rPr>
              <a:t>Table de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b2b2b"/>
                </a:solidFill>
                <a:latin typeface="Calibri"/>
                <a:ea typeface="Calibri"/>
              </a:rPr>
              <a:t>liaison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949440" y="4480560"/>
            <a:ext cx="4571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6b6b"/>
                </a:solidFill>
                <a:latin typeface="Calibri"/>
                <a:ea typeface="Calibri"/>
              </a:rPr>
              <a:t>3 sources, des identifiants produits non alignés,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6b6b"/>
                </a:solidFill>
                <a:latin typeface="Calibri"/>
                <a:ea typeface="Calibri"/>
              </a:rPr>
              <a:t>un nettoyage manuel cellule par cellule.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6949440" y="5440680"/>
            <a:ext cx="502560" cy="502560"/>
          </a:xfrm>
          <a:prstGeom prst="ellipse">
            <a:avLst/>
          </a:prstGeom>
          <a:solidFill>
            <a:srgbClr val="f7ee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Image 0" descr="robot_wine.png"/>
          <p:cNvPicPr/>
          <p:nvPr/>
        </p:nvPicPr>
        <p:blipFill>
          <a:blip r:embed="rId1"/>
          <a:stretch/>
        </p:blipFill>
        <p:spPr>
          <a:xfrm>
            <a:off x="7049880" y="554112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26" name="Text 11"/>
          <p:cNvSpPr/>
          <p:nvPr/>
        </p:nvSpPr>
        <p:spPr>
          <a:xfrm>
            <a:off x="7589520" y="544068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1a33"/>
                </a:solidFill>
                <a:latin typeface="Calibri"/>
                <a:ea typeface="Calibri"/>
              </a:rPr>
              <a:t>Deux axes d'amélioration, comparés et testés avec l'IA — pas seulement « utilisés ».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640080" y="4572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5c1a33"/>
                </a:solidFill>
                <a:latin typeface="Cambria"/>
                <a:ea typeface="Cambria"/>
              </a:rPr>
              <a:t>Démarche en 4 volets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640080" y="10515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6b6b"/>
                </a:solidFill>
                <a:latin typeface="Calibri"/>
                <a:ea typeface="Calibri"/>
              </a:rPr>
              <a:t>La structure exacte attendue par la mission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640080" y="1783080"/>
            <a:ext cx="5120280" cy="1965600"/>
          </a:xfrm>
          <a:prstGeom prst="roundRect">
            <a:avLst>
              <a:gd name="adj" fmla="val 3721"/>
            </a:avLst>
          </a:prstGeom>
          <a:solidFill>
            <a:srgbClr val="f7eef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960120" y="2103120"/>
            <a:ext cx="776880" cy="77688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Image 0" descr="search_white.png"/>
          <p:cNvPicPr/>
          <p:nvPr/>
        </p:nvPicPr>
        <p:blipFill>
          <a:blip r:embed="rId1"/>
          <a:stretch/>
        </p:blipFill>
        <p:spPr>
          <a:xfrm>
            <a:off x="1135080" y="2278080"/>
            <a:ext cx="426960" cy="426960"/>
          </a:xfrm>
          <a:prstGeom prst="rect">
            <a:avLst/>
          </a:prstGeom>
          <a:ln w="0">
            <a:noFill/>
          </a:ln>
        </p:spPr>
      </p:pic>
      <p:sp>
        <p:nvSpPr>
          <p:cNvPr id="32" name="Text 4"/>
          <p:cNvSpPr/>
          <p:nvPr/>
        </p:nvSpPr>
        <p:spPr>
          <a:xfrm>
            <a:off x="1920240" y="20574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5c1a33"/>
                </a:solidFill>
                <a:latin typeface="Cambria"/>
                <a:ea typeface="Cambria"/>
              </a:rPr>
              <a:t>1. Veille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1920240" y="2496240"/>
            <a:ext cx="3565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2 besoins. Cahque besoin a fait l’objet d’une comparaison entre deux méthodes.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6217920" y="1783080"/>
            <a:ext cx="5120280" cy="1965600"/>
          </a:xfrm>
          <a:prstGeom prst="roundRect">
            <a:avLst>
              <a:gd name="adj" fmla="val 3721"/>
            </a:avLst>
          </a:prstGeom>
          <a:solidFill>
            <a:srgbClr val="f7eef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6537960" y="2103120"/>
            <a:ext cx="776880" cy="77688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Image 1" descr="clipboard_white.png"/>
          <p:cNvPicPr/>
          <p:nvPr/>
        </p:nvPicPr>
        <p:blipFill>
          <a:blip r:embed="rId2"/>
          <a:stretch/>
        </p:blipFill>
        <p:spPr>
          <a:xfrm>
            <a:off x="6712920" y="2278080"/>
            <a:ext cx="426960" cy="426960"/>
          </a:xfrm>
          <a:prstGeom prst="rect">
            <a:avLst/>
          </a:prstGeom>
          <a:ln w="0">
            <a:noFill/>
          </a:ln>
        </p:spPr>
      </p:pic>
      <p:sp>
        <p:nvSpPr>
          <p:cNvPr id="37" name="Text 8"/>
          <p:cNvSpPr/>
          <p:nvPr/>
        </p:nvSpPr>
        <p:spPr>
          <a:xfrm>
            <a:off x="7498080" y="20574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5c1a33"/>
                </a:solidFill>
                <a:latin typeface="Cambria"/>
                <a:ea typeface="Cambria"/>
              </a:rPr>
              <a:t>2. Besoin métier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7498080" y="2496240"/>
            <a:ext cx="3565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Parties prenantes, périmètre, contraintes, KPI mesurables.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0"/>
          <p:cNvSpPr/>
          <p:nvPr/>
        </p:nvSpPr>
        <p:spPr>
          <a:xfrm>
            <a:off x="640080" y="4114800"/>
            <a:ext cx="5120280" cy="1965600"/>
          </a:xfrm>
          <a:prstGeom prst="roundRect">
            <a:avLst>
              <a:gd name="adj" fmla="val 3721"/>
            </a:avLst>
          </a:prstGeom>
          <a:solidFill>
            <a:srgbClr val="f7eef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960120" y="4434840"/>
            <a:ext cx="776880" cy="77688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Image 2" descr="tasks_white.png"/>
          <p:cNvPicPr/>
          <p:nvPr/>
        </p:nvPicPr>
        <p:blipFill>
          <a:blip r:embed="rId3"/>
          <a:stretch/>
        </p:blipFill>
        <p:spPr>
          <a:xfrm>
            <a:off x="1135080" y="4609800"/>
            <a:ext cx="426960" cy="426960"/>
          </a:xfrm>
          <a:prstGeom prst="rect">
            <a:avLst/>
          </a:prstGeom>
          <a:ln w="0">
            <a:noFill/>
          </a:ln>
        </p:spPr>
      </p:pic>
      <p:sp>
        <p:nvSpPr>
          <p:cNvPr id="42" name="Text 12"/>
          <p:cNvSpPr/>
          <p:nvPr/>
        </p:nvSpPr>
        <p:spPr>
          <a:xfrm>
            <a:off x="1920240" y="438912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5c1a33"/>
                </a:solidFill>
                <a:latin typeface="Cambria"/>
                <a:ea typeface="Cambria"/>
              </a:rPr>
              <a:t>3. Gestion de projet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1920240" y="4827960"/>
            <a:ext cx="3565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Backlog, planning, Kanban Notion, registre des risques.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6217920" y="4114800"/>
            <a:ext cx="5120280" cy="1965600"/>
          </a:xfrm>
          <a:prstGeom prst="roundRect">
            <a:avLst>
              <a:gd name="adj" fmla="val 3721"/>
            </a:avLst>
          </a:prstGeom>
          <a:solidFill>
            <a:srgbClr val="f7eef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5"/>
          <p:cNvSpPr/>
          <p:nvPr/>
        </p:nvSpPr>
        <p:spPr>
          <a:xfrm>
            <a:off x="6537960" y="4434840"/>
            <a:ext cx="776880" cy="77688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3" descr="file_white.png"/>
          <p:cNvPicPr/>
          <p:nvPr/>
        </p:nvPicPr>
        <p:blipFill>
          <a:blip r:embed="rId4"/>
          <a:stretch/>
        </p:blipFill>
        <p:spPr>
          <a:xfrm>
            <a:off x="6712920" y="4609800"/>
            <a:ext cx="426960" cy="426960"/>
          </a:xfrm>
          <a:prstGeom prst="rect">
            <a:avLst/>
          </a:prstGeom>
          <a:ln w="0">
            <a:noFill/>
          </a:ln>
        </p:spPr>
      </p:pic>
      <p:sp>
        <p:nvSpPr>
          <p:cNvPr id="47" name="Text 16"/>
          <p:cNvSpPr/>
          <p:nvPr/>
        </p:nvSpPr>
        <p:spPr>
          <a:xfrm>
            <a:off x="7498080" y="438912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5c1a33"/>
                </a:solidFill>
                <a:latin typeface="Cambria"/>
                <a:ea typeface="Cambria"/>
              </a:rPr>
              <a:t>4. Documentation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7498080" y="4827960"/>
            <a:ext cx="3565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Traçabilité IA, limites &amp; biais, reproductibilité.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26"/>
          <p:cNvSpPr/>
          <p:nvPr/>
        </p:nvSpPr>
        <p:spPr>
          <a:xfrm>
            <a:off x="64008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5c1a33"/>
                </a:solidFill>
                <a:latin typeface="Cambria"/>
                <a:ea typeface="Cambria"/>
              </a:rPr>
              <a:t>Une veille </a:t>
            </a:r>
            <a:r>
              <a:rPr b="1" lang="en-US" sz="3200" spc="-1" strike="noStrike">
                <a:solidFill>
                  <a:srgbClr val="5c1a33"/>
                </a:solidFill>
                <a:latin typeface="Cambria"/>
                <a:ea typeface="Cambria"/>
              </a:rPr>
              <a:t>sourcée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640080" y="105156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6b6b6b"/>
                </a:solidFill>
                <a:latin typeface="Calibri"/>
                <a:ea typeface="Calibri"/>
              </a:rPr>
              <a:t>12 sources vérifiées — documentation </a:t>
            </a:r>
            <a:r>
              <a:rPr b="0" i="1" lang="en-US" sz="1350" spc="-1" strike="noStrike">
                <a:solidFill>
                  <a:srgbClr val="6b6b6b"/>
                </a:solidFill>
                <a:latin typeface="Calibri"/>
                <a:ea typeface="Calibri"/>
              </a:rPr>
              <a:t>officielle, blogs francophones, recherche </a:t>
            </a:r>
            <a:r>
              <a:rPr b="0" i="1" lang="en-US" sz="1350" spc="-1" strike="noStrike">
                <a:solidFill>
                  <a:srgbClr val="6b6b6b"/>
                </a:solidFill>
                <a:latin typeface="Calibri"/>
                <a:ea typeface="Calibri"/>
              </a:rPr>
              <a:t>académique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7"/>
          <p:cNvSpPr/>
          <p:nvPr/>
        </p:nvSpPr>
        <p:spPr>
          <a:xfrm>
            <a:off x="640080" y="1737360"/>
            <a:ext cx="5348880" cy="4708800"/>
          </a:xfrm>
          <a:prstGeom prst="roundRect">
            <a:avLst>
              <a:gd name="adj" fmla="val 1553"/>
            </a:avLst>
          </a:prstGeom>
          <a:solidFill>
            <a:srgbClr val="f7ee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30"/>
          <p:cNvSpPr/>
          <p:nvPr/>
        </p:nvSpPr>
        <p:spPr>
          <a:xfrm>
            <a:off x="960120" y="2011680"/>
            <a:ext cx="4708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5c1a33"/>
                </a:solidFill>
                <a:latin typeface="Cambria"/>
                <a:ea typeface="Cambria"/>
              </a:rPr>
              <a:t>Besoin 1 — Dataviz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31"/>
          <p:cNvSpPr/>
          <p:nvPr/>
        </p:nvSpPr>
        <p:spPr>
          <a:xfrm>
            <a:off x="4572000" y="1938600"/>
            <a:ext cx="1096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c9a227"/>
                </a:solidFill>
                <a:latin typeface="Cambria"/>
                <a:ea typeface="Cambria"/>
              </a:rPr>
              <a:t>8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0"/>
          <p:cNvSpPr/>
          <p:nvPr/>
        </p:nvSpPr>
        <p:spPr>
          <a:xfrm>
            <a:off x="960120" y="2651760"/>
            <a:ext cx="502560" cy="502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Image 4" descr="file_wine.png"/>
          <p:cNvPicPr/>
          <p:nvPr/>
        </p:nvPicPr>
        <p:blipFill>
          <a:blip r:embed="rId1"/>
          <a:stretch/>
        </p:blipFill>
        <p:spPr>
          <a:xfrm>
            <a:off x="1073160" y="276480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56" name="Text 33"/>
          <p:cNvSpPr/>
          <p:nvPr/>
        </p:nvSpPr>
        <p:spPr>
          <a:xfrm>
            <a:off x="1600200" y="263340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b2b2b"/>
                </a:solidFill>
                <a:latin typeface="Calibri"/>
                <a:ea typeface="Calibri"/>
              </a:rPr>
              <a:t>Documentation officielle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34"/>
          <p:cNvSpPr/>
          <p:nvPr/>
        </p:nvSpPr>
        <p:spPr>
          <a:xfrm>
            <a:off x="1600200" y="298080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6b6b"/>
                </a:solidFill>
                <a:latin typeface="Calibri"/>
                <a:ea typeface="Calibri"/>
              </a:rPr>
              <a:t>Plotly, Altair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35"/>
          <p:cNvSpPr/>
          <p:nvPr/>
        </p:nvSpPr>
        <p:spPr>
          <a:xfrm>
            <a:off x="5212080" y="265176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5c1a33"/>
                </a:solidFill>
                <a:latin typeface="Cambria"/>
                <a:ea typeface="Cambria"/>
              </a:rPr>
              <a:t>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1"/>
          <p:cNvSpPr/>
          <p:nvPr/>
        </p:nvSpPr>
        <p:spPr>
          <a:xfrm>
            <a:off x="960120" y="3547800"/>
            <a:ext cx="502560" cy="502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 5" descr="newspaper_wine.png"/>
          <p:cNvPicPr/>
          <p:nvPr/>
        </p:nvPicPr>
        <p:blipFill>
          <a:blip r:embed="rId2"/>
          <a:stretch/>
        </p:blipFill>
        <p:spPr>
          <a:xfrm>
            <a:off x="1073160" y="366120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61" name="Text 37"/>
          <p:cNvSpPr/>
          <p:nvPr/>
        </p:nvSpPr>
        <p:spPr>
          <a:xfrm>
            <a:off x="1600200" y="35294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b2b2b"/>
                </a:solidFill>
                <a:latin typeface="Calibri"/>
                <a:ea typeface="Calibri"/>
              </a:rPr>
              <a:t>Blogs francophones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55"/>
          <p:cNvSpPr/>
          <p:nvPr/>
        </p:nvSpPr>
        <p:spPr>
          <a:xfrm>
            <a:off x="1600200" y="387720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6b6b"/>
                </a:solidFill>
                <a:latin typeface="Calibri"/>
                <a:ea typeface="Calibri"/>
              </a:rPr>
              <a:t>Liora </a:t>
            </a:r>
            <a:r>
              <a:rPr b="0" i="1" lang="en-US" sz="1050" spc="-1" strike="noStrike">
                <a:solidFill>
                  <a:srgbClr val="6b6b6b"/>
                </a:solidFill>
                <a:latin typeface="Calibri"/>
                <a:ea typeface="Calibri"/>
              </a:rPr>
              <a:t>x3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56"/>
          <p:cNvSpPr/>
          <p:nvPr/>
        </p:nvSpPr>
        <p:spPr>
          <a:xfrm>
            <a:off x="5212080" y="354780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5c1a33"/>
                </a:solidFill>
                <a:latin typeface="Cambria"/>
                <a:ea typeface="Cambria"/>
              </a:rPr>
              <a:t>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2"/>
          <p:cNvSpPr/>
          <p:nvPr/>
        </p:nvSpPr>
        <p:spPr>
          <a:xfrm>
            <a:off x="960120" y="4443840"/>
            <a:ext cx="502560" cy="502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Image 6" descr="book_wine.png"/>
          <p:cNvPicPr/>
          <p:nvPr/>
        </p:nvPicPr>
        <p:blipFill>
          <a:blip r:embed="rId3"/>
          <a:stretch/>
        </p:blipFill>
        <p:spPr>
          <a:xfrm>
            <a:off x="1073160" y="455724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66" name="Text 57"/>
          <p:cNvSpPr/>
          <p:nvPr/>
        </p:nvSpPr>
        <p:spPr>
          <a:xfrm>
            <a:off x="1600200" y="44258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b2b2b"/>
                </a:solidFill>
                <a:latin typeface="Calibri"/>
                <a:ea typeface="Calibri"/>
              </a:rPr>
              <a:t>Cours &amp; leçon en ligne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58"/>
          <p:cNvSpPr/>
          <p:nvPr/>
        </p:nvSpPr>
        <p:spPr>
          <a:xfrm>
            <a:off x="1600200" y="477324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6b6b"/>
                </a:solidFill>
                <a:latin typeface="Calibri"/>
                <a:ea typeface="Calibri"/>
              </a:rPr>
              <a:t>ENSAE, Programming Historian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9"/>
          <p:cNvSpPr/>
          <p:nvPr/>
        </p:nvSpPr>
        <p:spPr>
          <a:xfrm>
            <a:off x="5212080" y="444384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5c1a33"/>
                </a:solidFill>
                <a:latin typeface="Cambria"/>
                <a:ea typeface="Cambria"/>
              </a:rPr>
              <a:t>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4"/>
          <p:cNvSpPr/>
          <p:nvPr/>
        </p:nvSpPr>
        <p:spPr>
          <a:xfrm>
            <a:off x="960120" y="5340240"/>
            <a:ext cx="502560" cy="502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Image 14" descr="video_wine.png"/>
          <p:cNvPicPr/>
          <p:nvPr/>
        </p:nvPicPr>
        <p:blipFill>
          <a:blip r:embed="rId4"/>
          <a:stretch/>
        </p:blipFill>
        <p:spPr>
          <a:xfrm>
            <a:off x="1073160" y="545328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71" name="Text 60"/>
          <p:cNvSpPr/>
          <p:nvPr/>
        </p:nvSpPr>
        <p:spPr>
          <a:xfrm>
            <a:off x="1600200" y="532188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b2b2b"/>
                </a:solidFill>
                <a:latin typeface="Calibri"/>
                <a:ea typeface="Calibri"/>
              </a:rPr>
              <a:t>Vidéo tutoriel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61"/>
          <p:cNvSpPr/>
          <p:nvPr/>
        </p:nvSpPr>
        <p:spPr>
          <a:xfrm>
            <a:off x="1600200" y="566928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6b6b"/>
                </a:solidFill>
                <a:latin typeface="Calibri"/>
                <a:ea typeface="Calibri"/>
              </a:rPr>
              <a:t>YouTube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62"/>
          <p:cNvSpPr/>
          <p:nvPr/>
        </p:nvSpPr>
        <p:spPr>
          <a:xfrm>
            <a:off x="5212080" y="534024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5c1a33"/>
                </a:solidFill>
                <a:latin typeface="Cambria"/>
                <a:ea typeface="Cambria"/>
              </a:rPr>
              <a:t>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5"/>
          <p:cNvSpPr/>
          <p:nvPr/>
        </p:nvSpPr>
        <p:spPr>
          <a:xfrm>
            <a:off x="6172200" y="1737360"/>
            <a:ext cx="5348880" cy="4708800"/>
          </a:xfrm>
          <a:prstGeom prst="roundRect">
            <a:avLst>
              <a:gd name="adj" fmla="val 1553"/>
            </a:avLst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63"/>
          <p:cNvSpPr/>
          <p:nvPr/>
        </p:nvSpPr>
        <p:spPr>
          <a:xfrm>
            <a:off x="6492240" y="2011680"/>
            <a:ext cx="4708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Besoin 2 — Automatisation IA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64"/>
          <p:cNvSpPr/>
          <p:nvPr/>
        </p:nvSpPr>
        <p:spPr>
          <a:xfrm>
            <a:off x="10104120" y="1938600"/>
            <a:ext cx="1096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c9a227"/>
                </a:solidFill>
                <a:latin typeface="Cambria"/>
                <a:ea typeface="Cambria"/>
              </a:rPr>
              <a:t>4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7"/>
          <p:cNvSpPr/>
          <p:nvPr/>
        </p:nvSpPr>
        <p:spPr>
          <a:xfrm>
            <a:off x="6492240" y="2651760"/>
            <a:ext cx="502560" cy="502560"/>
          </a:xfrm>
          <a:prstGeom prst="ellipse">
            <a:avLst/>
          </a:prstGeom>
          <a:solidFill>
            <a:srgbClr val="3a0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Image 15" descr="file_white.png"/>
          <p:cNvPicPr/>
          <p:nvPr/>
        </p:nvPicPr>
        <p:blipFill>
          <a:blip r:embed="rId5"/>
          <a:stretch/>
        </p:blipFill>
        <p:spPr>
          <a:xfrm>
            <a:off x="6605280" y="276480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79" name="Text 65"/>
          <p:cNvSpPr/>
          <p:nvPr/>
        </p:nvSpPr>
        <p:spPr>
          <a:xfrm>
            <a:off x="7132320" y="263340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Documentation officielle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66"/>
          <p:cNvSpPr/>
          <p:nvPr/>
        </p:nvSpPr>
        <p:spPr>
          <a:xfrm>
            <a:off x="7132320" y="298080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d8b9c4"/>
                </a:solidFill>
                <a:latin typeface="Calibri"/>
                <a:ea typeface="Calibri"/>
              </a:rPr>
              <a:t>GitHub Copilot, Claude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67"/>
          <p:cNvSpPr/>
          <p:nvPr/>
        </p:nvSpPr>
        <p:spPr>
          <a:xfrm>
            <a:off x="10744200" y="265176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9a227"/>
                </a:solidFill>
                <a:latin typeface="Cambria"/>
                <a:ea typeface="Cambria"/>
              </a:rPr>
              <a:t>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6492240" y="3547800"/>
            <a:ext cx="502560" cy="502560"/>
          </a:xfrm>
          <a:prstGeom prst="ellipse">
            <a:avLst/>
          </a:prstGeom>
          <a:solidFill>
            <a:srgbClr val="3a0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16" descr="flask_white.png"/>
          <p:cNvPicPr/>
          <p:nvPr/>
        </p:nvPicPr>
        <p:blipFill>
          <a:blip r:embed="rId6"/>
          <a:stretch/>
        </p:blipFill>
        <p:spPr>
          <a:xfrm>
            <a:off x="6605280" y="366120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84" name="Text 68"/>
          <p:cNvSpPr/>
          <p:nvPr/>
        </p:nvSpPr>
        <p:spPr>
          <a:xfrm>
            <a:off x="7132320" y="35294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Recherche académique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69"/>
          <p:cNvSpPr/>
          <p:nvPr/>
        </p:nvSpPr>
        <p:spPr>
          <a:xfrm>
            <a:off x="7132320" y="387720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d8b9c4"/>
                </a:solidFill>
                <a:latin typeface="Calibri"/>
                <a:ea typeface="Calibri"/>
              </a:rPr>
              <a:t>Polytechnique Montreal — typologie des bugs IA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70"/>
          <p:cNvSpPr/>
          <p:nvPr/>
        </p:nvSpPr>
        <p:spPr>
          <a:xfrm>
            <a:off x="10744200" y="354780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9a227"/>
                </a:solidFill>
                <a:latin typeface="Cambria"/>
                <a:ea typeface="Cambria"/>
              </a:rPr>
              <a:t>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9"/>
          <p:cNvSpPr/>
          <p:nvPr/>
        </p:nvSpPr>
        <p:spPr>
          <a:xfrm>
            <a:off x="6492240" y="4443840"/>
            <a:ext cx="502560" cy="502560"/>
          </a:xfrm>
          <a:prstGeom prst="ellipse">
            <a:avLst/>
          </a:prstGeom>
          <a:solidFill>
            <a:srgbClr val="3a0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Image 17" descr="newspaper_white.png"/>
          <p:cNvPicPr/>
          <p:nvPr/>
        </p:nvPicPr>
        <p:blipFill>
          <a:blip r:embed="rId7"/>
          <a:stretch/>
        </p:blipFill>
        <p:spPr>
          <a:xfrm>
            <a:off x="6605280" y="4557240"/>
            <a:ext cx="276120" cy="276120"/>
          </a:xfrm>
          <a:prstGeom prst="rect">
            <a:avLst/>
          </a:prstGeom>
          <a:ln w="0">
            <a:noFill/>
          </a:ln>
        </p:spPr>
      </p:pic>
      <p:sp>
        <p:nvSpPr>
          <p:cNvPr id="89" name="Text 71"/>
          <p:cNvSpPr/>
          <p:nvPr/>
        </p:nvSpPr>
        <p:spPr>
          <a:xfrm>
            <a:off x="7132320" y="44258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Comparatif spécialisé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72"/>
          <p:cNvSpPr/>
          <p:nvPr/>
        </p:nvSpPr>
        <p:spPr>
          <a:xfrm>
            <a:off x="7132320" y="47732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d8b9c4"/>
                </a:solidFill>
                <a:latin typeface="Calibri"/>
                <a:ea typeface="Calibri"/>
              </a:rPr>
              <a:t>eesel AI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73"/>
          <p:cNvSpPr/>
          <p:nvPr/>
        </p:nvSpPr>
        <p:spPr>
          <a:xfrm>
            <a:off x="10744200" y="444384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9a227"/>
                </a:solidFill>
                <a:latin typeface="Cambria"/>
                <a:ea typeface="Cambria"/>
              </a:rPr>
              <a:t>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0"/>
          <p:cNvSpPr/>
          <p:nvPr/>
        </p:nvSpPr>
        <p:spPr>
          <a:xfrm>
            <a:off x="6492240" y="5440680"/>
            <a:ext cx="4709160" cy="360"/>
          </a:xfrm>
          <a:prstGeom prst="line">
            <a:avLst/>
          </a:prstGeom>
          <a:ln w="9525">
            <a:solidFill>
              <a:srgbClr val="7a37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74"/>
          <p:cNvSpPr/>
          <p:nvPr/>
        </p:nvSpPr>
        <p:spPr>
          <a:xfrm>
            <a:off x="6492240" y="557784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e8d9de"/>
                </a:solidFill>
                <a:latin typeface="Calibri"/>
                <a:ea typeface="Calibri"/>
              </a:rPr>
              <a:t>La source la plus significative reste expérimentale : le test réel (slide suivante), faute de comparatif publié sur cette tâche précise.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53"/>
          <p:cNvSpPr/>
          <p:nvPr/>
        </p:nvSpPr>
        <p:spPr>
          <a:xfrm>
            <a:off x="640080" y="4114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5c1a33"/>
                </a:solidFill>
                <a:latin typeface="Cambria"/>
                <a:ea typeface="Cambria"/>
              </a:rPr>
              <a:t>Veille — Axe 1 : </a:t>
            </a:r>
            <a:r>
              <a:rPr b="1" lang="en-US" sz="2800" spc="-1" strike="noStrike">
                <a:solidFill>
                  <a:srgbClr val="5c1a33"/>
                </a:solidFill>
                <a:latin typeface="Cambria"/>
                <a:ea typeface="Cambria"/>
              </a:rPr>
              <a:t>Dataviz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54"/>
          <p:cNvSpPr/>
          <p:nvPr/>
        </p:nvSpPr>
        <p:spPr>
          <a:xfrm>
            <a:off x="640080" y="93276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6b6b6b"/>
                </a:solidFill>
                <a:latin typeface="Calibri"/>
                <a:ea typeface="Calibri"/>
              </a:rPr>
              <a:t>Plotly vs Altair — Quel bar plot est le plus intéressant pour nous ?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3"/>
          <p:cNvSpPr/>
          <p:nvPr/>
        </p:nvSpPr>
        <p:spPr>
          <a:xfrm>
            <a:off x="640080" y="1417320"/>
            <a:ext cx="6949080" cy="1874160"/>
          </a:xfrm>
          <a:prstGeom prst="roundRect">
            <a:avLst>
              <a:gd name="adj" fmla="val 2439"/>
            </a:avLst>
          </a:prstGeom>
          <a:solidFill>
            <a:srgbClr val="1a1a1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" name="Image 8" descr="chart_plotly.png"/>
          <p:cNvPicPr/>
          <p:nvPr/>
        </p:nvPicPr>
        <p:blipFill>
          <a:blip r:embed="rId1"/>
          <a:stretch/>
        </p:blipFill>
        <p:spPr>
          <a:xfrm>
            <a:off x="777240" y="1536120"/>
            <a:ext cx="6674760" cy="1691280"/>
          </a:xfrm>
          <a:prstGeom prst="rect">
            <a:avLst/>
          </a:prstGeom>
          <a:ln w="0">
            <a:noFill/>
          </a:ln>
        </p:spPr>
      </p:pic>
      <p:sp>
        <p:nvSpPr>
          <p:cNvPr id="98" name="Text 75"/>
          <p:cNvSpPr/>
          <p:nvPr/>
        </p:nvSpPr>
        <p:spPr>
          <a:xfrm>
            <a:off x="640080" y="33192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6b6b"/>
                </a:solidFill>
                <a:latin typeface="Calibri"/>
                <a:ea typeface="Calibri"/>
              </a:rPr>
              <a:t>Plotly — drill-down catégorie → produit, lisible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4"/>
          <p:cNvSpPr/>
          <p:nvPr/>
        </p:nvSpPr>
        <p:spPr>
          <a:xfrm>
            <a:off x="640080" y="3703320"/>
            <a:ext cx="3062880" cy="2331360"/>
          </a:xfrm>
          <a:prstGeom prst="roundRect">
            <a:avLst>
              <a:gd name="adj" fmla="val 1961"/>
            </a:avLst>
          </a:prstGeom>
          <a:solidFill>
            <a:srgbClr val="1a1a1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9" descr="chart_altair.png"/>
          <p:cNvPicPr/>
          <p:nvPr/>
        </p:nvPicPr>
        <p:blipFill>
          <a:blip r:embed="rId2"/>
          <a:stretch/>
        </p:blipFill>
        <p:spPr>
          <a:xfrm>
            <a:off x="749880" y="3813120"/>
            <a:ext cx="2843280" cy="2111760"/>
          </a:xfrm>
          <a:prstGeom prst="rect">
            <a:avLst/>
          </a:prstGeom>
          <a:ln w="0">
            <a:noFill/>
          </a:ln>
        </p:spPr>
      </p:pic>
      <p:sp>
        <p:nvSpPr>
          <p:cNvPr id="101" name="Text 76"/>
          <p:cNvSpPr/>
          <p:nvPr/>
        </p:nvSpPr>
        <p:spPr>
          <a:xfrm>
            <a:off x="640080" y="605340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b6b6b"/>
                </a:solidFill>
                <a:latin typeface="Calibri"/>
                <a:ea typeface="Calibri"/>
              </a:rPr>
              <a:t>Altair — vue détail produit : labels illisibles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77"/>
          <p:cNvSpPr/>
          <p:nvPr/>
        </p:nvSpPr>
        <p:spPr>
          <a:xfrm>
            <a:off x="3886200" y="3749040"/>
            <a:ext cx="370296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50" spc="-1" strike="noStrike">
                <a:solidFill>
                  <a:srgbClr val="5c1a33"/>
                </a:solidFill>
                <a:latin typeface="Calibri"/>
              </a:rPr>
              <a:t>Test réalisé : 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</a:rPr>
              <a:t>même visualisation construite dans les deux librairies, avec filtre interactif.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150" spc="-1" strike="noStrike">
                <a:solidFill>
                  <a:srgbClr val="5c1a33"/>
                </a:solidFill>
                <a:latin typeface="Calibri"/>
              </a:rPr>
              <a:t>Résultat observé : 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</a:rPr>
              <a:t>Plotly permet le drill-down ; Altair devient illisible avec trop d'éléments (ci-contre).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5"/>
          <p:cNvSpPr/>
          <p:nvPr/>
        </p:nvSpPr>
        <p:spPr>
          <a:xfrm>
            <a:off x="7818120" y="1463040"/>
            <a:ext cx="3748680" cy="4708800"/>
          </a:xfrm>
          <a:prstGeom prst="roundRect">
            <a:avLst>
              <a:gd name="adj" fmla="val 1951"/>
            </a:avLst>
          </a:prstGeom>
          <a:solidFill>
            <a:srgbClr val="f7ee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6"/>
          <p:cNvSpPr/>
          <p:nvPr/>
        </p:nvSpPr>
        <p:spPr>
          <a:xfrm>
            <a:off x="8138160" y="1783080"/>
            <a:ext cx="639720" cy="63972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" name="Image 19" descr="check_white.png"/>
          <p:cNvPicPr/>
          <p:nvPr/>
        </p:nvPicPr>
        <p:blipFill>
          <a:blip r:embed="rId3"/>
          <a:stretch/>
        </p:blipFill>
        <p:spPr>
          <a:xfrm>
            <a:off x="8282160" y="1927080"/>
            <a:ext cx="351720" cy="351720"/>
          </a:xfrm>
          <a:prstGeom prst="rect">
            <a:avLst/>
          </a:prstGeom>
          <a:ln w="0">
            <a:noFill/>
          </a:ln>
        </p:spPr>
      </p:pic>
      <p:sp>
        <p:nvSpPr>
          <p:cNvPr id="106" name="Text 78"/>
          <p:cNvSpPr/>
          <p:nvPr/>
        </p:nvSpPr>
        <p:spPr>
          <a:xfrm>
            <a:off x="8915400" y="181044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c1a33"/>
                </a:solidFill>
                <a:latin typeface="Cambria"/>
                <a:ea typeface="Cambria"/>
              </a:rPr>
              <a:t>Décision retenue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79"/>
          <p:cNvSpPr/>
          <p:nvPr/>
        </p:nvSpPr>
        <p:spPr>
          <a:xfrm>
            <a:off x="8138160" y="2606040"/>
            <a:ext cx="3245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c9a227"/>
                </a:solidFill>
                <a:latin typeface="Cambria"/>
                <a:ea typeface="Cambria"/>
              </a:rPr>
              <a:t>Plotly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80"/>
          <p:cNvSpPr/>
          <p:nvPr/>
        </p:nvSpPr>
        <p:spPr>
          <a:xfrm>
            <a:off x="8138160" y="3246120"/>
            <a:ext cx="3245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conservé pour la restitution commerciale : le drill-down est jugé plus utile qu'un filtrage simple.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47"/>
          <p:cNvSpPr/>
          <p:nvPr/>
        </p:nvSpPr>
        <p:spPr>
          <a:xfrm>
            <a:off x="8138160" y="4434840"/>
            <a:ext cx="3246120" cy="360"/>
          </a:xfrm>
          <a:prstGeom prst="line">
            <a:avLst/>
          </a:prstGeom>
          <a:ln w="9525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81"/>
          <p:cNvSpPr/>
          <p:nvPr/>
        </p:nvSpPr>
        <p:spPr>
          <a:xfrm>
            <a:off x="8138160" y="4617720"/>
            <a:ext cx="32457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6b6b"/>
                </a:solidFill>
                <a:latin typeface="Calibri"/>
                <a:ea typeface="Calibri"/>
              </a:rPr>
              <a:t>Limite assumée : filtrage croisé catégorie + tri nécessiterait Dash — piste future, non implémentée.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-2286000" y="4114800"/>
            <a:ext cx="5486040" cy="548604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64008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Veille — Axe 2 : Automatisation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640080" y="98748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d8b9c4"/>
                </a:solidFill>
                <a:latin typeface="Calibri"/>
                <a:ea typeface="Calibri"/>
              </a:rPr>
              <a:t>Claude vs GitHub Copilot — script de consolidation des données</a:t>
            </a:r>
            <a:endParaRPr b="0" lang="fr-F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640080" y="1691640"/>
            <a:ext cx="2697120" cy="2331360"/>
          </a:xfrm>
          <a:prstGeom prst="roundRect">
            <a:avLst>
              <a:gd name="adj" fmla="val 2353"/>
            </a:avLst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868680" y="1920240"/>
            <a:ext cx="502560" cy="5025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86868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a0f20"/>
                </a:solidFill>
                <a:latin typeface="Cambria"/>
                <a:ea typeface="Cambria"/>
              </a:rPr>
              <a:t>1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822960" y="256032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Même besoin, même contexte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822960" y="320040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e8d9de"/>
                </a:solidFill>
                <a:latin typeface="Calibri"/>
                <a:ea typeface="Calibri"/>
              </a:rPr>
              <a:t>soumis aux deux IA en parallèle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8"/>
          <p:cNvSpPr/>
          <p:nvPr/>
        </p:nvSpPr>
        <p:spPr>
          <a:xfrm>
            <a:off x="3447360" y="1691640"/>
            <a:ext cx="2697120" cy="2331360"/>
          </a:xfrm>
          <a:prstGeom prst="roundRect">
            <a:avLst>
              <a:gd name="adj" fmla="val 2353"/>
            </a:avLst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9"/>
          <p:cNvSpPr/>
          <p:nvPr/>
        </p:nvSpPr>
        <p:spPr>
          <a:xfrm>
            <a:off x="3675960" y="1920240"/>
            <a:ext cx="502560" cy="5025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367596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a0f20"/>
                </a:solidFill>
                <a:latin typeface="Cambria"/>
                <a:ea typeface="Cambria"/>
              </a:rPr>
              <a:t>2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3630240" y="256032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Deux méthodes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3630240" y="294840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e8d9de"/>
                </a:solidFill>
                <a:latin typeface="Calibri"/>
                <a:ea typeface="Calibri"/>
              </a:rPr>
              <a:t>VsCode donne un script à utiliser en dehors du notebook et écrit un rapport en dur(JSON). Claude permet d’appeler une fonction directement dans le notebook.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3"/>
          <p:cNvSpPr/>
          <p:nvPr/>
        </p:nvSpPr>
        <p:spPr>
          <a:xfrm>
            <a:off x="6254640" y="1691640"/>
            <a:ext cx="2697120" cy="2331360"/>
          </a:xfrm>
          <a:prstGeom prst="roundRect">
            <a:avLst>
              <a:gd name="adj" fmla="val 2353"/>
            </a:avLst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14"/>
          <p:cNvSpPr/>
          <p:nvPr/>
        </p:nvSpPr>
        <p:spPr>
          <a:xfrm>
            <a:off x="6483240" y="1920240"/>
            <a:ext cx="502560" cy="5025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648324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a0f20"/>
                </a:solidFill>
                <a:latin typeface="Cambria"/>
                <a:ea typeface="Cambria"/>
              </a:rPr>
              <a:t>3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6437520" y="256032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Comparaison des résultats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7"/>
          <p:cNvSpPr/>
          <p:nvPr/>
        </p:nvSpPr>
        <p:spPr>
          <a:xfrm>
            <a:off x="6437520" y="320040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8"/>
          <p:cNvSpPr/>
          <p:nvPr/>
        </p:nvSpPr>
        <p:spPr>
          <a:xfrm>
            <a:off x="9061560" y="1691640"/>
            <a:ext cx="2697120" cy="2331360"/>
          </a:xfrm>
          <a:prstGeom prst="roundRect">
            <a:avLst>
              <a:gd name="adj" fmla="val 2353"/>
            </a:avLst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19"/>
          <p:cNvSpPr/>
          <p:nvPr/>
        </p:nvSpPr>
        <p:spPr>
          <a:xfrm>
            <a:off x="9290160" y="1920240"/>
            <a:ext cx="502560" cy="5025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929016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a0f20"/>
                </a:solidFill>
                <a:latin typeface="Cambria"/>
                <a:ea typeface="Cambria"/>
              </a:rPr>
              <a:t>4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1"/>
          <p:cNvSpPr/>
          <p:nvPr/>
        </p:nvSpPr>
        <p:spPr>
          <a:xfrm>
            <a:off x="9180000" y="256032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Comparaison du code produit.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2"/>
          <p:cNvSpPr/>
          <p:nvPr/>
        </p:nvSpPr>
        <p:spPr>
          <a:xfrm>
            <a:off x="9244440" y="320040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e8d9de"/>
                </a:solidFill>
                <a:latin typeface="Calibri"/>
                <a:ea typeface="Calibri"/>
              </a:rPr>
              <a:t>VsCode produit un code plus verbeux et robuste mais aussi plus lourd. Claude a un code plus clair.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3"/>
          <p:cNvSpPr/>
          <p:nvPr/>
        </p:nvSpPr>
        <p:spPr>
          <a:xfrm>
            <a:off x="640080" y="4343400"/>
            <a:ext cx="10881000" cy="17827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914400" y="452628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0" spc="-1" strike="noStrike">
                <a:solidFill>
                  <a:srgbClr val="5c1a33"/>
                </a:solidFill>
                <a:latin typeface="Cambria"/>
                <a:ea typeface="Cambria"/>
              </a:rPr>
              <a:t>712</a:t>
            </a:r>
            <a:endParaRPr b="0" lang="fr-FR" sz="6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3429000" y="4572000"/>
            <a:ext cx="4114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b2b2b"/>
                </a:solidFill>
                <a:latin typeface="Calibri"/>
                <a:ea typeface="Calibri"/>
              </a:rPr>
              <a:t>lignes consolidées — résultat strictement identique entre les deux scripts, sur les données réelles Bottleneck.</a:t>
            </a:r>
            <a:endParaRPr b="0" lang="fr-F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26"/>
          <p:cNvSpPr/>
          <p:nvPr/>
        </p:nvSpPr>
        <p:spPr>
          <a:xfrm>
            <a:off x="7772400" y="4617720"/>
            <a:ext cx="360" cy="1234440"/>
          </a:xfrm>
          <a:prstGeom prst="line">
            <a:avLst/>
          </a:prstGeom>
          <a:ln w="19050">
            <a:solidFill>
              <a:srgbClr val="f7ee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27"/>
          <p:cNvSpPr/>
          <p:nvPr/>
        </p:nvSpPr>
        <p:spPr>
          <a:xfrm>
            <a:off x="8001000" y="4572000"/>
            <a:ext cx="33372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i="1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Script de Claude choisit car plus lisible et simple. Il sera donc plus facile de le faire évoluer ou de corriger d’eventuels bugs.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9"/>
          <p:cNvSpPr/>
          <p:nvPr/>
        </p:nvSpPr>
        <p:spPr>
          <a:xfrm>
            <a:off x="9244440" y="320040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23"/>
          <p:cNvSpPr/>
          <p:nvPr/>
        </p:nvSpPr>
        <p:spPr>
          <a:xfrm>
            <a:off x="6436440" y="320040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e8d9de"/>
                </a:solidFill>
                <a:latin typeface="Calibri"/>
                <a:ea typeface="Calibri"/>
              </a:rPr>
              <a:t>les deux scripts produisent un résultat identique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640080" y="4572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5c1a33"/>
                </a:solidFill>
                <a:latin typeface="Cambria"/>
                <a:ea typeface="Cambria"/>
              </a:rPr>
              <a:t>Résultats clés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640080" y="10515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6b6b"/>
                </a:solidFill>
                <a:latin typeface="Calibri"/>
                <a:ea typeface="Calibri"/>
              </a:rPr>
              <a:t>Ce que la démarche a concrètement produit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640080" y="1783080"/>
            <a:ext cx="3428640" cy="1874160"/>
          </a:xfrm>
          <a:prstGeom prst="roundRect">
            <a:avLst>
              <a:gd name="adj" fmla="val 3902"/>
            </a:avLst>
          </a:prstGeom>
          <a:solidFill>
            <a:srgbClr val="f7ee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640080" y="192024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5c1a33"/>
                </a:solidFill>
                <a:latin typeface="Cambria"/>
                <a:ea typeface="Cambria"/>
              </a:rPr>
              <a:t>9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868680" y="283464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types d'anomalies détectées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868680" y="324612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b6b6b"/>
                </a:solidFill>
                <a:latin typeface="Calibri"/>
                <a:ea typeface="Calibri"/>
              </a:rPr>
              <a:t>vs « au moins 8 » attendu par le commanditaire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4389120" y="1783080"/>
            <a:ext cx="3428640" cy="1874160"/>
          </a:xfrm>
          <a:prstGeom prst="roundRect">
            <a:avLst>
              <a:gd name="adj" fmla="val 3902"/>
            </a:avLst>
          </a:prstGeom>
          <a:solidFill>
            <a:srgbClr val="f7ee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4389120" y="192024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5c1a33"/>
                </a:solidFill>
                <a:latin typeface="Cambria"/>
                <a:ea typeface="Cambria"/>
              </a:rPr>
              <a:t>712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4617720" y="283464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Lignes conservées après fusion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4617720" y="324612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b6b6b"/>
                </a:solidFill>
                <a:latin typeface="Calibri"/>
                <a:ea typeface="Calibri"/>
              </a:rPr>
              <a:t>Identique au nettoyage manuel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0"/>
          <p:cNvSpPr/>
          <p:nvPr/>
        </p:nvSpPr>
        <p:spPr>
          <a:xfrm>
            <a:off x="8138160" y="1783080"/>
            <a:ext cx="3428640" cy="1874160"/>
          </a:xfrm>
          <a:prstGeom prst="roundRect">
            <a:avLst>
              <a:gd name="adj" fmla="val 3902"/>
            </a:avLst>
          </a:prstGeom>
          <a:solidFill>
            <a:srgbClr val="f7ee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8138160" y="192024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5c1a33"/>
                </a:solidFill>
                <a:latin typeface="Cambria"/>
                <a:ea typeface="Cambria"/>
              </a:rPr>
              <a:t>11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8366760" y="283464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essais IA tracés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8366760" y="324612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b6b6b"/>
                </a:solidFill>
                <a:latin typeface="Calibri"/>
                <a:ea typeface="Calibri"/>
              </a:rPr>
              <a:t>besoin, variantes, décision, écarté et pourquoi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640080" y="39776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c1a33"/>
                </a:solidFill>
                <a:latin typeface="Cambria"/>
                <a:ea typeface="Cambria"/>
              </a:rPr>
              <a:t>Accessibilité — test réel (simulation de daltonisme)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5"/>
          <p:cNvSpPr/>
          <p:nvPr/>
        </p:nvSpPr>
        <p:spPr>
          <a:xfrm>
            <a:off x="640080" y="4617720"/>
            <a:ext cx="3245760" cy="1371240"/>
          </a:xfrm>
          <a:prstGeom prst="rect">
            <a:avLst/>
          </a:prstGeom>
          <a:solidFill>
            <a:srgbClr val="f7eef1"/>
          </a:solidFill>
          <a:ln w="9525">
            <a:solidFill>
              <a:srgbClr val="e0cf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Image 0" descr="access_before_cropped.png"/>
          <p:cNvPicPr/>
          <p:nvPr/>
        </p:nvPicPr>
        <p:blipFill>
          <a:blip r:embed="rId1"/>
          <a:stretch/>
        </p:blipFill>
        <p:spPr>
          <a:xfrm>
            <a:off x="713160" y="4937760"/>
            <a:ext cx="3099600" cy="658080"/>
          </a:xfrm>
          <a:prstGeom prst="rect">
            <a:avLst/>
          </a:prstGeom>
          <a:ln w="0">
            <a:noFill/>
          </a:ln>
        </p:spPr>
      </p:pic>
      <p:sp>
        <p:nvSpPr>
          <p:cNvPr id="158" name="Shape 16"/>
          <p:cNvSpPr/>
          <p:nvPr/>
        </p:nvSpPr>
        <p:spPr>
          <a:xfrm>
            <a:off x="4160520" y="4617720"/>
            <a:ext cx="3245760" cy="1371240"/>
          </a:xfrm>
          <a:prstGeom prst="rect">
            <a:avLst/>
          </a:prstGeom>
          <a:solidFill>
            <a:srgbClr val="f7eef1"/>
          </a:solidFill>
          <a:ln w="9525">
            <a:solidFill>
              <a:srgbClr val="e0cf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Image 1" descr="access_after.png"/>
          <p:cNvPicPr/>
          <p:nvPr/>
        </p:nvPicPr>
        <p:blipFill>
          <a:blip r:embed="rId2"/>
          <a:stretch/>
        </p:blipFill>
        <p:spPr>
          <a:xfrm>
            <a:off x="4233600" y="4937760"/>
            <a:ext cx="3099600" cy="785880"/>
          </a:xfrm>
          <a:prstGeom prst="rect">
            <a:avLst/>
          </a:prstGeom>
          <a:ln w="0">
            <a:noFill/>
          </a:ln>
        </p:spPr>
      </p:pic>
      <p:sp>
        <p:nvSpPr>
          <p:cNvPr id="160" name="Text 17"/>
          <p:cNvSpPr/>
          <p:nvPr/>
        </p:nvSpPr>
        <p:spPr>
          <a:xfrm>
            <a:off x="640080" y="605340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6b6b"/>
                </a:solidFill>
                <a:latin typeface="Calibri"/>
                <a:ea typeface="Calibri"/>
              </a:rPr>
              <a:t>Avant — palette illisible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8"/>
          <p:cNvSpPr/>
          <p:nvPr/>
        </p:nvSpPr>
        <p:spPr>
          <a:xfrm>
            <a:off x="4160520" y="605340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6b6b"/>
                </a:solidFill>
                <a:latin typeface="Calibri"/>
                <a:ea typeface="Calibri"/>
              </a:rPr>
              <a:t>Après — palette Okabe-Ito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9"/>
          <p:cNvSpPr/>
          <p:nvPr/>
        </p:nvSpPr>
        <p:spPr>
          <a:xfrm>
            <a:off x="7955280" y="4434840"/>
            <a:ext cx="548280" cy="54828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Image 2" descr="chart_white.png"/>
          <p:cNvPicPr/>
          <p:nvPr/>
        </p:nvPicPr>
        <p:blipFill>
          <a:blip r:embed="rId3"/>
          <a:stretch/>
        </p:blipFill>
        <p:spPr>
          <a:xfrm>
            <a:off x="8078760" y="455832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164" name="Text 20"/>
          <p:cNvSpPr/>
          <p:nvPr/>
        </p:nvSpPr>
        <p:spPr>
          <a:xfrm>
            <a:off x="8641080" y="4434840"/>
            <a:ext cx="29257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Chaque chiffre ici est issu d'une exécution réelle sur les données Bottleneck — pas d'une estimation.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640080" y="4572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5c1a33"/>
                </a:solidFill>
                <a:latin typeface="Cambria"/>
                <a:ea typeface="Cambria"/>
              </a:rPr>
              <a:t>Gestion de projet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640080" y="10515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6b6b"/>
                </a:solidFill>
                <a:latin typeface="Calibri"/>
                <a:ea typeface="Calibri"/>
              </a:rPr>
              <a:t>Piloté comme en contexte professionnel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640080" y="182880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5c1a33"/>
                </a:solidFill>
                <a:latin typeface="Calibri"/>
              </a:rPr>
              <a:t>7 lots</a:t>
            </a:r>
            <a:r>
              <a:rPr b="0" lang="en-US" sz="1300" spc="-1" strike="noStrike">
                <a:solidFill>
                  <a:srgbClr val="2b2b2b"/>
                </a:solidFill>
                <a:latin typeface="Calibri"/>
              </a:rPr>
              <a:t> — cadrage, data audit, EDA, validation, restitution, industrialisation légère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spcAft>
                <a:spcPts val="1001"/>
              </a:spcAft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5c1a33"/>
                </a:solidFill>
                <a:latin typeface="Calibri"/>
              </a:rPr>
              <a:t>12 tâches</a:t>
            </a:r>
            <a:r>
              <a:rPr b="0" lang="en-US" sz="1300" spc="-1" strike="noStrike">
                <a:solidFill>
                  <a:srgbClr val="2b2b2b"/>
                </a:solidFill>
                <a:latin typeface="Calibri"/>
              </a:rPr>
              <a:t> — user stories, estimation, dépendances, Definition of Done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spcAft>
                <a:spcPts val="1001"/>
              </a:spcAft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5c1a33"/>
                </a:solidFill>
                <a:latin typeface="Calibri"/>
              </a:rPr>
              <a:t>2 semaines</a:t>
            </a:r>
            <a:r>
              <a:rPr b="0" lang="en-US" sz="1300" spc="-1" strike="noStrike">
                <a:solidFill>
                  <a:srgbClr val="2b2b2b"/>
                </a:solidFill>
                <a:latin typeface="Calibri"/>
              </a:rPr>
              <a:t> — 5 itérations, points de contrôle à chaque jalon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spcAft>
                <a:spcPts val="1001"/>
              </a:spcAft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c1a33"/>
                </a:solidFill>
                <a:latin typeface="Calibri"/>
              </a:rPr>
              <a:t>6 catégories de risques</a:t>
            </a:r>
            <a:r>
              <a:rPr b="0" lang="en-US" sz="1300" spc="-1" strike="noStrike">
                <a:solidFill>
                  <a:srgbClr val="2b2b2b"/>
                </a:solidFill>
                <a:latin typeface="Calibri"/>
              </a:rPr>
              <a:t> — fuite de données, biais, dérive, métriques, temps, données insuffisantes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5349240" y="1783080"/>
            <a:ext cx="6217560" cy="4343040"/>
          </a:xfrm>
          <a:prstGeom prst="roundRect">
            <a:avLst>
              <a:gd name="adj" fmla="val 1053"/>
            </a:avLst>
          </a:prstGeom>
          <a:solidFill>
            <a:srgbClr val="1a1a1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9" name="Image 0" descr="kanban.png"/>
          <p:cNvPicPr/>
          <p:nvPr/>
        </p:nvPicPr>
        <p:blipFill>
          <a:blip r:embed="rId1"/>
          <a:stretch/>
        </p:blipFill>
        <p:spPr>
          <a:xfrm>
            <a:off x="5486400" y="1920240"/>
            <a:ext cx="5943240" cy="3090240"/>
          </a:xfrm>
          <a:prstGeom prst="rect">
            <a:avLst/>
          </a:prstGeom>
          <a:ln w="0">
            <a:noFill/>
          </a:ln>
        </p:spPr>
      </p:pic>
      <p:sp>
        <p:nvSpPr>
          <p:cNvPr id="170" name="Text 4"/>
          <p:cNvSpPr/>
          <p:nvPr/>
        </p:nvSpPr>
        <p:spPr>
          <a:xfrm>
            <a:off x="5486400" y="512064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d8d8d8"/>
                </a:solidFill>
                <a:latin typeface="Calibri"/>
                <a:ea typeface="Calibri"/>
              </a:rPr>
              <a:t>Kanban Notion réel — capture prise en cours de projet (10 tâches). Le backlog final en compte 12, toutes terminées — conservé à dessein pour montrer le suivi en action.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28"/>
          <p:cNvSpPr/>
          <p:nvPr/>
        </p:nvSpPr>
        <p:spPr>
          <a:xfrm>
            <a:off x="64008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5c1a33"/>
                </a:solidFill>
                <a:latin typeface="Cambria"/>
                <a:ea typeface="Cambria"/>
              </a:rPr>
              <a:t>Documentation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32"/>
          <p:cNvSpPr/>
          <p:nvPr/>
        </p:nvSpPr>
        <p:spPr>
          <a:xfrm>
            <a:off x="640080" y="105156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6b6b"/>
                </a:solidFill>
                <a:latin typeface="Calibri"/>
                <a:ea typeface="Calibri"/>
              </a:rPr>
              <a:t>Rendre le travail reproductible et présentable — le 4e volet de la mission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31"/>
          <p:cNvSpPr/>
          <p:nvPr/>
        </p:nvSpPr>
        <p:spPr>
          <a:xfrm>
            <a:off x="640080" y="1691640"/>
            <a:ext cx="5120280" cy="1828440"/>
          </a:xfrm>
          <a:prstGeom prst="roundRect">
            <a:avLst>
              <a:gd name="adj" fmla="val 4000"/>
            </a:avLst>
          </a:prstGeom>
          <a:solidFill>
            <a:srgbClr val="f7eef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32"/>
          <p:cNvSpPr/>
          <p:nvPr/>
        </p:nvSpPr>
        <p:spPr>
          <a:xfrm>
            <a:off x="932760" y="1984320"/>
            <a:ext cx="685440" cy="68544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5" name="Image 10" descr="robot_white.png"/>
          <p:cNvPicPr/>
          <p:nvPr/>
        </p:nvPicPr>
        <p:blipFill>
          <a:blip r:embed="rId1"/>
          <a:stretch/>
        </p:blipFill>
        <p:spPr>
          <a:xfrm>
            <a:off x="1086840" y="2138400"/>
            <a:ext cx="376920" cy="376920"/>
          </a:xfrm>
          <a:prstGeom prst="rect">
            <a:avLst/>
          </a:prstGeom>
          <a:ln w="0">
            <a:noFill/>
          </a:ln>
        </p:spPr>
      </p:pic>
      <p:sp>
        <p:nvSpPr>
          <p:cNvPr id="176" name="Text 36"/>
          <p:cNvSpPr/>
          <p:nvPr/>
        </p:nvSpPr>
        <p:spPr>
          <a:xfrm>
            <a:off x="1783080" y="194760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5c1a33"/>
                </a:solidFill>
                <a:latin typeface="Cambria"/>
                <a:ea typeface="Cambria"/>
              </a:rPr>
              <a:t>Traçabilité IA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38"/>
          <p:cNvSpPr/>
          <p:nvPr/>
        </p:nvSpPr>
        <p:spPr>
          <a:xfrm>
            <a:off x="1783080" y="2331720"/>
            <a:ext cx="3702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  <a:ea typeface="Calibri"/>
              </a:rPr>
              <a:t>11 essais tracés : besoin exprimé, variantes comparées, décision retenue, ce qui a été écarté et pourquoi.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33"/>
          <p:cNvSpPr/>
          <p:nvPr/>
        </p:nvSpPr>
        <p:spPr>
          <a:xfrm>
            <a:off x="6217920" y="1691640"/>
            <a:ext cx="5120280" cy="1828440"/>
          </a:xfrm>
          <a:prstGeom prst="roundRect">
            <a:avLst>
              <a:gd name="adj" fmla="val 4000"/>
            </a:avLst>
          </a:prstGeom>
          <a:solidFill>
            <a:srgbClr val="f7eef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4"/>
          <p:cNvSpPr/>
          <p:nvPr/>
        </p:nvSpPr>
        <p:spPr>
          <a:xfrm>
            <a:off x="6510600" y="1984320"/>
            <a:ext cx="685440" cy="68544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0" name="Image 11" descr="check_white.png"/>
          <p:cNvPicPr/>
          <p:nvPr/>
        </p:nvPicPr>
        <p:blipFill>
          <a:blip r:embed="rId2"/>
          <a:stretch/>
        </p:blipFill>
        <p:spPr>
          <a:xfrm>
            <a:off x="6664680" y="2138400"/>
            <a:ext cx="376920" cy="376920"/>
          </a:xfrm>
          <a:prstGeom prst="rect">
            <a:avLst/>
          </a:prstGeom>
          <a:ln w="0">
            <a:noFill/>
          </a:ln>
        </p:spPr>
      </p:pic>
      <p:sp>
        <p:nvSpPr>
          <p:cNvPr id="181" name="Text 39"/>
          <p:cNvSpPr/>
          <p:nvPr/>
        </p:nvSpPr>
        <p:spPr>
          <a:xfrm>
            <a:off x="7360920" y="194760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5c1a33"/>
                </a:solidFill>
                <a:latin typeface="Cambria"/>
                <a:ea typeface="Cambria"/>
              </a:rPr>
              <a:t>Justifications techniques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40"/>
          <p:cNvSpPr/>
          <p:nvPr/>
        </p:nvSpPr>
        <p:spPr>
          <a:xfrm>
            <a:off x="7360920" y="2331720"/>
            <a:ext cx="3702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  <a:ea typeface="Calibri"/>
              </a:rPr>
              <a:t>Clé de jointure, seuil de TVA, palette de couleurs, méthode de détection des outliers — chaque choix expliqué.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35"/>
          <p:cNvSpPr/>
          <p:nvPr/>
        </p:nvSpPr>
        <p:spPr>
          <a:xfrm>
            <a:off x="640080" y="3794760"/>
            <a:ext cx="5120280" cy="1828440"/>
          </a:xfrm>
          <a:prstGeom prst="roundRect">
            <a:avLst>
              <a:gd name="adj" fmla="val 4000"/>
            </a:avLst>
          </a:prstGeom>
          <a:solidFill>
            <a:srgbClr val="f7eef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36"/>
          <p:cNvSpPr/>
          <p:nvPr/>
        </p:nvSpPr>
        <p:spPr>
          <a:xfrm>
            <a:off x="932760" y="4087440"/>
            <a:ext cx="685440" cy="68544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5" name="Image 12" descr="flask_white.png"/>
          <p:cNvPicPr/>
          <p:nvPr/>
        </p:nvPicPr>
        <p:blipFill>
          <a:blip r:embed="rId3"/>
          <a:stretch/>
        </p:blipFill>
        <p:spPr>
          <a:xfrm>
            <a:off x="1086840" y="4241520"/>
            <a:ext cx="376920" cy="376920"/>
          </a:xfrm>
          <a:prstGeom prst="rect">
            <a:avLst/>
          </a:prstGeom>
          <a:ln w="0">
            <a:noFill/>
          </a:ln>
        </p:spPr>
      </p:pic>
      <p:sp>
        <p:nvSpPr>
          <p:cNvPr id="186" name="Text 41"/>
          <p:cNvSpPr/>
          <p:nvPr/>
        </p:nvSpPr>
        <p:spPr>
          <a:xfrm>
            <a:off x="1783080" y="405072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5c1a33"/>
                </a:solidFill>
                <a:latin typeface="Cambria"/>
                <a:ea typeface="Cambria"/>
              </a:rPr>
              <a:t>Limites &amp; biais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42"/>
          <p:cNvSpPr/>
          <p:nvPr/>
        </p:nvSpPr>
        <p:spPr>
          <a:xfrm>
            <a:off x="1783080" y="4434840"/>
            <a:ext cx="3702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  <a:ea typeface="Calibri"/>
              </a:rPr>
              <a:t>Ce qui peut casser, ce qui reste incertain, risques d'interprétation — assumés explicitement, pas dissimulés.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37"/>
          <p:cNvSpPr/>
          <p:nvPr/>
        </p:nvSpPr>
        <p:spPr>
          <a:xfrm>
            <a:off x="6217920" y="3794760"/>
            <a:ext cx="5120280" cy="1828440"/>
          </a:xfrm>
          <a:prstGeom prst="roundRect">
            <a:avLst>
              <a:gd name="adj" fmla="val 4000"/>
            </a:avLst>
          </a:prstGeom>
          <a:solidFill>
            <a:srgbClr val="f7eef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a1a1a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38"/>
          <p:cNvSpPr/>
          <p:nvPr/>
        </p:nvSpPr>
        <p:spPr>
          <a:xfrm>
            <a:off x="6510600" y="4087440"/>
            <a:ext cx="685440" cy="68544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0" name="Image 13" descr="book_white.png"/>
          <p:cNvPicPr/>
          <p:nvPr/>
        </p:nvPicPr>
        <p:blipFill>
          <a:blip r:embed="rId4"/>
          <a:stretch/>
        </p:blipFill>
        <p:spPr>
          <a:xfrm>
            <a:off x="6664680" y="4241520"/>
            <a:ext cx="376920" cy="376920"/>
          </a:xfrm>
          <a:prstGeom prst="rect">
            <a:avLst/>
          </a:prstGeom>
          <a:ln w="0">
            <a:noFill/>
          </a:ln>
        </p:spPr>
      </p:pic>
      <p:sp>
        <p:nvSpPr>
          <p:cNvPr id="191" name="Text 43"/>
          <p:cNvSpPr/>
          <p:nvPr/>
        </p:nvSpPr>
        <p:spPr>
          <a:xfrm>
            <a:off x="7360920" y="405072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5c1a33"/>
                </a:solidFill>
                <a:latin typeface="Cambria"/>
                <a:ea typeface="Cambria"/>
              </a:rPr>
              <a:t>Reproductibilité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44"/>
          <p:cNvSpPr/>
          <p:nvPr/>
        </p:nvSpPr>
        <p:spPr>
          <a:xfrm>
            <a:off x="7360920" y="4434840"/>
            <a:ext cx="3702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  <a:ea typeface="Calibri"/>
              </a:rPr>
              <a:t>Environnement, structure du dépôt, instructions d'exécution — un tiers peut relancer le projet à l'identique.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9"/>
          <p:cNvSpPr/>
          <p:nvPr/>
        </p:nvSpPr>
        <p:spPr>
          <a:xfrm>
            <a:off x="640080" y="5852160"/>
            <a:ext cx="10881000" cy="959760"/>
          </a:xfrm>
          <a:prstGeom prst="roundRect">
            <a:avLst>
              <a:gd name="adj" fmla="val 7619"/>
            </a:avLst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40"/>
          <p:cNvSpPr/>
          <p:nvPr/>
        </p:nvSpPr>
        <p:spPr>
          <a:xfrm>
            <a:off x="896040" y="6053400"/>
            <a:ext cx="548280" cy="5482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mage 18" descr="chart_wine.png"/>
          <p:cNvPicPr/>
          <p:nvPr/>
        </p:nvPicPr>
        <p:blipFill>
          <a:blip r:embed="rId5"/>
          <a:stretch/>
        </p:blipFill>
        <p:spPr>
          <a:xfrm>
            <a:off x="1019520" y="617688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196" name="Text 45"/>
          <p:cNvSpPr/>
          <p:nvPr/>
        </p:nvSpPr>
        <p:spPr>
          <a:xfrm>
            <a:off x="1600200" y="5970960"/>
            <a:ext cx="2834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Synthèse recruteur / client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46"/>
          <p:cNvSpPr/>
          <p:nvPr/>
        </p:nvSpPr>
        <p:spPr>
          <a:xfrm>
            <a:off x="4572000" y="5970960"/>
            <a:ext cx="6674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e8d9de"/>
                </a:solidFill>
                <a:latin typeface="Calibri"/>
                <a:ea typeface="Calibri"/>
              </a:rPr>
              <a:t>Résultats, impact, recommandations, prochaines étapes.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a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2"/>
          <p:cNvSpPr/>
          <p:nvPr/>
        </p:nvSpPr>
        <p:spPr>
          <a:xfrm>
            <a:off x="8961120" y="-2286000"/>
            <a:ext cx="5943240" cy="5943240"/>
          </a:xfrm>
          <a:prstGeom prst="ellipse">
            <a:avLst/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47"/>
          <p:cNvSpPr/>
          <p:nvPr/>
        </p:nvSpPr>
        <p:spPr>
          <a:xfrm>
            <a:off x="822960" y="82296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Ce qu'on retient</a:t>
            </a:r>
            <a:endParaRPr b="0" lang="fr-F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48"/>
          <p:cNvSpPr/>
          <p:nvPr/>
        </p:nvSpPr>
        <p:spPr>
          <a:xfrm>
            <a:off x="822960" y="187452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c9a227"/>
                </a:solidFill>
                <a:latin typeface="Cambria"/>
                <a:ea typeface="Cambria"/>
              </a:rPr>
              <a:t>Des prompts bien contextualisés et une relecture attentive de l’IA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c9a227"/>
                </a:solidFill>
                <a:latin typeface="Cambria"/>
                <a:ea typeface="Cambria"/>
              </a:rPr>
              <a:t>Sont indispensables à sa bonne utilisation. 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49"/>
          <p:cNvSpPr/>
          <p:nvPr/>
        </p:nvSpPr>
        <p:spPr>
          <a:xfrm>
            <a:off x="822960" y="2971800"/>
            <a:ext cx="6583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Aucune décision n'a été acceptée sans être testée — palette de couleurs, choix de librairie, script généré par IA.</a:t>
            </a:r>
            <a:endParaRPr b="0" lang="fr-FR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Chaque comparaison a produit une trace exploitable : besoin, variantes, critère de décision, ce qui a été écarté et pourquoi.</a:t>
            </a:r>
            <a:endParaRPr b="0" lang="fr-F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41"/>
          <p:cNvSpPr/>
          <p:nvPr/>
        </p:nvSpPr>
        <p:spPr>
          <a:xfrm>
            <a:off x="7772400" y="2971800"/>
            <a:ext cx="3657240" cy="2468520"/>
          </a:xfrm>
          <a:prstGeom prst="roundRect">
            <a:avLst>
              <a:gd name="adj" fmla="val 2963"/>
            </a:avLst>
          </a:prstGeom>
          <a:solidFill>
            <a:srgbClr val="5c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42"/>
          <p:cNvSpPr/>
          <p:nvPr/>
        </p:nvSpPr>
        <p:spPr>
          <a:xfrm>
            <a:off x="8092440" y="3246120"/>
            <a:ext cx="548280" cy="5482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Image 7" descr="bulb_wine.png"/>
          <p:cNvPicPr/>
          <p:nvPr/>
        </p:nvPicPr>
        <p:blipFill>
          <a:blip r:embed="rId1"/>
          <a:stretch/>
        </p:blipFill>
        <p:spPr>
          <a:xfrm>
            <a:off x="8215920" y="336960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205" name="Text 50"/>
          <p:cNvSpPr/>
          <p:nvPr/>
        </p:nvSpPr>
        <p:spPr>
          <a:xfrm>
            <a:off x="8778240" y="327348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Perspectives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51"/>
          <p:cNvSpPr/>
          <p:nvPr/>
        </p:nvSpPr>
        <p:spPr>
          <a:xfrm>
            <a:off x="8092440" y="3977640"/>
            <a:ext cx="3108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150" spc="-1" strike="noStrike">
                <a:solidFill>
                  <a:srgbClr val="e8d9de"/>
                </a:solidFill>
                <a:latin typeface="Calibri"/>
                <a:ea typeface="Calibri"/>
              </a:rPr>
              <a:t>- Dashboard Dash pour filtres croisés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400"/>
              </a:spcAft>
              <a:tabLst>
                <a:tab algn="l" pos="0"/>
              </a:tabLst>
            </a:pP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150" spc="-1" strike="noStrike">
                <a:solidFill>
                  <a:srgbClr val="e8d9de"/>
                </a:solidFill>
                <a:latin typeface="Calibri"/>
                <a:ea typeface="Calibri"/>
              </a:rPr>
              <a:t>- Reconduire le script sur les mois suivants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spcAft>
                <a:spcPts val="400"/>
              </a:spcAft>
              <a:tabLst>
                <a:tab algn="l" pos="0"/>
              </a:tabLst>
            </a:pP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52"/>
          <p:cNvSpPr/>
          <p:nvPr/>
        </p:nvSpPr>
        <p:spPr>
          <a:xfrm>
            <a:off x="822960" y="589788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Merci — questions ?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2026-08-14T13:41:45Z</dcterms:created>
  <dc:creator>PptxGenJS</dc:creator>
  <dc:description/>
  <dc:language>fr-FR</dc:language>
  <cp:lastModifiedBy/>
  <dcterms:modified xsi:type="dcterms:W3CDTF">2026-08-16T10:29:08Z</dcterms:modified>
  <cp:revision>14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