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embeddedFontLst>
    <p:embeddedFont>
      <p:font typeface="Century Gothic" panose="020B0502020202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irjfFyYNBG5sNntC35Cbhoqt17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36CCCAD6-9B8B-4ECC-B7BF-7E36B9ADD69A}"/>
    <pc:docChg chg="custSel modSld">
      <pc:chgData name="Zied Belhocine" userId="200cc0e2b299676e" providerId="LiveId" clId="{36CCCAD6-9B8B-4ECC-B7BF-7E36B9ADD69A}" dt="2026-01-22T11:09:00.622" v="44" actId="1076"/>
      <pc:docMkLst>
        <pc:docMk/>
      </pc:docMkLst>
      <pc:sldChg chg="addSp delSp modSp mod">
        <pc:chgData name="Zied Belhocine" userId="200cc0e2b299676e" providerId="LiveId" clId="{36CCCAD6-9B8B-4ECC-B7BF-7E36B9ADD69A}" dt="2026-01-22T11:05:22.348" v="25" actId="20577"/>
        <pc:sldMkLst>
          <pc:docMk/>
          <pc:sldMk cId="0" sldId="256"/>
        </pc:sldMkLst>
        <pc:spChg chg="ord">
          <ac:chgData name="Zied Belhocine" userId="200cc0e2b299676e" providerId="LiveId" clId="{36CCCAD6-9B8B-4ECC-B7BF-7E36B9ADD69A}" dt="2026-01-22T11:05:09.983" v="7" actId="167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Zied Belhocine" userId="200cc0e2b299676e" providerId="LiveId" clId="{36CCCAD6-9B8B-4ECC-B7BF-7E36B9ADD69A}" dt="2026-01-22T11:05:22.348" v="25" actId="20577"/>
          <ac:spMkLst>
            <pc:docMk/>
            <pc:sldMk cId="0" sldId="256"/>
            <ac:spMk id="122" creationId="{00000000-0000-0000-0000-000000000000}"/>
          </ac:spMkLst>
        </pc:spChg>
        <pc:spChg chg="del">
          <ac:chgData name="Zied Belhocine" userId="200cc0e2b299676e" providerId="LiveId" clId="{36CCCAD6-9B8B-4ECC-B7BF-7E36B9ADD69A}" dt="2026-01-22T11:05:07.407" v="6" actId="478"/>
          <ac:spMkLst>
            <pc:docMk/>
            <pc:sldMk cId="0" sldId="256"/>
            <ac:spMk id="125" creationId="{00000000-0000-0000-0000-000000000000}"/>
          </ac:spMkLst>
        </pc:spChg>
        <pc:picChg chg="del">
          <ac:chgData name="Zied Belhocine" userId="200cc0e2b299676e" providerId="LiveId" clId="{36CCCAD6-9B8B-4ECC-B7BF-7E36B9ADD69A}" dt="2026-01-22T11:05:04.695" v="5" actId="478"/>
          <ac:picMkLst>
            <pc:docMk/>
            <pc:sldMk cId="0" sldId="256"/>
            <ac:picMk id="124" creationId="{00000000-0000-0000-0000-000000000000}"/>
          </ac:picMkLst>
        </pc:picChg>
        <pc:picChg chg="add mod">
          <ac:chgData name="Zied Belhocine" userId="200cc0e2b299676e" providerId="LiveId" clId="{36CCCAD6-9B8B-4ECC-B7BF-7E36B9ADD69A}" dt="2026-01-22T11:05:03.251" v="4" actId="167"/>
          <ac:picMkLst>
            <pc:docMk/>
            <pc:sldMk cId="0" sldId="256"/>
            <ac:picMk id="1026" creationId="{801B4146-AC81-015A-C5F6-016F190EE981}"/>
          </ac:picMkLst>
        </pc:picChg>
      </pc:sldChg>
      <pc:sldChg chg="addSp delSp modSp mod">
        <pc:chgData name="Zied Belhocine" userId="200cc0e2b299676e" providerId="LiveId" clId="{36CCCAD6-9B8B-4ECC-B7BF-7E36B9ADD69A}" dt="2026-01-22T11:09:00.622" v="44" actId="1076"/>
        <pc:sldMkLst>
          <pc:docMk/>
          <pc:sldMk cId="0" sldId="257"/>
        </pc:sldMkLst>
        <pc:spChg chg="mod">
          <ac:chgData name="Zied Belhocine" userId="200cc0e2b299676e" providerId="LiveId" clId="{36CCCAD6-9B8B-4ECC-B7BF-7E36B9ADD69A}" dt="2026-01-22T11:07:05.260" v="37" actId="27636"/>
          <ac:spMkLst>
            <pc:docMk/>
            <pc:sldMk cId="0" sldId="257"/>
            <ac:spMk id="131" creationId="{00000000-0000-0000-0000-000000000000}"/>
          </ac:spMkLst>
        </pc:spChg>
        <pc:spChg chg="mod">
          <ac:chgData name="Zied Belhocine" userId="200cc0e2b299676e" providerId="LiveId" clId="{36CCCAD6-9B8B-4ECC-B7BF-7E36B9ADD69A}" dt="2026-01-22T11:07:59.343" v="42" actId="1076"/>
          <ac:spMkLst>
            <pc:docMk/>
            <pc:sldMk cId="0" sldId="257"/>
            <ac:spMk id="132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1-22T11:09:00.622" v="44" actId="1076"/>
          <ac:picMkLst>
            <pc:docMk/>
            <pc:sldMk cId="0" sldId="257"/>
            <ac:picMk id="3" creationId="{CE2D3E78-94E0-33A2-B003-41AFC89F1630}"/>
          </ac:picMkLst>
        </pc:picChg>
        <pc:picChg chg="add del mod">
          <ac:chgData name="Zied Belhocine" userId="200cc0e2b299676e" providerId="LiveId" clId="{36CCCAD6-9B8B-4ECC-B7BF-7E36B9ADD69A}" dt="2026-01-22T11:07:20.520" v="39" actId="478"/>
          <ac:picMkLst>
            <pc:docMk/>
            <pc:sldMk cId="0" sldId="257"/>
            <ac:picMk id="2050" creationId="{214EB35B-3934-99D3-0A18-A0B907F54F3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233f607d43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3" name="Google Shape;193;g2233f607d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4" name="Google Shape;21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/>
          <p:nvPr/>
        </p:nvSpPr>
        <p:spPr>
          <a:xfrm>
            <a:off x="0" y="-3175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7"/>
          <p:cNvSpPr txBox="1"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5400"/>
              <a:buFont typeface="Century Gothic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/>
          <p:nvPr/>
        </p:nvSpPr>
        <p:spPr>
          <a:xfrm>
            <a:off x="0" y="1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800"/>
              <a:buFont typeface="Century Gothic"/>
              <a:buNone/>
              <a:defRPr sz="48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5185873" cy="36387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87415" y="2222287"/>
            <a:ext cx="5194583" cy="363876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2"/>
          </p:nvPr>
        </p:nvSpPr>
        <p:spPr>
          <a:xfrm>
            <a:off x="814729" y="2751138"/>
            <a:ext cx="5189856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3"/>
          </p:nvPr>
        </p:nvSpPr>
        <p:spPr>
          <a:xfrm>
            <a:off x="6187415" y="2174875"/>
            <a:ext cx="5194583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4"/>
          </p:nvPr>
        </p:nvSpPr>
        <p:spPr>
          <a:xfrm>
            <a:off x="6187415" y="2751138"/>
            <a:ext cx="5194583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uniquement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/>
          <p:nvPr/>
        </p:nvSpPr>
        <p:spPr>
          <a:xfrm>
            <a:off x="1073151" y="446087"/>
            <a:ext cx="3547533" cy="1814651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000"/>
              <a:buFont typeface="Century Gothic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body" idx="1"/>
          </p:nvPr>
        </p:nvSpPr>
        <p:spPr>
          <a:xfrm>
            <a:off x="4855633" y="446088"/>
            <a:ext cx="6252633" cy="54149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2"/>
          </p:nvPr>
        </p:nvSpPr>
        <p:spPr>
          <a:xfrm>
            <a:off x="1073151" y="2260738"/>
            <a:ext cx="3547533" cy="36003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>
            <a:spLocks noGrp="1"/>
          </p:cNvSpPr>
          <p:nvPr>
            <p:ph type="pic" idx="2"/>
          </p:nvPr>
        </p:nvSpPr>
        <p:spPr>
          <a:xfrm>
            <a:off x="6098117" y="0"/>
            <a:ext cx="6093883" cy="6858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>
            <a:off x="814728" y="2344684"/>
            <a:ext cx="4852988" cy="35163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3885810" y="6041362"/>
            <a:ext cx="9768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590396" y="6041362"/>
            <a:ext cx="32954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4862689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panoramique avec légende">
  <p:cSld name="Image panoramique avec légen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4800600"/>
          </a:xfrm>
          <a:prstGeom prst="rect">
            <a:avLst/>
          </a:prstGeom>
          <a:noFill/>
          <a:ln w="95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82" name="Google Shape;82;p26"/>
          <p:cNvSpPr txBox="1">
            <a:spLocks noGrp="1"/>
          </p:cNvSpPr>
          <p:nvPr>
            <p:ph type="body" idx="1"/>
          </p:nvPr>
        </p:nvSpPr>
        <p:spPr>
          <a:xfrm>
            <a:off x="810000" y="5367338"/>
            <a:ext cx="10561418" cy="4937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tion avec légende">
  <p:cSld name="Citation avec légende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7"/>
          <p:cNvSpPr/>
          <p:nvPr/>
        </p:nvSpPr>
        <p:spPr>
          <a:xfrm>
            <a:off x="631697" y="1081456"/>
            <a:ext cx="6332416" cy="3239188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27"/>
          <p:cNvSpPr txBox="1"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200"/>
              <a:buFont typeface="Century Gothic"/>
              <a:buNone/>
              <a:defRPr sz="42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7"/>
          <p:cNvSpPr txBox="1"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2"/>
          </p:nvPr>
        </p:nvSpPr>
        <p:spPr>
          <a:xfrm>
            <a:off x="7574642" y="1081456"/>
            <a:ext cx="3810001" cy="40754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1" name="Google Shape;91;p2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te de nom">
  <p:cSld name="Carte de nom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8"/>
          <p:cNvSpPr/>
          <p:nvPr/>
        </p:nvSpPr>
        <p:spPr>
          <a:xfrm>
            <a:off x="1140884" y="2286585"/>
            <a:ext cx="4895115" cy="2503972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28"/>
          <p:cNvSpPr txBox="1"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8"/>
          <p:cNvSpPr txBox="1">
            <a:spLocks noGrp="1"/>
          </p:cNvSpPr>
          <p:nvPr>
            <p:ph type="body" idx="1"/>
          </p:nvPr>
        </p:nvSpPr>
        <p:spPr>
          <a:xfrm>
            <a:off x="6156000" y="2286000"/>
            <a:ext cx="4880300" cy="229552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8" name="Google Shape;98;p2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9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2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9"/>
          <p:cNvSpPr txBox="1">
            <a:spLocks noGrp="1"/>
          </p:cNvSpPr>
          <p:nvPr>
            <p:ph type="body" idx="1"/>
          </p:nvPr>
        </p:nvSpPr>
        <p:spPr>
          <a:xfrm rot="5400000">
            <a:off x="4254444" y="-1260043"/>
            <a:ext cx="3674397" cy="1056328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5" name="Google Shape;105;p2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0"/>
          <p:cNvSpPr/>
          <p:nvPr/>
        </p:nvSpPr>
        <p:spPr>
          <a:xfrm>
            <a:off x="7669651" y="446089"/>
            <a:ext cx="4522349" cy="5414962"/>
          </a:xfrm>
          <a:custGeom>
            <a:avLst/>
            <a:gdLst/>
            <a:ahLst/>
            <a:cxnLst/>
            <a:rect l="l" t="t" r="r" b="b"/>
            <a:pathLst>
              <a:path w="2879" h="4320" extrusionOk="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30"/>
          <p:cNvSpPr txBox="1">
            <a:spLocks noGrp="1"/>
          </p:cNvSpPr>
          <p:nvPr>
            <p:ph type="title"/>
          </p:nvPr>
        </p:nvSpPr>
        <p:spPr>
          <a:xfrm rot="5400000">
            <a:off x="6863536" y="1906175"/>
            <a:ext cx="5134798" cy="249479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0"/>
          <p:cNvSpPr txBox="1">
            <a:spLocks noGrp="1"/>
          </p:cNvSpPr>
          <p:nvPr>
            <p:ph type="body" idx="1"/>
          </p:nvPr>
        </p:nvSpPr>
        <p:spPr>
          <a:xfrm rot="5400000">
            <a:off x="1408290" y="-152200"/>
            <a:ext cx="5414962" cy="661154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12" name="Google Shape;112;p3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 sz="4000" b="1" i="0" u="none" strike="noStrike" cap="non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🞆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🞆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🞆"/>
              <a:defRPr sz="14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026" name="Picture 2" descr="planète terre - clipart vectoriel de Style de vie écologique libre de droits">
            <a:extLst>
              <a:ext uri="{FF2B5EF4-FFF2-40B4-BE49-F238E27FC236}">
                <a16:creationId xmlns:a16="http://schemas.microsoft.com/office/drawing/2014/main" id="{801B4146-AC81-015A-C5F6-016F190EE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3151823"/>
            <a:ext cx="6553200" cy="370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1" name="Google Shape;121;p1"/>
          <p:cNvSpPr/>
          <p:nvPr/>
        </p:nvSpPr>
        <p:spPr>
          <a:xfrm rot="-5400000">
            <a:off x="-650724" y="650724"/>
            <a:ext cx="6858000" cy="5556552"/>
          </a:xfrm>
          <a:custGeom>
            <a:avLst/>
            <a:gdLst/>
            <a:ahLst/>
            <a:cxnLst/>
            <a:rect l="l" t="t" r="r" b="b"/>
            <a:pathLst>
              <a:path w="6858000" h="5556552" extrusionOk="0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"/>
          <p:cNvSpPr txBox="1">
            <a:spLocks noGrp="1"/>
          </p:cNvSpPr>
          <p:nvPr>
            <p:ph type="subTitle" idx="1"/>
          </p:nvPr>
        </p:nvSpPr>
        <p:spPr>
          <a:xfrm>
            <a:off x="643466" y="2281574"/>
            <a:ext cx="3994015" cy="229485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-FR" sz="2800" dirty="0"/>
              <a:t>Zied Belhocine</a:t>
            </a:r>
            <a:endParaRPr sz="2800" dirty="0"/>
          </a:p>
          <a:p>
            <a:pPr marL="0" lvl="0" indent="0" algn="ctr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SzPts val="2800"/>
              <a:buNone/>
            </a:pPr>
            <a:r>
              <a:rPr lang="fr-FR" sz="2800" dirty="0"/>
              <a:t>FAO</a:t>
            </a:r>
            <a:endParaRPr dirty="0"/>
          </a:p>
        </p:txBody>
      </p:sp>
      <p:sp>
        <p:nvSpPr>
          <p:cNvPr id="123" name="Google Shape;123;p1"/>
          <p:cNvSpPr txBox="1">
            <a:spLocks noGrp="1"/>
          </p:cNvSpPr>
          <p:nvPr>
            <p:ph type="ctrTitle"/>
          </p:nvPr>
        </p:nvSpPr>
        <p:spPr>
          <a:xfrm>
            <a:off x="5803899" y="122751"/>
            <a:ext cx="5452533" cy="330624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00"/>
              <a:buFont typeface="Century Gothic"/>
              <a:buNone/>
            </a:pPr>
            <a:r>
              <a:rPr lang="fr-FR" sz="4400"/>
              <a:t>Étude sur l’alimentation dans le monde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/>
              <a:t>Contexte et spécification des données</a:t>
            </a:r>
            <a:endParaRPr sz="3200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3626288" cy="418852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/>
              <a:t>Nous sommes en train de réaliser une grosse étude sur l’alimentation dans le monde. Je souhaite t’intégrer à ce projet afin que tu puisses nous aider à produire les différentes analyses. Nous avons découpé l'analyse en deux parties. Julien a déjà traité la partie de 2018 à maintenant avant de partir. De ton côté, tu vas donc t’occuper de la partie “historique” avec les données allant de 2013 à 2017.</a:t>
            </a:r>
            <a:endParaRPr dirty="0"/>
          </a:p>
        </p:txBody>
      </p:sp>
      <p:sp>
        <p:nvSpPr>
          <p:cNvPr id="132" name="Google Shape;132;p2"/>
          <p:cNvSpPr/>
          <p:nvPr/>
        </p:nvSpPr>
        <p:spPr>
          <a:xfrm>
            <a:off x="6893078" y="0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Rappel de ce que nous devons faire</a:t>
            </a:r>
            <a:endParaRPr sz="18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dirty="0"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dirty="0">
                <a:latin typeface="Century Gothic"/>
                <a:ea typeface="Century Gothic"/>
                <a:cs typeface="Century Gothic"/>
                <a:sym typeface="Century Gothic"/>
              </a:rPr>
              <a:t>Présentation des types de données à analyser</a:t>
            </a:r>
            <a:endParaRPr sz="1800" dirty="0"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E2D3E78-94E0-33A2-B003-41AFC89F1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789" y="3029619"/>
            <a:ext cx="2686425" cy="1467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/>
              <a:t>Méthodologie de l’analyse</a:t>
            </a:r>
            <a:endParaRPr sz="3200"/>
          </a:p>
        </p:txBody>
      </p:sp>
      <p:sp>
        <p:nvSpPr>
          <p:cNvPr id="138" name="Google Shape;138;p3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39" name="Google Shape;139;p3"/>
          <p:cNvSpPr/>
          <p:nvPr/>
        </p:nvSpPr>
        <p:spPr>
          <a:xfrm>
            <a:off x="7823925" y="2222275"/>
            <a:ext cx="3691200" cy="37830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Comment j’ai fait mon analyse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Attention, il faut s’adapter à l’interlocuteur (pas trop de technique)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Vérifier que l’interlocuteur comprend  bien les choses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Penser à commenter les slides pendant la présentation mais à ne pas les lire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4878750" y="3605500"/>
            <a:ext cx="2653800" cy="27162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Est-ce que le RGPD s’applique dans notre projet ?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1) Proportion de personnes en état de sous-nutrition en 2017</a:t>
            </a:r>
            <a:endParaRPr sz="3200"/>
          </a:p>
        </p:txBody>
      </p:sp>
      <p:sp>
        <p:nvSpPr>
          <p:cNvPr id="146" name="Google Shape;146;p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899401" y="2501803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On veut montrer le nombre de personnes et le % de personnes en état de sous-nutrition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=&gt; Expliciter le chiffre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2) Nombre théorique de personnes qui pourraient être nourries en 2017</a:t>
            </a:r>
            <a:endParaRPr sz="3200"/>
          </a:p>
        </p:txBody>
      </p:sp>
      <p:sp>
        <p:nvSpPr>
          <p:cNvPr id="153" name="Google Shape;153;p5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54" name="Google Shape;154;p5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Chiffre à calculer avec la disponibilité alimentaire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Combien de Kcal par personne et par jour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Justification du chiffre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3) Nombre théorique de personnes qui pourraient être nourries uniquement avec les végétaux en 2017</a:t>
            </a:r>
            <a:endParaRPr/>
          </a:p>
        </p:txBody>
      </p:sp>
      <p:sp>
        <p:nvSpPr>
          <p:cNvPr id="160" name="Google Shape;160;p6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highlight>
                  <a:srgbClr val="FFFF00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highlight>
                  <a:srgbClr val="FFFF00"/>
                </a:highlight>
                <a:latin typeface="Century Gothic"/>
                <a:ea typeface="Century Gothic"/>
                <a:cs typeface="Century Gothic"/>
                <a:sym typeface="Century Gothic"/>
              </a:rPr>
              <a:t>Même calcul que précédemment mais avec uniquement les végétaux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4) Répartition de la disponibilité intérieure</a:t>
            </a:r>
            <a:endParaRPr/>
          </a:p>
        </p:txBody>
      </p:sp>
      <p:sp>
        <p:nvSpPr>
          <p:cNvPr id="167" name="Google Shape;167;p7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8760001" y="1510444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Donner la part de l’alimentation humaine, animale et perdue (est-ce qu’on peut aussi calculer les autres ?)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=&gt; Graphique 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8372801" y="4310269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1" i="0" u="sng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Equation </a:t>
            </a:r>
            <a:endParaRPr sz="1600" b="1" i="0" u="sng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Production + Importations - Exportations + Variation de stock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Disponibilité intérieure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Semences + Pertes + Nourriture + Aliments pour animaux + Traitement + Autres utilisations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5) Part de l’utilisation des principales céréales entre l’alimentation humaine et animale</a:t>
            </a:r>
            <a:endParaRPr/>
          </a:p>
        </p:txBody>
      </p:sp>
      <p:sp>
        <p:nvSpPr>
          <p:cNvPr id="175" name="Google Shape;175;p8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7158575" y="1833025"/>
            <a:ext cx="4596600" cy="49146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Noms des céréales que j’ai récupérés sur le site de la FAO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Blé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Riz (Eq Blanchi)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Orge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Maïs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Seigle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Avoine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Millet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Sorgho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Céréales, 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Autres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Est-ce qu’il ne faut donner que le total ou le détail par céréales et pour les humains et les animaux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Je ne sais pas encore, à voir.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6) Liste des 10 pays où la proportion de personnes en état de sous-nutrition est la plus forte en </a:t>
            </a:r>
            <a:r>
              <a:rPr lang="fr-FR" sz="3200">
                <a:solidFill>
                  <a:schemeClr val="lt1"/>
                </a:solidFill>
              </a:rPr>
              <a:t>2017</a:t>
            </a:r>
            <a:endParaRPr/>
          </a:p>
        </p:txBody>
      </p:sp>
      <p:sp>
        <p:nvSpPr>
          <p:cNvPr id="182" name="Google Shape;182;p9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7) Liste des 10 pays qui ont le plus bénéficié de l’aide alimentaire entre 2013 et 2016</a:t>
            </a:r>
            <a:endParaRPr/>
          </a:p>
        </p:txBody>
      </p:sp>
      <p:sp>
        <p:nvSpPr>
          <p:cNvPr id="189" name="Google Shape;189;p1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90" name="Google Shape;190;p10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Tableau de chiffres ?</a:t>
            </a: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Podium ? </a:t>
            </a: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233f607d43_0_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8) Évolution de l’aide alimentaire pour les 5 pays qui en ont le plus bénéficié entre 2013 et 2016</a:t>
            </a:r>
            <a:endParaRPr/>
          </a:p>
        </p:txBody>
      </p:sp>
      <p:sp>
        <p:nvSpPr>
          <p:cNvPr id="196" name="Google Shape;196;g2233f607d43_0_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600" cy="36366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97" name="Google Shape;197;g2233f607d43_0_0"/>
          <p:cNvSpPr/>
          <p:nvPr/>
        </p:nvSpPr>
        <p:spPr>
          <a:xfrm>
            <a:off x="7835901" y="2840469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9) Liste des 10 pays qui ont la plus forte disponibilité alimentaire par habitant</a:t>
            </a:r>
            <a:endParaRPr sz="3200"/>
          </a:p>
        </p:txBody>
      </p:sp>
      <p:sp>
        <p:nvSpPr>
          <p:cNvPr id="203" name="Google Shape;203;p11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7827809" y="2824285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9) Liste des 10 pays qui ont la plus faible disponibilité alimentaire par habitant</a:t>
            </a:r>
            <a:endParaRPr/>
          </a:p>
        </p:txBody>
      </p:sp>
      <p:sp>
        <p:nvSpPr>
          <p:cNvPr id="210" name="Google Shape;210;p12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/>
              <a:t>10) Étude sur le manioc en Thaïlande</a:t>
            </a:r>
            <a:endParaRPr/>
          </a:p>
        </p:txBody>
      </p:sp>
      <p:sp>
        <p:nvSpPr>
          <p:cNvPr id="217" name="Google Shape;217;p13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218" name="Google Shape;218;p13"/>
          <p:cNvSpPr/>
          <p:nvPr/>
        </p:nvSpPr>
        <p:spPr>
          <a:xfrm>
            <a:off x="7835901" y="2840469"/>
            <a:ext cx="3432024" cy="3742364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Donner la part de personnes en état de sous- nutrition pour ce pays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Regarder les exportations et la production de Manioc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Est-ce que c’est logique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Quelle est la disponibilité par habitant pour la Thaïlande ?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/>
              <a:t>11) Analyses complémentaires</a:t>
            </a:r>
            <a:endParaRPr sz="3200"/>
          </a:p>
        </p:txBody>
      </p:sp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225" name="Google Shape;225;p14"/>
          <p:cNvSpPr/>
          <p:nvPr/>
        </p:nvSpPr>
        <p:spPr>
          <a:xfrm>
            <a:off x="7835901" y="2840469"/>
            <a:ext cx="3432024" cy="3742364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Je vais peut-être trouver des choses supplémentaires pendant l’analyse.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/>
              <a:t>Conclusion</a:t>
            </a:r>
            <a:endParaRPr/>
          </a:p>
        </p:txBody>
      </p:sp>
      <p:sp>
        <p:nvSpPr>
          <p:cNvPr id="231" name="Google Shape;231;p15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guillemets">
  <a:themeElements>
    <a:clrScheme name="Quotable">
      <a:dk1>
        <a:srgbClr val="000000"/>
      </a:dk1>
      <a:lt1>
        <a:srgbClr val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</Words>
  <Application>Microsoft Office PowerPoint</Application>
  <PresentationFormat>Grand écran</PresentationFormat>
  <Paragraphs>107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Noto Sans Symbols</vt:lpstr>
      <vt:lpstr>Arial</vt:lpstr>
      <vt:lpstr>Century Gothic</vt:lpstr>
      <vt:lpstr>Calibri</vt:lpstr>
      <vt:lpstr>Entre guillemets</vt:lpstr>
      <vt:lpstr>Étude sur l’alimentation dans le monde</vt:lpstr>
      <vt:lpstr>Contexte et spécification des données</vt:lpstr>
      <vt:lpstr>Méthodologie de l’analyse</vt:lpstr>
      <vt:lpstr>1) Proportion de personnes en état de sous-nutrition en 2017</vt:lpstr>
      <vt:lpstr>2) Nombre théorique de personnes qui pourraient être nourries en 2017</vt:lpstr>
      <vt:lpstr>3) Nombre théorique de personnes qui pourraient être nourries uniquement avec les végétaux en 2017</vt:lpstr>
      <vt:lpstr>4) Répartition de la disponibilité intérieure</vt:lpstr>
      <vt:lpstr>5) Part de l’utilisation des principales céréales entre l’alimentation humaine et animale</vt:lpstr>
      <vt:lpstr>6) Liste des 10 pays où la proportion de personnes en état de sous-nutrition est la plus forte en 2017</vt:lpstr>
      <vt:lpstr>7) Liste des 10 pays qui ont le plus bénéficié de l’aide alimentaire entre 2013 et 2016</vt:lpstr>
      <vt:lpstr>8) Évolution de l’aide alimentaire pour les 5 pays qui en ont le plus bénéficié entre 2013 et 2016</vt:lpstr>
      <vt:lpstr>9) Liste des 10 pays qui ont la plus forte disponibilité alimentaire par habitant</vt:lpstr>
      <vt:lpstr>9) Liste des 10 pays qui ont la plus faible disponibilité alimentaire par habitant</vt:lpstr>
      <vt:lpstr>10) Étude sur le manioc en Thaïlande</vt:lpstr>
      <vt:lpstr>11) Analyses complémentaires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JeY jEy</dc:creator>
  <cp:lastModifiedBy>Zied Belhocine</cp:lastModifiedBy>
  <cp:revision>1</cp:revision>
  <dcterms:created xsi:type="dcterms:W3CDTF">2023-03-17T20:58:30Z</dcterms:created>
  <dcterms:modified xsi:type="dcterms:W3CDTF">2026-01-22T12:02:46Z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