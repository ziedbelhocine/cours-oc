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4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slideLayout2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7.jpeg" ContentType="image/jpeg"/>
  <Override PartName="/ppt/media/image13.png" ContentType="image/png"/>
  <Override PartName="/ppt/media/image4.png" ContentType="image/png"/>
  <Override PartName="/ppt/media/image9.png" ContentType="image/png"/>
  <Override PartName="/ppt/media/image20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8.png" ContentType="image/png"/>
  <Override PartName="/ppt/media/image6.jpeg" ContentType="image/jpeg"/>
  <Override PartName="/ppt/media/image1.jpeg" ContentType="image/jpeg"/>
  <Override PartName="/ppt/media/image10.png" ContentType="image/png"/>
  <Override PartName="/ppt/media/image5.jpeg" ContentType="image/jpeg"/>
  <Override PartName="/ppt/media/image14.png" ContentType="image/png"/>
  <Override PartName="/ppt/media/image15.png" ContentType="image/png"/>
  <Override PartName="/ppt/media/image16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</p:sldMasterIdLst>
  <p:notesMasterIdLst>
    <p:notesMasterId r:id="rId32"/>
  </p:notes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  <p:sldId id="276" r:id="rId53"/>
    <p:sldId id="277" r:id="rId5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notesMaster" Target="notesMasters/notesMaster1.xml"/><Relationship Id="rId33" Type="http://schemas.openxmlformats.org/officeDocument/2006/relationships/slide" Target="slides/slide1.xml"/><Relationship Id="rId34" Type="http://schemas.openxmlformats.org/officeDocument/2006/relationships/slide" Target="slides/slide2.xml"/><Relationship Id="rId35" Type="http://schemas.openxmlformats.org/officeDocument/2006/relationships/slide" Target="slides/slide3.xml"/><Relationship Id="rId36" Type="http://schemas.openxmlformats.org/officeDocument/2006/relationships/slide" Target="slides/slide4.xml"/><Relationship Id="rId37" Type="http://schemas.openxmlformats.org/officeDocument/2006/relationships/slide" Target="slides/slide5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slide" Target="slides/slide8.xml"/><Relationship Id="rId41" Type="http://schemas.openxmlformats.org/officeDocument/2006/relationships/slide" Target="slides/slide9.xml"/><Relationship Id="rId42" Type="http://schemas.openxmlformats.org/officeDocument/2006/relationships/slide" Target="slides/slide10.xml"/><Relationship Id="rId43" Type="http://schemas.openxmlformats.org/officeDocument/2006/relationships/slide" Target="slides/slide11.xml"/><Relationship Id="rId44" Type="http://schemas.openxmlformats.org/officeDocument/2006/relationships/slide" Target="slides/slide12.xml"/><Relationship Id="rId45" Type="http://schemas.openxmlformats.org/officeDocument/2006/relationships/slide" Target="slides/slide13.xml"/><Relationship Id="rId46" Type="http://schemas.openxmlformats.org/officeDocument/2006/relationships/slide" Target="slides/slide14.xml"/><Relationship Id="rId47" Type="http://schemas.openxmlformats.org/officeDocument/2006/relationships/slide" Target="slides/slide15.xml"/><Relationship Id="rId48" Type="http://schemas.openxmlformats.org/officeDocument/2006/relationships/slide" Target="slides/slide16.xml"/><Relationship Id="rId49" Type="http://schemas.openxmlformats.org/officeDocument/2006/relationships/slide" Target="slides/slide17.xml"/><Relationship Id="rId50" Type="http://schemas.openxmlformats.org/officeDocument/2006/relationships/slide" Target="slides/slide18.xml"/><Relationship Id="rId51" Type="http://schemas.openxmlformats.org/officeDocument/2006/relationships/slide" Target="slides/slide19.xml"/><Relationship Id="rId52" Type="http://schemas.openxmlformats.org/officeDocument/2006/relationships/slide" Target="slides/slide20.xml"/><Relationship Id="rId53" Type="http://schemas.openxmlformats.org/officeDocument/2006/relationships/slide" Target="slides/slide21.xml"/><Relationship Id="rId54" Type="http://schemas.openxmlformats.org/officeDocument/2006/relationships/slide" Target="slides/slide22.xml"/><Relationship Id="rId5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déplacer la diapo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 type="dt" idx="3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 type="ftr" idx="3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 type="sldNum" idx="3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3E0120D-01F1-4183-B8D8-86C4814D3E60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A6EB0F-6D22-4EDE-B7C6-AA05B2F9192F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100" spc="-1" strike="noStrike">
                <a:solidFill>
                  <a:srgbClr val="000000"/>
                </a:solidFill>
                <a:latin typeface="Arial"/>
              </a:rPr>
              <a:t>Contexte du projet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F1B23E-85B0-422C-9D4C-EF77558FBF6A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Méthodes mises en place :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Sauvegardes complètes quotidiennes et sauvegardes incrémentales toutes les heures.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Stockage des sauvegardes sur un serveur externe sécurisé.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Tests réguliers de restauration pour vérifier l’intégrité des sauvegardes.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Bonnes pratiques :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Automatisation des sauvegardes pour éviter les oublis(toutes les semaines).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Conservation des sauvegardes pendant une durée définie (ex. 1 mois).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marL="1144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Mesures appliquées :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Limitation de l’accès aux données personnelles aux seules personnes habilitées.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Anonymisation des données sensibles.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Suppression régulière des données obsolètes selon une politique de conservation définie.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Traçabilité des accès et modifications dans la base.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Sécurisation des données par chiffrement et mots de passe robustes.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Respect du droit des personnes : 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Possibilité d’exercer droit d’accès, rectification, et suppression des données.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77AB34-141D-442A-B4A0-AA36BE86AE8E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D7BDAE-5F70-4B21-BC15-A0BAA6BA223B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E5D825-91C2-4C4D-9F7D-53DCC8BC25F8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D742B9-FF6C-451C-B0C6-E701374E9FFB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7B8E41-E571-499F-9A90-5A063A2A840D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7C573D-607E-4F5B-980C-70AE5060407F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863A2C-F7B8-415E-A3B1-6BF9A0127E74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34A8E6-7B49-435C-8B82-E92CCD93F4D8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617B99-2F98-4BD3-9371-E069718D4E33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4E833C-D6C9-4240-AD01-7A93CFE7BEE3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71DBF3-E6B6-47CE-AF74-0F4E98039BD0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97DE36-33A1-44F9-9DCC-EA0D4C7CA5C2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521782-7583-469E-900D-C8B87F962B91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EE7046-5B24-4755-BEB3-540130437321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A162E9-2FFF-4B54-9A9C-0013BADDE503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048915-A5E8-4369-BF6D-E9599FEA2EBB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5675C9-1BAD-4659-8F1D-873FC2CE9F84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F9E82C-9C32-4074-BBA7-F91584FAEF63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E12A2B-6100-4C73-B3F7-158117659AB7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F87013-188F-4FB7-AB88-BEFDF7F52C67}" type="slidenum"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9DD721B-4448-4565-80F3-22F2DC9589CE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505F37-8912-484B-9FB1-FF1BCB9E751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E45078-4B5D-4238-AE95-99E75ECF347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478D34F-F682-48EE-8E0D-4E166C638FA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39AFDC4-B8A3-4245-BB0D-E691EA8F92F8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350CAD-A1CD-4B0F-8C2F-44BC4E0DFDCF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4E6533C-0F5B-4E67-9D91-0F686B9B7C00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CFB82F1-D71B-47C8-96AA-738D549A116B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9E0A3B4-4CB2-4E83-B0B0-1F00E16B2622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51D331B-ECA7-47A1-9993-A3FE23B15238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5DE73A8-AA71-40E2-AFE3-D38B0271137E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e de titr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B9D3D8EE-F4ED-4EA8-ACBE-8D59ACEE2102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ED095FB-37A0-47FA-B051-318BB2597A28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DF187DA-B50D-426F-B9C5-019729DC3D7B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753527C3-C53D-47A5-A8D4-6601D5DC2589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CC494C4-4384-4AC6-85DF-92E9AACF7C47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SPOSITION DU TEXTE 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4C3F16D-0E62-4D24-B31B-24481C610266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187694FC-FAFA-40C6-B278-D5252C7BC056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-tête de section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4CAB6E1-83E9-450A-AFB7-4FB668BC8223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sposition du text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17EEEEA-227B-4653-A87F-60AC5AB8F094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8A7301C0-0A5C-4487-B2F5-072F5883994A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n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312AE8-9AD7-4120-B561-E95E0E365542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17B4E0-CE46-4D72-884D-7E58CCC78EAB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0086A8-0384-41D6-8E3A-F7F7EB01D4BD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7B5437-8C5E-4035-941A-F4BA7FD94183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niveau de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niveau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ème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nive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au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0720AF-153C-4A24-B928-F2BDB165D08D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08626D-39D8-49EE-8370-ABCC39119EC7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DA9080-D45D-4231-AA69-472B9C408BD9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6887B7-2354-4AD9-A7D8-D98F2DACA6FC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EDE424-C07B-462A-B84E-F11C8054F816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36;p9"/>
          <p:cNvSpPr/>
          <p:nvPr/>
        </p:nvSpPr>
        <p:spPr>
          <a:xfrm>
            <a:off x="4572000" y="0"/>
            <a:ext cx="4570560" cy="51422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9A1C7F-25C4-4D6B-8841-9557CBDD5180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286785-B7E8-467D-93F9-87A1462E4DC6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&lt;numéro&gt;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55;p14"/>
          <p:cNvSpPr/>
          <p:nvPr/>
        </p:nvSpPr>
        <p:spPr>
          <a:xfrm flipH="1" rot="10800000">
            <a:off x="0" y="1440"/>
            <a:ext cx="7967520" cy="405180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28" name="Google Shape;56;p14"/>
          <p:cNvCxnSpPr/>
          <p:nvPr/>
        </p:nvCxnSpPr>
        <p:spPr>
          <a:xfrm flipV="1">
            <a:off x="0" y="0"/>
            <a:ext cx="4524120" cy="2254680"/>
          </a:xfrm>
          <a:prstGeom prst="straightConnector1">
            <a:avLst/>
          </a:prstGeom>
          <a:ln w="9525">
            <a:solidFill>
              <a:srgbClr val="a5a5a5"/>
            </a:solidFill>
            <a:miter/>
          </a:ln>
        </p:spPr>
      </p:cxnSp>
      <p:cxnSp>
        <p:nvCxnSpPr>
          <p:cNvPr id="29" name="Google Shape;58;p14"/>
          <p:cNvCxnSpPr/>
          <p:nvPr/>
        </p:nvCxnSpPr>
        <p:spPr>
          <a:xfrm flipV="1">
            <a:off x="6752880" y="2943000"/>
            <a:ext cx="2392560" cy="1268280"/>
          </a:xfrm>
          <a:prstGeom prst="straightConnector1">
            <a:avLst/>
          </a:prstGeom>
          <a:ln w="9525">
            <a:solidFill>
              <a:srgbClr val="ee9571"/>
            </a:solidFill>
            <a:miter/>
          </a:ln>
        </p:spPr>
      </p:cxnSp>
      <p:cxnSp>
        <p:nvCxnSpPr>
          <p:cNvPr id="30" name="Google Shape;61;p14"/>
          <p:cNvCxnSpPr/>
          <p:nvPr/>
        </p:nvCxnSpPr>
        <p:spPr>
          <a:xfrm flipV="1">
            <a:off x="-13320" y="3524760"/>
            <a:ext cx="1441080" cy="752400"/>
          </a:xfrm>
          <a:prstGeom prst="straightConnector1">
            <a:avLst/>
          </a:prstGeom>
          <a:ln w="9525">
            <a:solidFill>
              <a:srgbClr val="e26064"/>
            </a:solidFill>
            <a:miter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154;p23"/>
          <p:cNvSpPr/>
          <p:nvPr/>
        </p:nvSpPr>
        <p:spPr>
          <a:xfrm flipH="1" rot="10800000">
            <a:off x="0" y="1440"/>
            <a:ext cx="7967520" cy="405180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34" name="Google Shape;155;p23"/>
          <p:cNvCxnSpPr/>
          <p:nvPr/>
        </p:nvCxnSpPr>
        <p:spPr>
          <a:xfrm flipV="1">
            <a:off x="0" y="0"/>
            <a:ext cx="4524120" cy="2254680"/>
          </a:xfrm>
          <a:prstGeom prst="straightConnector1">
            <a:avLst/>
          </a:prstGeom>
          <a:ln w="9525">
            <a:solidFill>
              <a:srgbClr val="a5a5a5"/>
            </a:solidFill>
            <a:miter/>
          </a:ln>
        </p:spPr>
      </p:cxnSp>
      <p:cxnSp>
        <p:nvCxnSpPr>
          <p:cNvPr id="35" name="Google Shape;156;p23"/>
          <p:cNvCxnSpPr/>
          <p:nvPr/>
        </p:nvCxnSpPr>
        <p:spPr>
          <a:xfrm flipV="1">
            <a:off x="6752880" y="2943000"/>
            <a:ext cx="2392560" cy="1268280"/>
          </a:xfrm>
          <a:prstGeom prst="straightConnector1">
            <a:avLst/>
          </a:prstGeom>
          <a:ln w="9525">
            <a:solidFill>
              <a:srgbClr val="eab200"/>
            </a:solidFill>
            <a:miter/>
          </a:ln>
        </p:spPr>
      </p:cxnSp>
      <p:cxnSp>
        <p:nvCxnSpPr>
          <p:cNvPr id="36" name="Google Shape;159;p23"/>
          <p:cNvCxnSpPr/>
          <p:nvPr/>
        </p:nvCxnSpPr>
        <p:spPr>
          <a:xfrm flipV="1">
            <a:off x="-13320" y="3524760"/>
            <a:ext cx="1441080" cy="752400"/>
          </a:xfrm>
          <a:prstGeom prst="straightConnector1">
            <a:avLst/>
          </a:prstGeom>
          <a:ln w="9525">
            <a:solidFill>
              <a:srgbClr val="00194c"/>
            </a:solidFill>
            <a:miter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61;p24"/>
          <p:cNvSpPr/>
          <p:nvPr/>
        </p:nvSpPr>
        <p:spPr>
          <a:xfrm flipH="1" rot="10800000">
            <a:off x="0" y="1440"/>
            <a:ext cx="7967520" cy="405180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" name="Google Shape;162;p24"/>
          <p:cNvSpPr/>
          <p:nvPr/>
        </p:nvSpPr>
        <p:spPr>
          <a:xfrm rot="19959000">
            <a:off x="-477360" y="2690640"/>
            <a:ext cx="2893680" cy="1308600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39" name="Google Shape;163;p24"/>
          <p:cNvCxnSpPr/>
          <p:nvPr/>
        </p:nvCxnSpPr>
        <p:spPr>
          <a:xfrm flipV="1">
            <a:off x="0" y="757440"/>
            <a:ext cx="1340280" cy="681840"/>
          </a:xfrm>
          <a:prstGeom prst="straightConnector1">
            <a:avLst/>
          </a:prstGeom>
          <a:ln w="9525">
            <a:solidFill>
              <a:srgbClr val="a5a5a5"/>
            </a:solidFill>
            <a:miter/>
          </a:ln>
        </p:spPr>
      </p:cxnSp>
      <p:cxnSp>
        <p:nvCxnSpPr>
          <p:cNvPr id="40" name="Google Shape;166;p24"/>
          <p:cNvCxnSpPr/>
          <p:nvPr/>
        </p:nvCxnSpPr>
        <p:spPr>
          <a:xfrm flipV="1">
            <a:off x="6752880" y="2943000"/>
            <a:ext cx="2392560" cy="1268280"/>
          </a:xfrm>
          <a:prstGeom prst="straightConnector1">
            <a:avLst/>
          </a:prstGeom>
          <a:ln w="9525">
            <a:solidFill>
              <a:srgbClr val="eab200"/>
            </a:solidFill>
            <a:miter/>
          </a:ln>
        </p:spPr>
      </p:cxnSp>
      <p:sp>
        <p:nvSpPr>
          <p:cNvPr id="41" name="Google Shape;167;p24"/>
          <p:cNvSpPr/>
          <p:nvPr/>
        </p:nvSpPr>
        <p:spPr>
          <a:xfrm>
            <a:off x="5815440" y="0"/>
            <a:ext cx="1692360" cy="555840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42" name="Google Shape;168;p24"/>
          <p:cNvCxnSpPr/>
          <p:nvPr/>
        </p:nvCxnSpPr>
        <p:spPr>
          <a:xfrm flipV="1">
            <a:off x="0" y="306360"/>
            <a:ext cx="4947840" cy="2553840"/>
          </a:xfrm>
          <a:prstGeom prst="straightConnector1">
            <a:avLst/>
          </a:prstGeom>
          <a:ln w="9525">
            <a:solidFill>
              <a:srgbClr val="a5a5a5"/>
            </a:solidFill>
            <a:miter/>
          </a:ln>
        </p:spPr>
      </p:cxnSp>
      <p:cxnSp>
        <p:nvCxnSpPr>
          <p:cNvPr id="43" name="Google Shape;169;p24"/>
          <p:cNvCxnSpPr/>
          <p:nvPr/>
        </p:nvCxnSpPr>
        <p:spPr>
          <a:xfrm flipV="1">
            <a:off x="-13320" y="3949920"/>
            <a:ext cx="1441080" cy="752400"/>
          </a:xfrm>
          <a:prstGeom prst="straightConnector1">
            <a:avLst/>
          </a:prstGeom>
          <a:ln w="9525">
            <a:solidFill>
              <a:srgbClr val="00194c"/>
            </a:solidFill>
            <a:miter/>
          </a:ln>
        </p:spPr>
      </p:cxnSp>
      <p:sp>
        <p:nvSpPr>
          <p:cNvPr id="44" name="Google Shape;170;p24"/>
          <p:cNvSpPr/>
          <p:nvPr/>
        </p:nvSpPr>
        <p:spPr>
          <a:xfrm rot="19959000">
            <a:off x="-103320" y="2554920"/>
            <a:ext cx="1077480" cy="176040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172;p25"/>
          <p:cNvCxnSpPr/>
          <p:nvPr/>
        </p:nvCxnSpPr>
        <p:spPr>
          <a:xfrm flipH="1" flipV="1">
            <a:off x="-6840" y="2725200"/>
            <a:ext cx="1435680" cy="1181160"/>
          </a:xfrm>
          <a:prstGeom prst="straightConnector1">
            <a:avLst/>
          </a:prstGeom>
          <a:ln w="9525">
            <a:solidFill>
              <a:srgbClr val="eab200"/>
            </a:solidFill>
            <a:miter/>
          </a:ln>
        </p:spPr>
      </p:cxnSp>
      <p:grpSp>
        <p:nvGrpSpPr>
          <p:cNvPr id="46" name="Google Shape;173;p25"/>
          <p:cNvGrpSpPr/>
          <p:nvPr/>
        </p:nvGrpSpPr>
        <p:grpSpPr>
          <a:xfrm>
            <a:off x="5669640" y="0"/>
            <a:ext cx="3573000" cy="2654280"/>
            <a:chOff x="5669640" y="0"/>
            <a:chExt cx="3573000" cy="2654280"/>
          </a:xfrm>
        </p:grpSpPr>
        <p:sp>
          <p:nvSpPr>
            <p:cNvPr id="47" name="Google Shape;174;p25"/>
            <p:cNvSpPr/>
            <p:nvPr/>
          </p:nvSpPr>
          <p:spPr>
            <a:xfrm flipH="1">
              <a:off x="5669640" y="0"/>
              <a:ext cx="3478320" cy="2654280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dk1"/>
                </a:solidFill>
                <a:latin typeface="Calibri"/>
                <a:ea typeface="Calibri"/>
              </a:endParaRPr>
            </a:p>
          </p:txBody>
        </p:sp>
        <p:cxnSp>
          <p:nvCxnSpPr>
            <p:cNvPr id="48" name="Google Shape;175;p25"/>
            <p:cNvCxnSpPr/>
            <p:nvPr/>
          </p:nvCxnSpPr>
          <p:spPr>
            <a:xfrm flipH="1" flipV="1">
              <a:off x="7144560" y="0"/>
              <a:ext cx="932400" cy="724320"/>
            </a:xfrm>
            <a:prstGeom prst="straightConnector1">
              <a:avLst/>
            </a:prstGeom>
            <a:ln w="9525">
              <a:solidFill>
                <a:srgbClr val="bfbfbf"/>
              </a:solidFill>
              <a:miter/>
            </a:ln>
          </p:spPr>
        </p:cxnSp>
        <p:sp>
          <p:nvSpPr>
            <p:cNvPr id="49" name="Google Shape;176;p25"/>
            <p:cNvSpPr/>
            <p:nvPr/>
          </p:nvSpPr>
          <p:spPr>
            <a:xfrm flipH="1" rot="2178600">
              <a:off x="8276400" y="900000"/>
              <a:ext cx="1014480" cy="168120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lt1"/>
                </a:solidFill>
                <a:latin typeface="Calibri"/>
                <a:ea typeface="Calibri"/>
              </a:endParaRPr>
            </a:p>
          </p:txBody>
        </p:sp>
      </p:grpSp>
      <p:sp>
        <p:nvSpPr>
          <p:cNvPr id="50" name="Google Shape;177;p25"/>
          <p:cNvSpPr/>
          <p:nvPr/>
        </p:nvSpPr>
        <p:spPr>
          <a:xfrm>
            <a:off x="8304120" y="176760"/>
            <a:ext cx="6094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2600" spc="-1" strike="noStrike">
                <a:solidFill>
                  <a:schemeClr val="accent6"/>
                </a:solidFill>
                <a:latin typeface="Arial Black"/>
                <a:ea typeface="Arial Black"/>
              </a:rPr>
              <a:t>FR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78;p25"/>
          <p:cNvSpPr/>
          <p:nvPr/>
        </p:nvSpPr>
        <p:spPr>
          <a:xfrm flipH="1">
            <a:off x="5008320" y="0"/>
            <a:ext cx="1084320" cy="477720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ftr" idx="12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13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3CDC1F-9177-45D8-B269-97914EFE9522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184;p26"/>
          <p:cNvCxnSpPr/>
          <p:nvPr/>
        </p:nvCxnSpPr>
        <p:spPr>
          <a:xfrm flipH="1" flipV="1">
            <a:off x="-6840" y="2725200"/>
            <a:ext cx="1435680" cy="1181160"/>
          </a:xfrm>
          <a:prstGeom prst="straightConnector1">
            <a:avLst/>
          </a:prstGeom>
          <a:ln w="9525">
            <a:solidFill>
              <a:srgbClr val="eab200"/>
            </a:solidFill>
            <a:miter/>
          </a:ln>
        </p:spPr>
      </p:cxnSp>
      <p:grpSp>
        <p:nvGrpSpPr>
          <p:cNvPr id="55" name="Google Shape;185;p26"/>
          <p:cNvGrpSpPr/>
          <p:nvPr/>
        </p:nvGrpSpPr>
        <p:grpSpPr>
          <a:xfrm>
            <a:off x="5669640" y="0"/>
            <a:ext cx="3573000" cy="2654280"/>
            <a:chOff x="5669640" y="0"/>
            <a:chExt cx="3573000" cy="2654280"/>
          </a:xfrm>
        </p:grpSpPr>
        <p:sp>
          <p:nvSpPr>
            <p:cNvPr id="56" name="Google Shape;186;p26"/>
            <p:cNvSpPr/>
            <p:nvPr/>
          </p:nvSpPr>
          <p:spPr>
            <a:xfrm flipH="1">
              <a:off x="5669640" y="0"/>
              <a:ext cx="3478320" cy="2654280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dk1"/>
                </a:solidFill>
                <a:latin typeface="Calibri"/>
                <a:ea typeface="Calibri"/>
              </a:endParaRPr>
            </a:p>
          </p:txBody>
        </p:sp>
        <p:cxnSp>
          <p:nvCxnSpPr>
            <p:cNvPr id="57" name="Google Shape;187;p26"/>
            <p:cNvCxnSpPr/>
            <p:nvPr/>
          </p:nvCxnSpPr>
          <p:spPr>
            <a:xfrm flipH="1" flipV="1">
              <a:off x="7144560" y="0"/>
              <a:ext cx="932400" cy="724320"/>
            </a:xfrm>
            <a:prstGeom prst="straightConnector1">
              <a:avLst/>
            </a:prstGeom>
            <a:ln w="9525">
              <a:solidFill>
                <a:srgbClr val="bfbfbf"/>
              </a:solidFill>
              <a:miter/>
            </a:ln>
          </p:spPr>
        </p:cxnSp>
        <p:sp>
          <p:nvSpPr>
            <p:cNvPr id="58" name="Google Shape;188;p26"/>
            <p:cNvSpPr/>
            <p:nvPr/>
          </p:nvSpPr>
          <p:spPr>
            <a:xfrm flipH="1" rot="2178600">
              <a:off x="8276400" y="900000"/>
              <a:ext cx="1014480" cy="168120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lt1"/>
                </a:solidFill>
                <a:latin typeface="Calibri"/>
                <a:ea typeface="Calibri"/>
              </a:endParaRPr>
            </a:p>
          </p:txBody>
        </p:sp>
      </p:grpSp>
      <p:sp>
        <p:nvSpPr>
          <p:cNvPr id="59" name="Google Shape;189;p26"/>
          <p:cNvSpPr/>
          <p:nvPr/>
        </p:nvSpPr>
        <p:spPr>
          <a:xfrm>
            <a:off x="8304120" y="176760"/>
            <a:ext cx="6094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2600" spc="-1" strike="noStrike">
                <a:solidFill>
                  <a:schemeClr val="accent6"/>
                </a:solidFill>
                <a:latin typeface="Arial Black"/>
                <a:ea typeface="Arial Black"/>
              </a:rPr>
              <a:t>FR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90;p26"/>
          <p:cNvSpPr/>
          <p:nvPr/>
        </p:nvSpPr>
        <p:spPr>
          <a:xfrm flipH="1">
            <a:off x="5008320" y="0"/>
            <a:ext cx="1084320" cy="477720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ftr" idx="14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15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0D37DB-8505-4D31-BD0E-7BCF269F78CB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197;p27"/>
          <p:cNvCxnSpPr/>
          <p:nvPr/>
        </p:nvCxnSpPr>
        <p:spPr>
          <a:xfrm flipH="1" flipV="1">
            <a:off x="-6840" y="2725200"/>
            <a:ext cx="1435680" cy="1181160"/>
          </a:xfrm>
          <a:prstGeom prst="straightConnector1">
            <a:avLst/>
          </a:prstGeom>
          <a:ln w="9525">
            <a:solidFill>
              <a:srgbClr val="eab200"/>
            </a:solidFill>
            <a:miter/>
          </a:ln>
        </p:spPr>
      </p:cxnSp>
      <p:grpSp>
        <p:nvGrpSpPr>
          <p:cNvPr id="64" name="Google Shape;198;p27"/>
          <p:cNvGrpSpPr/>
          <p:nvPr/>
        </p:nvGrpSpPr>
        <p:grpSpPr>
          <a:xfrm>
            <a:off x="5669640" y="0"/>
            <a:ext cx="3573000" cy="2654280"/>
            <a:chOff x="5669640" y="0"/>
            <a:chExt cx="3573000" cy="2654280"/>
          </a:xfrm>
        </p:grpSpPr>
        <p:sp>
          <p:nvSpPr>
            <p:cNvPr id="65" name="Google Shape;199;p27"/>
            <p:cNvSpPr/>
            <p:nvPr/>
          </p:nvSpPr>
          <p:spPr>
            <a:xfrm flipH="1">
              <a:off x="5669640" y="0"/>
              <a:ext cx="3478320" cy="2654280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dk1"/>
                </a:solidFill>
                <a:latin typeface="Calibri"/>
                <a:ea typeface="Calibri"/>
              </a:endParaRPr>
            </a:p>
          </p:txBody>
        </p:sp>
        <p:cxnSp>
          <p:nvCxnSpPr>
            <p:cNvPr id="66" name="Google Shape;200;p27"/>
            <p:cNvCxnSpPr/>
            <p:nvPr/>
          </p:nvCxnSpPr>
          <p:spPr>
            <a:xfrm flipH="1" flipV="1">
              <a:off x="7144560" y="0"/>
              <a:ext cx="932400" cy="724320"/>
            </a:xfrm>
            <a:prstGeom prst="straightConnector1">
              <a:avLst/>
            </a:prstGeom>
            <a:ln w="9525">
              <a:solidFill>
                <a:srgbClr val="bfbfbf"/>
              </a:solidFill>
              <a:miter/>
            </a:ln>
          </p:spPr>
        </p:cxnSp>
        <p:sp>
          <p:nvSpPr>
            <p:cNvPr id="67" name="Google Shape;201;p27"/>
            <p:cNvSpPr/>
            <p:nvPr/>
          </p:nvSpPr>
          <p:spPr>
            <a:xfrm flipH="1" rot="2178600">
              <a:off x="8276400" y="900000"/>
              <a:ext cx="1014480" cy="168120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lt1"/>
                </a:solidFill>
                <a:latin typeface="Calibri"/>
                <a:ea typeface="Calibri"/>
              </a:endParaRPr>
            </a:p>
          </p:txBody>
        </p:sp>
      </p:grpSp>
      <p:sp>
        <p:nvSpPr>
          <p:cNvPr id="68" name="Google Shape;202;p27"/>
          <p:cNvSpPr/>
          <p:nvPr/>
        </p:nvSpPr>
        <p:spPr>
          <a:xfrm>
            <a:off x="8304120" y="176760"/>
            <a:ext cx="6094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2600" spc="-1" strike="noStrike">
                <a:solidFill>
                  <a:schemeClr val="accent6"/>
                </a:solidFill>
                <a:latin typeface="Arial Black"/>
                <a:ea typeface="Arial Black"/>
              </a:rPr>
              <a:t>FR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203;p27"/>
          <p:cNvSpPr/>
          <p:nvPr/>
        </p:nvSpPr>
        <p:spPr>
          <a:xfrm flipH="1">
            <a:off x="5008320" y="0"/>
            <a:ext cx="1084320" cy="477720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ftr" idx="16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17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8BA560-38BE-4AB8-AE9C-88BAEE8CA3CF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212;p28"/>
          <p:cNvSpPr/>
          <p:nvPr/>
        </p:nvSpPr>
        <p:spPr>
          <a:xfrm flipH="1" rot="10800000">
            <a:off x="0" y="1440"/>
            <a:ext cx="7967520" cy="405180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73" name="Google Shape;213;p28"/>
          <p:cNvCxnSpPr/>
          <p:nvPr/>
        </p:nvCxnSpPr>
        <p:spPr>
          <a:xfrm flipV="1">
            <a:off x="0" y="0"/>
            <a:ext cx="4524120" cy="2254680"/>
          </a:xfrm>
          <a:prstGeom prst="straightConnector1">
            <a:avLst/>
          </a:prstGeom>
          <a:ln w="9525">
            <a:solidFill>
              <a:srgbClr val="a5a5a5"/>
            </a:solidFill>
            <a:miter/>
          </a:ln>
        </p:spPr>
      </p:cxnSp>
      <p:cxnSp>
        <p:nvCxnSpPr>
          <p:cNvPr id="74" name="Google Shape;214;p28"/>
          <p:cNvCxnSpPr/>
          <p:nvPr/>
        </p:nvCxnSpPr>
        <p:spPr>
          <a:xfrm flipV="1">
            <a:off x="6752880" y="2943000"/>
            <a:ext cx="2392560" cy="1268280"/>
          </a:xfrm>
          <a:prstGeom prst="straightConnector1">
            <a:avLst/>
          </a:prstGeom>
          <a:ln w="9525">
            <a:solidFill>
              <a:srgbClr val="eab200"/>
            </a:solidFill>
            <a:miter/>
          </a:ln>
        </p:spPr>
      </p:cxnSp>
      <p:cxnSp>
        <p:nvCxnSpPr>
          <p:cNvPr id="75" name="Google Shape;216;p28"/>
          <p:cNvCxnSpPr/>
          <p:nvPr/>
        </p:nvCxnSpPr>
        <p:spPr>
          <a:xfrm flipV="1">
            <a:off x="-13320" y="3524760"/>
            <a:ext cx="1441080" cy="752400"/>
          </a:xfrm>
          <a:prstGeom prst="straightConnector1">
            <a:avLst/>
          </a:prstGeom>
          <a:ln w="9525">
            <a:solidFill>
              <a:srgbClr val="00194c"/>
            </a:solidFill>
            <a:miter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220;p29"/>
          <p:cNvSpPr/>
          <p:nvPr/>
        </p:nvSpPr>
        <p:spPr>
          <a:xfrm flipH="1" rot="10800000">
            <a:off x="0" y="1440"/>
            <a:ext cx="7967520" cy="405180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77" name="Google Shape;221;p29"/>
          <p:cNvCxnSpPr/>
          <p:nvPr/>
        </p:nvCxnSpPr>
        <p:spPr>
          <a:xfrm flipV="1">
            <a:off x="0" y="0"/>
            <a:ext cx="4524120" cy="2254680"/>
          </a:xfrm>
          <a:prstGeom prst="straightConnector1">
            <a:avLst/>
          </a:prstGeom>
          <a:ln w="9525">
            <a:solidFill>
              <a:srgbClr val="a5a5a5"/>
            </a:solidFill>
            <a:miter/>
          </a:ln>
        </p:spPr>
      </p:cxnSp>
      <p:cxnSp>
        <p:nvCxnSpPr>
          <p:cNvPr id="78" name="Google Shape;222;p29"/>
          <p:cNvCxnSpPr/>
          <p:nvPr/>
        </p:nvCxnSpPr>
        <p:spPr>
          <a:xfrm flipV="1">
            <a:off x="6752880" y="2943000"/>
            <a:ext cx="2392560" cy="1268280"/>
          </a:xfrm>
          <a:prstGeom prst="straightConnector1">
            <a:avLst/>
          </a:prstGeom>
          <a:ln w="9525">
            <a:solidFill>
              <a:srgbClr val="eab200"/>
            </a:solidFill>
            <a:miter/>
          </a:ln>
        </p:spPr>
      </p:cxnSp>
      <p:cxnSp>
        <p:nvCxnSpPr>
          <p:cNvPr id="79" name="Google Shape;224;p29"/>
          <p:cNvCxnSpPr/>
          <p:nvPr/>
        </p:nvCxnSpPr>
        <p:spPr>
          <a:xfrm flipV="1">
            <a:off x="-13320" y="3524760"/>
            <a:ext cx="1441080" cy="752400"/>
          </a:xfrm>
          <a:prstGeom prst="straightConnector1">
            <a:avLst/>
          </a:prstGeom>
          <a:ln w="9525">
            <a:solidFill>
              <a:srgbClr val="00194c"/>
            </a:solidFill>
            <a:miter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228;p30"/>
          <p:cNvSpPr/>
          <p:nvPr/>
        </p:nvSpPr>
        <p:spPr>
          <a:xfrm>
            <a:off x="8304120" y="176760"/>
            <a:ext cx="6094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2600" spc="-1" strike="noStrike">
                <a:solidFill>
                  <a:schemeClr val="accent1"/>
                </a:solidFill>
                <a:latin typeface="Arial Black"/>
                <a:ea typeface="Arial Black"/>
              </a:rPr>
              <a:t>FR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" name="Google Shape;229;p30"/>
          <p:cNvGrpSpPr/>
          <p:nvPr/>
        </p:nvGrpSpPr>
        <p:grpSpPr>
          <a:xfrm>
            <a:off x="5669640" y="0"/>
            <a:ext cx="3573000" cy="2654280"/>
            <a:chOff x="5669640" y="0"/>
            <a:chExt cx="3573000" cy="2654280"/>
          </a:xfrm>
        </p:grpSpPr>
        <p:sp>
          <p:nvSpPr>
            <p:cNvPr id="82" name="Google Shape;230;p30"/>
            <p:cNvSpPr/>
            <p:nvPr/>
          </p:nvSpPr>
          <p:spPr>
            <a:xfrm flipH="1">
              <a:off x="5669640" y="0"/>
              <a:ext cx="3478320" cy="2654280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dk1"/>
                </a:solidFill>
                <a:latin typeface="Calibri"/>
                <a:ea typeface="Calibri"/>
              </a:endParaRPr>
            </a:p>
          </p:txBody>
        </p:sp>
        <p:cxnSp>
          <p:nvCxnSpPr>
            <p:cNvPr id="83" name="Google Shape;231;p30"/>
            <p:cNvCxnSpPr/>
            <p:nvPr/>
          </p:nvCxnSpPr>
          <p:spPr>
            <a:xfrm flipH="1" flipV="1">
              <a:off x="7144560" y="0"/>
              <a:ext cx="932400" cy="724320"/>
            </a:xfrm>
            <a:prstGeom prst="straightConnector1">
              <a:avLst/>
            </a:prstGeom>
            <a:ln w="9525">
              <a:solidFill>
                <a:srgbClr val="bfbfbf"/>
              </a:solidFill>
              <a:miter/>
            </a:ln>
          </p:spPr>
        </p:cxnSp>
        <p:sp>
          <p:nvSpPr>
            <p:cNvPr id="84" name="Google Shape;232;p30"/>
            <p:cNvSpPr/>
            <p:nvPr/>
          </p:nvSpPr>
          <p:spPr>
            <a:xfrm flipH="1" rot="2178600">
              <a:off x="8276400" y="900000"/>
              <a:ext cx="1014480" cy="168120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lt1"/>
                </a:solidFill>
                <a:latin typeface="Calibri"/>
                <a:ea typeface="Calibri"/>
              </a:endParaRPr>
            </a:p>
          </p:txBody>
        </p:sp>
      </p:grpSp>
      <p:sp>
        <p:nvSpPr>
          <p:cNvPr id="85" name="Google Shape;233;p30"/>
          <p:cNvSpPr/>
          <p:nvPr/>
        </p:nvSpPr>
        <p:spPr>
          <a:xfrm flipH="1">
            <a:off x="5008320" y="0"/>
            <a:ext cx="1084320" cy="477720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ftr" idx="18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19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F12EB1-24E4-4A9F-8D32-745222D504FB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237;p31"/>
          <p:cNvSpPr/>
          <p:nvPr/>
        </p:nvSpPr>
        <p:spPr>
          <a:xfrm>
            <a:off x="8304120" y="176760"/>
            <a:ext cx="6094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2600" spc="-1" strike="noStrike">
                <a:solidFill>
                  <a:schemeClr val="accent1"/>
                </a:solidFill>
                <a:latin typeface="Arial Black"/>
                <a:ea typeface="Arial Black"/>
              </a:rPr>
              <a:t>FR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9" name="Google Shape;238;p31"/>
          <p:cNvGrpSpPr/>
          <p:nvPr/>
        </p:nvGrpSpPr>
        <p:grpSpPr>
          <a:xfrm>
            <a:off x="5669640" y="0"/>
            <a:ext cx="3573000" cy="2654280"/>
            <a:chOff x="5669640" y="0"/>
            <a:chExt cx="3573000" cy="2654280"/>
          </a:xfrm>
        </p:grpSpPr>
        <p:sp>
          <p:nvSpPr>
            <p:cNvPr id="90" name="Google Shape;239;p31"/>
            <p:cNvSpPr/>
            <p:nvPr/>
          </p:nvSpPr>
          <p:spPr>
            <a:xfrm flipH="1">
              <a:off x="5669640" y="0"/>
              <a:ext cx="3478320" cy="2654280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dk1"/>
                </a:solidFill>
                <a:latin typeface="Calibri"/>
                <a:ea typeface="Calibri"/>
              </a:endParaRPr>
            </a:p>
          </p:txBody>
        </p:sp>
        <p:cxnSp>
          <p:nvCxnSpPr>
            <p:cNvPr id="91" name="Google Shape;240;p31"/>
            <p:cNvCxnSpPr/>
            <p:nvPr/>
          </p:nvCxnSpPr>
          <p:spPr>
            <a:xfrm flipH="1" flipV="1">
              <a:off x="7144560" y="0"/>
              <a:ext cx="932400" cy="724320"/>
            </a:xfrm>
            <a:prstGeom prst="straightConnector1">
              <a:avLst/>
            </a:prstGeom>
            <a:ln w="9525">
              <a:solidFill>
                <a:srgbClr val="bfbfbf"/>
              </a:solidFill>
              <a:miter/>
            </a:ln>
          </p:spPr>
        </p:cxnSp>
        <p:sp>
          <p:nvSpPr>
            <p:cNvPr id="92" name="Google Shape;241;p31"/>
            <p:cNvSpPr/>
            <p:nvPr/>
          </p:nvSpPr>
          <p:spPr>
            <a:xfrm flipH="1" rot="2178600">
              <a:off x="8276400" y="900000"/>
              <a:ext cx="1014480" cy="168120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lt1"/>
                </a:solidFill>
                <a:latin typeface="Calibri"/>
                <a:ea typeface="Calibri"/>
              </a:endParaRPr>
            </a:p>
          </p:txBody>
        </p:sp>
      </p:grpSp>
      <p:sp>
        <p:nvSpPr>
          <p:cNvPr id="93" name="Google Shape;242;p31"/>
          <p:cNvSpPr/>
          <p:nvPr/>
        </p:nvSpPr>
        <p:spPr>
          <a:xfrm flipH="1">
            <a:off x="5008320" y="0"/>
            <a:ext cx="1084320" cy="477720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ftr" idx="20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Num" idx="21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E4A043-0FB0-470A-A7B3-8C312F3AB5D6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64;p15"/>
          <p:cNvSpPr/>
          <p:nvPr/>
        </p:nvSpPr>
        <p:spPr>
          <a:xfrm rot="10800000">
            <a:off x="1381320" y="0"/>
            <a:ext cx="7762680" cy="422784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97" name="Google Shape;65;p15"/>
          <p:cNvSpPr/>
          <p:nvPr/>
        </p:nvSpPr>
        <p:spPr>
          <a:xfrm flipH="1">
            <a:off x="2232000" y="0"/>
            <a:ext cx="3089520" cy="979560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98" name="Google Shape;66;p15"/>
          <p:cNvCxnSpPr/>
          <p:nvPr/>
        </p:nvCxnSpPr>
        <p:spPr>
          <a:xfrm flipV="1">
            <a:off x="4781520" y="3785040"/>
            <a:ext cx="1144800" cy="1353960"/>
          </a:xfrm>
          <a:prstGeom prst="straightConnector1">
            <a:avLst/>
          </a:prstGeom>
          <a:ln w="9525">
            <a:solidFill>
              <a:srgbClr val="ee9571"/>
            </a:solidFill>
            <a:miter/>
          </a:ln>
        </p:spPr>
      </p:cxnSp>
      <p:sp>
        <p:nvSpPr>
          <p:cNvPr id="99" name="PlaceHolder 1"/>
          <p:cNvSpPr>
            <a:spLocks noGrp="1"/>
          </p:cNvSpPr>
          <p:nvPr>
            <p:ph type="ftr" idx="22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Num" idx="23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84207D-F8C9-49E7-BF9F-010D0B8C9B47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73;p16"/>
          <p:cNvCxnSpPr/>
          <p:nvPr/>
        </p:nvCxnSpPr>
        <p:spPr>
          <a:xfrm flipH="1" flipV="1">
            <a:off x="-6840" y="2725200"/>
            <a:ext cx="1435680" cy="1181160"/>
          </a:xfrm>
          <a:prstGeom prst="straightConnector1">
            <a:avLst/>
          </a:prstGeom>
          <a:ln w="9525">
            <a:solidFill>
              <a:srgbClr val="ee9571"/>
            </a:solidFill>
            <a:miter/>
          </a:ln>
        </p:spPr>
      </p:cxnSp>
      <p:grpSp>
        <p:nvGrpSpPr>
          <p:cNvPr id="104" name="Google Shape;74;p16"/>
          <p:cNvGrpSpPr/>
          <p:nvPr/>
        </p:nvGrpSpPr>
        <p:grpSpPr>
          <a:xfrm>
            <a:off x="5669640" y="0"/>
            <a:ext cx="3573000" cy="2654280"/>
            <a:chOff x="5669640" y="0"/>
            <a:chExt cx="3573000" cy="2654280"/>
          </a:xfrm>
        </p:grpSpPr>
        <p:sp>
          <p:nvSpPr>
            <p:cNvPr id="105" name="Google Shape;75;p16"/>
            <p:cNvSpPr/>
            <p:nvPr/>
          </p:nvSpPr>
          <p:spPr>
            <a:xfrm flipH="1">
              <a:off x="5669640" y="0"/>
              <a:ext cx="3478320" cy="2654280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dk1"/>
                </a:solidFill>
                <a:latin typeface="Calibri"/>
                <a:ea typeface="Calibri"/>
              </a:endParaRPr>
            </a:p>
          </p:txBody>
        </p:sp>
        <p:cxnSp>
          <p:nvCxnSpPr>
            <p:cNvPr id="106" name="Google Shape;76;p16"/>
            <p:cNvCxnSpPr/>
            <p:nvPr/>
          </p:nvCxnSpPr>
          <p:spPr>
            <a:xfrm flipH="1" flipV="1">
              <a:off x="7144560" y="0"/>
              <a:ext cx="932400" cy="724320"/>
            </a:xfrm>
            <a:prstGeom prst="straightConnector1">
              <a:avLst/>
            </a:prstGeom>
            <a:ln w="9525">
              <a:solidFill>
                <a:srgbClr val="bfbfbf"/>
              </a:solidFill>
              <a:miter/>
            </a:ln>
          </p:spPr>
        </p:cxnSp>
        <p:sp>
          <p:nvSpPr>
            <p:cNvPr id="107" name="Google Shape;77;p16"/>
            <p:cNvSpPr/>
            <p:nvPr/>
          </p:nvSpPr>
          <p:spPr>
            <a:xfrm flipH="1" rot="2178600">
              <a:off x="8276400" y="900000"/>
              <a:ext cx="1014480" cy="168120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lt1"/>
                </a:solidFill>
                <a:latin typeface="Calibri"/>
                <a:ea typeface="Calibri"/>
              </a:endParaRPr>
            </a:p>
          </p:txBody>
        </p:sp>
      </p:grpSp>
      <p:sp>
        <p:nvSpPr>
          <p:cNvPr id="108" name="Google Shape;83;p16"/>
          <p:cNvSpPr/>
          <p:nvPr/>
        </p:nvSpPr>
        <p:spPr>
          <a:xfrm flipH="1">
            <a:off x="5008320" y="0"/>
            <a:ext cx="1084320" cy="477720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ftr" idx="24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25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31E2F1-0CD0-4EA4-BB59-68B19E850533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88;p17"/>
          <p:cNvSpPr/>
          <p:nvPr/>
        </p:nvSpPr>
        <p:spPr>
          <a:xfrm flipH="1" rot="10800000">
            <a:off x="0" y="1440"/>
            <a:ext cx="7967520" cy="405180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14" name="Google Shape;89;p17"/>
          <p:cNvSpPr/>
          <p:nvPr/>
        </p:nvSpPr>
        <p:spPr>
          <a:xfrm rot="19959000">
            <a:off x="-477360" y="2690640"/>
            <a:ext cx="2893680" cy="1308600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115" name="Google Shape;90;p17"/>
          <p:cNvCxnSpPr/>
          <p:nvPr/>
        </p:nvCxnSpPr>
        <p:spPr>
          <a:xfrm flipV="1">
            <a:off x="0" y="757440"/>
            <a:ext cx="1340280" cy="681840"/>
          </a:xfrm>
          <a:prstGeom prst="straightConnector1">
            <a:avLst/>
          </a:prstGeom>
          <a:ln w="9525">
            <a:solidFill>
              <a:srgbClr val="a5a5a5"/>
            </a:solidFill>
            <a:miter/>
          </a:ln>
        </p:spPr>
      </p:cxnSp>
      <p:cxnSp>
        <p:nvCxnSpPr>
          <p:cNvPr id="116" name="Google Shape;93;p17"/>
          <p:cNvCxnSpPr/>
          <p:nvPr/>
        </p:nvCxnSpPr>
        <p:spPr>
          <a:xfrm flipV="1">
            <a:off x="6752880" y="2943000"/>
            <a:ext cx="2392560" cy="1268280"/>
          </a:xfrm>
          <a:prstGeom prst="straightConnector1">
            <a:avLst/>
          </a:prstGeom>
          <a:ln w="9525">
            <a:solidFill>
              <a:srgbClr val="eab200"/>
            </a:solidFill>
            <a:miter/>
          </a:ln>
        </p:spPr>
      </p:cxnSp>
      <p:sp>
        <p:nvSpPr>
          <p:cNvPr id="117" name="Google Shape;94;p17"/>
          <p:cNvSpPr/>
          <p:nvPr/>
        </p:nvSpPr>
        <p:spPr>
          <a:xfrm>
            <a:off x="5815440" y="0"/>
            <a:ext cx="1692360" cy="555840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118" name="Google Shape;95;p17"/>
          <p:cNvCxnSpPr/>
          <p:nvPr/>
        </p:nvCxnSpPr>
        <p:spPr>
          <a:xfrm flipV="1">
            <a:off x="0" y="306360"/>
            <a:ext cx="4947840" cy="2553840"/>
          </a:xfrm>
          <a:prstGeom prst="straightConnector1">
            <a:avLst/>
          </a:prstGeom>
          <a:ln w="9525">
            <a:solidFill>
              <a:srgbClr val="a5a5a5"/>
            </a:solidFill>
            <a:miter/>
          </a:ln>
        </p:spPr>
      </p:cxnSp>
      <p:cxnSp>
        <p:nvCxnSpPr>
          <p:cNvPr id="119" name="Google Shape;97;p17"/>
          <p:cNvCxnSpPr/>
          <p:nvPr/>
        </p:nvCxnSpPr>
        <p:spPr>
          <a:xfrm flipV="1">
            <a:off x="-13320" y="3949920"/>
            <a:ext cx="1441080" cy="752400"/>
          </a:xfrm>
          <a:prstGeom prst="straightConnector1">
            <a:avLst/>
          </a:prstGeom>
          <a:ln w="9525">
            <a:solidFill>
              <a:srgbClr val="00194c"/>
            </a:solidFill>
            <a:miter/>
          </a:ln>
        </p:spPr>
      </p:cxnSp>
      <p:sp>
        <p:nvSpPr>
          <p:cNvPr id="120" name="Google Shape;98;p17"/>
          <p:cNvSpPr/>
          <p:nvPr/>
        </p:nvSpPr>
        <p:spPr>
          <a:xfrm rot="19959000">
            <a:off x="-103320" y="2554920"/>
            <a:ext cx="1077480" cy="176040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00;p18"/>
          <p:cNvGrpSpPr/>
          <p:nvPr/>
        </p:nvGrpSpPr>
        <p:grpSpPr>
          <a:xfrm>
            <a:off x="5669640" y="0"/>
            <a:ext cx="3573000" cy="2654280"/>
            <a:chOff x="5669640" y="0"/>
            <a:chExt cx="3573000" cy="2654280"/>
          </a:xfrm>
        </p:grpSpPr>
        <p:sp>
          <p:nvSpPr>
            <p:cNvPr id="124" name="Google Shape;101;p18"/>
            <p:cNvSpPr/>
            <p:nvPr/>
          </p:nvSpPr>
          <p:spPr>
            <a:xfrm flipH="1">
              <a:off x="5669640" y="0"/>
              <a:ext cx="3478320" cy="2654280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dk1"/>
                </a:solidFill>
                <a:latin typeface="Calibri"/>
                <a:ea typeface="Calibri"/>
              </a:endParaRPr>
            </a:p>
          </p:txBody>
        </p:sp>
        <p:cxnSp>
          <p:nvCxnSpPr>
            <p:cNvPr id="125" name="Google Shape;102;p18"/>
            <p:cNvCxnSpPr/>
            <p:nvPr/>
          </p:nvCxnSpPr>
          <p:spPr>
            <a:xfrm flipH="1" flipV="1">
              <a:off x="7144560" y="0"/>
              <a:ext cx="932400" cy="724320"/>
            </a:xfrm>
            <a:prstGeom prst="straightConnector1">
              <a:avLst/>
            </a:prstGeom>
            <a:ln w="9525">
              <a:solidFill>
                <a:srgbClr val="bfbfbf"/>
              </a:solidFill>
              <a:miter/>
            </a:ln>
          </p:spPr>
        </p:cxnSp>
        <p:sp>
          <p:nvSpPr>
            <p:cNvPr id="126" name="Google Shape;103;p18"/>
            <p:cNvSpPr/>
            <p:nvPr/>
          </p:nvSpPr>
          <p:spPr>
            <a:xfrm flipH="1" rot="2178600">
              <a:off x="8276400" y="900000"/>
              <a:ext cx="1014480" cy="168120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lt1"/>
                </a:solidFill>
                <a:latin typeface="Calibri"/>
                <a:ea typeface="Calibri"/>
              </a:endParaRPr>
            </a:p>
          </p:txBody>
        </p:sp>
      </p:grpSp>
      <p:sp>
        <p:nvSpPr>
          <p:cNvPr id="127" name="Google Shape;104;p18"/>
          <p:cNvSpPr/>
          <p:nvPr/>
        </p:nvSpPr>
        <p:spPr>
          <a:xfrm flipH="1">
            <a:off x="5008320" y="0"/>
            <a:ext cx="1084320" cy="477720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ftr" idx="26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Num" idx="27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59862D-03D0-4DC7-8B36-BFD3F69E2648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12;p19"/>
          <p:cNvSpPr/>
          <p:nvPr/>
        </p:nvSpPr>
        <p:spPr>
          <a:xfrm rot="10800000">
            <a:off x="1381320" y="0"/>
            <a:ext cx="7762680" cy="422784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33" name="Google Shape;115;p19"/>
          <p:cNvSpPr/>
          <p:nvPr/>
        </p:nvSpPr>
        <p:spPr>
          <a:xfrm flipH="1">
            <a:off x="2232000" y="0"/>
            <a:ext cx="3089520" cy="979560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134" name="Google Shape;116;p19"/>
          <p:cNvCxnSpPr/>
          <p:nvPr/>
        </p:nvCxnSpPr>
        <p:spPr>
          <a:xfrm flipV="1">
            <a:off x="7764120" y="888840"/>
            <a:ext cx="1381320" cy="1226880"/>
          </a:xfrm>
          <a:prstGeom prst="straightConnector1">
            <a:avLst/>
          </a:prstGeom>
          <a:ln w="9525">
            <a:solidFill>
              <a:srgbClr val="eab200"/>
            </a:solidFill>
            <a:miter/>
          </a:ln>
        </p:spPr>
      </p:cxnSp>
      <p:sp>
        <p:nvSpPr>
          <p:cNvPr id="135" name="Google Shape;118;p19"/>
          <p:cNvSpPr/>
          <p:nvPr/>
        </p:nvSpPr>
        <p:spPr>
          <a:xfrm>
            <a:off x="8305200" y="178200"/>
            <a:ext cx="6094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2600" spc="-1" strike="noStrike">
                <a:solidFill>
                  <a:schemeClr val="accent1"/>
                </a:solidFill>
                <a:latin typeface="Arial Black"/>
                <a:ea typeface="Arial Black"/>
              </a:rPr>
              <a:t>FR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ftr" idx="28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ldNum" idx="29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A85FEF-9F9C-4D0C-A3F2-9CC97D2DFBB9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24;p20"/>
          <p:cNvGrpSpPr/>
          <p:nvPr/>
        </p:nvGrpSpPr>
        <p:grpSpPr>
          <a:xfrm>
            <a:off x="5669640" y="0"/>
            <a:ext cx="3573000" cy="2654280"/>
            <a:chOff x="5669640" y="0"/>
            <a:chExt cx="3573000" cy="2654280"/>
          </a:xfrm>
        </p:grpSpPr>
        <p:sp>
          <p:nvSpPr>
            <p:cNvPr id="139" name="Google Shape;125;p20"/>
            <p:cNvSpPr/>
            <p:nvPr/>
          </p:nvSpPr>
          <p:spPr>
            <a:xfrm flipH="1">
              <a:off x="5669640" y="0"/>
              <a:ext cx="3478320" cy="2654280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dk1"/>
                </a:solidFill>
                <a:latin typeface="Calibri"/>
                <a:ea typeface="Calibri"/>
              </a:endParaRPr>
            </a:p>
          </p:txBody>
        </p:sp>
        <p:cxnSp>
          <p:nvCxnSpPr>
            <p:cNvPr id="140" name="Google Shape;126;p20"/>
            <p:cNvCxnSpPr/>
            <p:nvPr/>
          </p:nvCxnSpPr>
          <p:spPr>
            <a:xfrm flipH="1" flipV="1">
              <a:off x="7144560" y="0"/>
              <a:ext cx="932400" cy="724320"/>
            </a:xfrm>
            <a:prstGeom prst="straightConnector1">
              <a:avLst/>
            </a:prstGeom>
            <a:ln w="9525">
              <a:solidFill>
                <a:srgbClr val="bfbfbf"/>
              </a:solidFill>
              <a:miter/>
            </a:ln>
          </p:spPr>
        </p:cxnSp>
        <p:sp>
          <p:nvSpPr>
            <p:cNvPr id="141" name="Google Shape;127;p20"/>
            <p:cNvSpPr/>
            <p:nvPr/>
          </p:nvSpPr>
          <p:spPr>
            <a:xfrm flipH="1" rot="2178600">
              <a:off x="8276400" y="900000"/>
              <a:ext cx="1014480" cy="168120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400" rIns="68400" tIns="34200" bIns="342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fr-FR" sz="1400" spc="-1" strike="noStrike">
                <a:solidFill>
                  <a:schemeClr val="lt1"/>
                </a:solidFill>
                <a:latin typeface="Calibri"/>
                <a:ea typeface="Calibri"/>
              </a:endParaRPr>
            </a:p>
          </p:txBody>
        </p:sp>
      </p:grpSp>
      <p:sp>
        <p:nvSpPr>
          <p:cNvPr id="142" name="Google Shape;128;p20"/>
          <p:cNvSpPr/>
          <p:nvPr/>
        </p:nvSpPr>
        <p:spPr>
          <a:xfrm flipH="1">
            <a:off x="5008320" y="0"/>
            <a:ext cx="1084320" cy="477720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ftr" idx="30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ldNum" idx="31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C13468-70B2-46EC-A1AB-A3E88B11B5CA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34;p21"/>
          <p:cNvSpPr/>
          <p:nvPr/>
        </p:nvSpPr>
        <p:spPr>
          <a:xfrm flipH="1" rot="10800000">
            <a:off x="0" y="1440"/>
            <a:ext cx="8809200" cy="4722840"/>
          </a:xfrm>
          <a:prstGeom prst="rtTriangl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146" name="Google Shape;136;p21"/>
          <p:cNvCxnSpPr/>
          <p:nvPr/>
        </p:nvCxnSpPr>
        <p:spPr>
          <a:xfrm flipV="1">
            <a:off x="0" y="4008600"/>
            <a:ext cx="1773000" cy="932040"/>
          </a:xfrm>
          <a:prstGeom prst="straightConnector1">
            <a:avLst/>
          </a:prstGeom>
          <a:ln w="9525">
            <a:solidFill>
              <a:srgbClr val="7f7f7f"/>
            </a:solidFill>
            <a:miter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3;p22"/>
          <p:cNvSpPr/>
          <p:nvPr/>
        </p:nvSpPr>
        <p:spPr>
          <a:xfrm>
            <a:off x="4844160" y="2629080"/>
            <a:ext cx="192600" cy="192600"/>
          </a:xfrm>
          <a:custGeom>
            <a:avLst/>
            <a:gdLst>
              <a:gd name="textAreaLeft" fmla="*/ 0 w 192600"/>
              <a:gd name="textAreaRight" fmla="*/ 194040 w 192600"/>
              <a:gd name="textAreaTop" fmla="*/ 0 h 192600"/>
              <a:gd name="textAreaBottom" fmla="*/ 194040 h 192600"/>
            </a:gdLst>
            <a:ahLst/>
            <a:rect l="textAreaLeft" t="textAreaTop" r="textAreaRight" b="textAreaBottom"/>
            <a:pathLst>
              <a:path w="21600" h="2160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28440" bIns="28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8" name="Google Shape;144;p22"/>
          <p:cNvSpPr/>
          <p:nvPr/>
        </p:nvSpPr>
        <p:spPr>
          <a:xfrm>
            <a:off x="4880880" y="2923560"/>
            <a:ext cx="119520" cy="220680"/>
          </a:xfrm>
          <a:custGeom>
            <a:avLst/>
            <a:gdLst>
              <a:gd name="textAreaLeft" fmla="*/ 0 w 119520"/>
              <a:gd name="textAreaRight" fmla="*/ 120960 w 119520"/>
              <a:gd name="textAreaTop" fmla="*/ 0 h 220680"/>
              <a:gd name="textAreaBottom" fmla="*/ 222120 h 220680"/>
            </a:gdLst>
            <a:ahLst/>
            <a:rect l="textAreaLeft" t="textAreaTop" r="textAreaRight" b="textAreaBottom"/>
            <a:pathLst>
              <a:path w="21600" h="2160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28440" bIns="28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9" name="Google Shape;145;p22"/>
          <p:cNvSpPr/>
          <p:nvPr/>
        </p:nvSpPr>
        <p:spPr>
          <a:xfrm>
            <a:off x="4844160" y="3246120"/>
            <a:ext cx="192600" cy="139680"/>
          </a:xfrm>
          <a:custGeom>
            <a:avLst/>
            <a:gdLst>
              <a:gd name="textAreaLeft" fmla="*/ 0 w 192600"/>
              <a:gd name="textAreaRight" fmla="*/ 194040 w 192600"/>
              <a:gd name="textAreaTop" fmla="*/ 0 h 139680"/>
              <a:gd name="textAreaBottom" fmla="*/ 141120 h 139680"/>
            </a:gdLst>
            <a:ahLst/>
            <a:rect l="textAreaLeft" t="textAreaTop" r="textAreaRight" b="textAreaBottom"/>
            <a:pathLst>
              <a:path w="21600" h="2160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28440" bIns="28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50" name="Google Shape;146;p22"/>
          <p:cNvSpPr/>
          <p:nvPr/>
        </p:nvSpPr>
        <p:spPr>
          <a:xfrm>
            <a:off x="4853880" y="3487680"/>
            <a:ext cx="173520" cy="173520"/>
          </a:xfrm>
          <a:custGeom>
            <a:avLst/>
            <a:gdLst>
              <a:gd name="textAreaLeft" fmla="*/ 0 w 173520"/>
              <a:gd name="textAreaRight" fmla="*/ 174960 w 173520"/>
              <a:gd name="textAreaTop" fmla="*/ 0 h 173520"/>
              <a:gd name="textAreaBottom" fmla="*/ 174960 h 173520"/>
            </a:gdLst>
            <a:ahLst/>
            <a:rect l="textAreaLeft" t="textAreaTop" r="textAreaRight" b="textAreaBottom"/>
            <a:pathLst>
              <a:path w="21600" h="2160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440" rIns="28440" tIns="28440" bIns="28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51" name="Google Shape;147;p22"/>
          <p:cNvSpPr/>
          <p:nvPr/>
        </p:nvSpPr>
        <p:spPr>
          <a:xfrm flipH="1" rot="10800000">
            <a:off x="0" y="1440"/>
            <a:ext cx="7967520" cy="4051800"/>
          </a:xfrm>
          <a:prstGeom prst="rtTriangle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cxnSp>
        <p:nvCxnSpPr>
          <p:cNvPr id="152" name="Google Shape;148;p22"/>
          <p:cNvCxnSpPr/>
          <p:nvPr/>
        </p:nvCxnSpPr>
        <p:spPr>
          <a:xfrm flipV="1">
            <a:off x="0" y="0"/>
            <a:ext cx="4524120" cy="2254680"/>
          </a:xfrm>
          <a:prstGeom prst="straightConnector1">
            <a:avLst/>
          </a:prstGeom>
          <a:ln w="9525">
            <a:solidFill>
              <a:srgbClr val="a5a5a5"/>
            </a:solidFill>
            <a:miter/>
          </a:ln>
        </p:spPr>
      </p:cxnSp>
      <p:cxnSp>
        <p:nvCxnSpPr>
          <p:cNvPr id="153" name="Google Shape;149;p22"/>
          <p:cNvCxnSpPr/>
          <p:nvPr/>
        </p:nvCxnSpPr>
        <p:spPr>
          <a:xfrm flipV="1">
            <a:off x="6752880" y="2943000"/>
            <a:ext cx="2392560" cy="1268280"/>
          </a:xfrm>
          <a:prstGeom prst="straightConnector1">
            <a:avLst/>
          </a:prstGeom>
          <a:ln w="9525">
            <a:solidFill>
              <a:srgbClr val="eab200"/>
            </a:solidFill>
            <a:miter/>
          </a:ln>
        </p:spPr>
      </p:cxnSp>
      <p:cxnSp>
        <p:nvCxnSpPr>
          <p:cNvPr id="154" name="Google Shape;150;p22"/>
          <p:cNvCxnSpPr/>
          <p:nvPr/>
        </p:nvCxnSpPr>
        <p:spPr>
          <a:xfrm flipV="1">
            <a:off x="-13320" y="3524760"/>
            <a:ext cx="1441080" cy="752400"/>
          </a:xfrm>
          <a:prstGeom prst="straightConnector1">
            <a:avLst/>
          </a:prstGeom>
          <a:ln w="9525">
            <a:solidFill>
              <a:srgbClr val="00194c"/>
            </a:solidFill>
            <a:miter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24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24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24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26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253;p33" descr=""/>
          <p:cNvPicPr/>
          <p:nvPr/>
        </p:nvPicPr>
        <p:blipFill>
          <a:blip r:embed="rId1"/>
          <a:srcRect l="20780" t="0" r="20780" b="0"/>
          <a:stretch/>
        </p:blipFill>
        <p:spPr>
          <a:xfrm>
            <a:off x="1262520" y="645840"/>
            <a:ext cx="3319920" cy="3851280"/>
          </a:xfrm>
          <a:prstGeom prst="rect">
            <a:avLst/>
          </a:prstGeom>
          <a:ln w="0">
            <a:noFill/>
          </a:ln>
        </p:spPr>
      </p:pic>
      <p:sp>
        <p:nvSpPr>
          <p:cNvPr id="162" name="Google Shape;254;p33"/>
          <p:cNvSpPr/>
          <p:nvPr/>
        </p:nvSpPr>
        <p:spPr>
          <a:xfrm rot="16200000">
            <a:off x="2009520" y="1792800"/>
            <a:ext cx="1808280" cy="155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781880" y="1504440"/>
            <a:ext cx="3638880" cy="1210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 fontScale="8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fr" sz="3200" spc="-1" strike="noStrike">
                <a:solidFill>
                  <a:schemeClr val="accent1"/>
                </a:solidFill>
                <a:latin typeface="Calibri"/>
                <a:ea typeface="Calibri"/>
              </a:rPr>
              <a:t>Création et utilisation de la base de données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ubTitle"/>
          </p:nvPr>
        </p:nvSpPr>
        <p:spPr>
          <a:xfrm>
            <a:off x="4781520" y="2730600"/>
            <a:ext cx="3639240" cy="9417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1800" spc="-1" strike="noStrike">
                <a:solidFill>
                  <a:schemeClr val="accent6"/>
                </a:solidFill>
                <a:latin typeface="Calibri"/>
                <a:ea typeface="Calibri"/>
              </a:rPr>
              <a:t>Zied Belhocine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Google Shape;257;p33" descr="https://lh5.googleusercontent.com/TcdnvzxQ7ulQo8GiFwfIKujloK6EfAJv7ikP-EvnfdTVQnROS3WXw6XSx9Cpd73e_l7GCUAnbxroB-qlzG2fvYdCyl-Y5QZ95MpiD-GfDN-4taJyHRqsr3vOZzc3ONTBu52b0HIdUOMeHvdHiA_5tD0"/>
          <p:cNvPicPr/>
          <p:nvPr/>
        </p:nvPicPr>
        <p:blipFill>
          <a:blip r:embed="rId2"/>
          <a:stretch/>
        </p:blipFill>
        <p:spPr>
          <a:xfrm>
            <a:off x="4840200" y="3713760"/>
            <a:ext cx="4302360" cy="1428480"/>
          </a:xfrm>
          <a:prstGeom prst="rect">
            <a:avLst/>
          </a:prstGeom>
          <a:ln w="0">
            <a:noFill/>
          </a:ln>
        </p:spPr>
      </p:pic>
      <p:pic>
        <p:nvPicPr>
          <p:cNvPr id="166" name="Google Shape;258;p33" descr="https://lh5.googleusercontent.com/TcdnvzxQ7ulQo8GiFwfIKujloK6EfAJv7ikP-EvnfdTVQnROS3WXw6XSx9Cpd73e_l7GCUAnbxroB-qlzG2fvYdCyl-Y5QZ95MpiD-GfDN-4taJyHRqsr3vOZzc3ONTBu52b0HIdUOMeHvdHiA_5tD0"/>
          <p:cNvPicPr/>
          <p:nvPr/>
        </p:nvPicPr>
        <p:blipFill>
          <a:blip r:embed="rId3"/>
          <a:srcRect l="11387" t="12668" r="63938" b="13980"/>
          <a:stretch/>
        </p:blipFill>
        <p:spPr>
          <a:xfrm>
            <a:off x="1979640" y="1607760"/>
            <a:ext cx="1800360" cy="177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Image 1" descr=""/>
          <p:cNvPicPr/>
          <p:nvPr/>
        </p:nvPicPr>
        <p:blipFill>
          <a:blip r:embed="rId1"/>
          <a:srcRect l="0" t="0" r="45631" b="0"/>
          <a:stretch/>
        </p:blipFill>
        <p:spPr>
          <a:xfrm>
            <a:off x="4952880" y="0"/>
            <a:ext cx="4189680" cy="5142240"/>
          </a:xfrm>
          <a:prstGeom prst="rect">
            <a:avLst/>
          </a:prstGeom>
          <a:ln w="0">
            <a:noFill/>
          </a:ln>
        </p:spPr>
      </p:pic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398520" y="981360"/>
            <a:ext cx="5505480" cy="9100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fr-FR" sz="4800" spc="-1" strike="noStrike">
                <a:solidFill>
                  <a:schemeClr val="accent1"/>
                </a:solidFill>
                <a:latin typeface="Calibri"/>
                <a:ea typeface="Calibri"/>
              </a:rPr>
              <a:t>DATAImmo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398520" y="1922760"/>
            <a:ext cx="4552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fr-FR" sz="1600" spc="-1" strike="noStrike">
                <a:solidFill>
                  <a:schemeClr val="accent1"/>
                </a:solidFill>
                <a:latin typeface="Calibri"/>
                <a:ea typeface="Calibri"/>
              </a:rPr>
              <a:t>Créer un modèle pour mieux prévoir le prix de ventes des biens immobiliers. 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398520" y="2397600"/>
            <a:ext cx="3705840" cy="2217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87222" lnSpcReduction="20000"/>
          </a:bodyPr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eab2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  <a:ea typeface="Calibri"/>
              </a:rPr>
              <a:t>Améliorer la base de données permettant de collecter les transactions immobilières et foncières en France en l’enrichissant pour analyser le marché et aider les différentes agences régionales à mieux accompagner leurs clients.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114480"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  <a:ea typeface="Calibri"/>
              </a:rPr>
              <a:t>Cela en respectant la législation et notamment le RGPD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sldNum" idx="35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B254E5-C6FA-4F35-A38C-CF5872B3F8C6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2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468828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 fontScale="83888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La stratégie de sauvegarde et la conformité RGPD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ldNum" idx="36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rgbClr val="9e9e9e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46CBC6-40C9-4690-99CF-1E35E211A084}" type="slidenum">
              <a:rPr b="0" lang="fr" sz="900" spc="-1" strike="noStrike">
                <a:solidFill>
                  <a:srgbClr val="9e9e9e"/>
                </a:solidFill>
                <a:latin typeface="Calibri"/>
                <a:ea typeface="Calibri"/>
              </a:rPr>
              <a:t>3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ZoneTexte 2"/>
          <p:cNvSpPr/>
          <p:nvPr/>
        </p:nvSpPr>
        <p:spPr>
          <a:xfrm>
            <a:off x="374760" y="1396440"/>
            <a:ext cx="8264520" cy="35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100" spc="-1" strike="noStrike">
                <a:solidFill>
                  <a:srgbClr val="000000"/>
                </a:solidFill>
                <a:latin typeface="Arial"/>
                <a:ea typeface="Arial"/>
              </a:rPr>
              <a:t>La stratégie de sauvegarde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latin typeface="Arial"/>
                <a:ea typeface="Arial"/>
              </a:rPr>
              <a:t>Objectif :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Arial"/>
              </a:rPr>
              <a:t> Garantir la disponibilité, la sécurité et l’intégrité des données en cas d’incident.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1800" spc="-1" strike="noStrike">
                <a:solidFill>
                  <a:srgbClr val="000000"/>
                </a:solidFill>
                <a:latin typeface="Arial"/>
                <a:ea typeface="Arial"/>
              </a:rPr>
              <a:t>Comment ?</a:t>
            </a: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Arial"/>
              </a:rPr>
              <a:t> : En faisant des sauvegardes automatiques régulières sur des supports physique et clouds sécurisés.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fr-FR" sz="2100" spc="-1" strike="noStrike">
                <a:solidFill>
                  <a:srgbClr val="000000"/>
                </a:solidFill>
                <a:latin typeface="Arial"/>
                <a:ea typeface="Arial"/>
              </a:rPr>
              <a:t>La conformité RGPD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Arial"/>
              </a:rPr>
              <a:t>Données concernées : Données personnelles des propriétaires à supprimer. (automatique sur Power Query).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468828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Les données initiales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1936800" y="1350720"/>
            <a:ext cx="6977160" cy="30344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  <a:ea typeface="Calibri"/>
              </a:rPr>
              <a:t>On dispose de trois fichiers pour créer notre BDD.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37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rgbClr val="9e9e9e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960176-B70B-4453-8E39-5FE0BEF74450}" type="slidenum">
              <a:rPr b="0" lang="fr" sz="900" spc="-1" strike="noStrike">
                <a:solidFill>
                  <a:srgbClr val="9e9e9e"/>
                </a:solidFill>
                <a:latin typeface="Calibri"/>
                <a:ea typeface="Calibri"/>
              </a:rPr>
              <a:t>4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8" name="Picture 2" descr="Investissement sur le marché immobilier. Argent de la maison - Photo de Bien immobilier libre de droits"/>
          <p:cNvPicPr/>
          <p:nvPr/>
        </p:nvPicPr>
        <p:blipFill>
          <a:blip r:embed="rId1"/>
          <a:stretch/>
        </p:blipFill>
        <p:spPr>
          <a:xfrm>
            <a:off x="389160" y="2293200"/>
            <a:ext cx="2385360" cy="1588320"/>
          </a:xfrm>
          <a:prstGeom prst="rect">
            <a:avLst/>
          </a:prstGeom>
          <a:ln w="0">
            <a:noFill/>
          </a:ln>
        </p:spPr>
      </p:pic>
      <p:pic>
        <p:nvPicPr>
          <p:cNvPr id="179" name="Picture 4" descr="Carte de la France faite de symbole de personnes sur fond blanc - clipart vectoriel de France libre de droits"/>
          <p:cNvPicPr/>
          <p:nvPr/>
        </p:nvPicPr>
        <p:blipFill>
          <a:blip r:embed="rId2"/>
          <a:stretch/>
        </p:blipFill>
        <p:spPr>
          <a:xfrm>
            <a:off x="3170880" y="1835640"/>
            <a:ext cx="2301840" cy="2301840"/>
          </a:xfrm>
          <a:prstGeom prst="rect">
            <a:avLst/>
          </a:prstGeom>
          <a:ln w="0">
            <a:noFill/>
          </a:ln>
        </p:spPr>
      </p:pic>
      <p:pic>
        <p:nvPicPr>
          <p:cNvPr id="180" name="Picture 6" descr="La France  - Photo de Carte libre de droits"/>
          <p:cNvPicPr/>
          <p:nvPr/>
        </p:nvPicPr>
        <p:blipFill>
          <a:blip r:embed="rId3"/>
          <a:stretch/>
        </p:blipFill>
        <p:spPr>
          <a:xfrm>
            <a:off x="6058440" y="2293200"/>
            <a:ext cx="2410200" cy="1607040"/>
          </a:xfrm>
          <a:prstGeom prst="rect">
            <a:avLst/>
          </a:prstGeom>
          <a:ln w="0">
            <a:noFill/>
          </a:ln>
        </p:spPr>
      </p:pic>
      <p:sp>
        <p:nvSpPr>
          <p:cNvPr id="181" name="ZoneTexte 2"/>
          <p:cNvSpPr/>
          <p:nvPr/>
        </p:nvSpPr>
        <p:spPr>
          <a:xfrm>
            <a:off x="389160" y="4021920"/>
            <a:ext cx="2385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Arial"/>
              </a:rPr>
              <a:t>Valeurs Foncières (DVF)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ZoneTexte 4"/>
          <p:cNvSpPr/>
          <p:nvPr/>
        </p:nvSpPr>
        <p:spPr>
          <a:xfrm>
            <a:off x="6070320" y="4021920"/>
            <a:ext cx="2385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Arial"/>
              </a:rPr>
              <a:t>Référentiel géographique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ZoneTexte 5"/>
          <p:cNvSpPr/>
          <p:nvPr/>
        </p:nvSpPr>
        <p:spPr>
          <a:xfrm>
            <a:off x="3230640" y="4021920"/>
            <a:ext cx="2385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  <a:ea typeface="Arial"/>
              </a:rPr>
              <a:t>Données communes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468828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 fontScale="8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L’extrait du dictionnaire des données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390600" y="1552680"/>
            <a:ext cx="6977160" cy="30344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marL="177840" indent="-177840">
              <a:lnSpc>
                <a:spcPct val="90000"/>
              </a:lnSpc>
              <a:buClr>
                <a:srgbClr val="2e7a40"/>
              </a:buClr>
              <a:buFont typeface="Arial"/>
              <a:buChar char="•"/>
            </a:pPr>
            <a:r>
              <a:rPr b="0" lang="fr" sz="1800" spc="-1" strike="noStrike">
                <a:solidFill>
                  <a:schemeClr val="dk1"/>
                </a:solidFill>
                <a:latin typeface="Calibri"/>
                <a:ea typeface="Calibri"/>
              </a:rPr>
              <a:t>Lorem ipsum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ftr" idx="38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rgbClr val="9e9e9e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rgbClr val="9e9e9e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sldNum" idx="39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rgbClr val="9e9e9e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718C48-21F3-4884-9C19-99652FBC32D6}" type="slidenum">
              <a:rPr b="0" lang="fr" sz="900" spc="-1" strike="noStrike">
                <a:solidFill>
                  <a:srgbClr val="9e9e9e"/>
                </a:solidFill>
                <a:latin typeface="Calibri"/>
                <a:ea typeface="Calibri"/>
              </a:rPr>
              <a:t>5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8" name="Image 2" descr=""/>
          <p:cNvPicPr/>
          <p:nvPr/>
        </p:nvPicPr>
        <p:blipFill>
          <a:blip r:embed="rId1"/>
          <a:stretch/>
        </p:blipFill>
        <p:spPr>
          <a:xfrm>
            <a:off x="0" y="1374120"/>
            <a:ext cx="9142560" cy="2723040"/>
          </a:xfrm>
          <a:prstGeom prst="rect">
            <a:avLst/>
          </a:prstGeom>
          <a:ln w="0">
            <a:noFill/>
          </a:ln>
        </p:spPr>
      </p:pic>
      <p:pic>
        <p:nvPicPr>
          <p:cNvPr id="189" name="" descr=""/>
          <p:cNvPicPr/>
          <p:nvPr/>
        </p:nvPicPr>
        <p:blipFill>
          <a:blip r:embed="rId2"/>
          <a:stretch/>
        </p:blipFill>
        <p:spPr>
          <a:xfrm>
            <a:off x="16560" y="1081440"/>
            <a:ext cx="9143280" cy="299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468828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 fontScale="8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Le schéma relationnel normalisé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ftr" idx="40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rgbClr val="9e9e9e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rgbClr val="9e9e9e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41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rgbClr val="9e9e9e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105D0C-79C9-43A3-883A-FF319CDD6C52}" type="slidenum">
              <a:rPr b="0" lang="fr" sz="900" spc="-1" strike="noStrike">
                <a:solidFill>
                  <a:srgbClr val="9e9e9e"/>
                </a:solidFill>
                <a:latin typeface="Calibri"/>
                <a:ea typeface="Calibri"/>
              </a:rPr>
              <a:t>6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ZoneTexte 1"/>
          <p:cNvSpPr/>
          <p:nvPr/>
        </p:nvSpPr>
        <p:spPr>
          <a:xfrm>
            <a:off x="5760000" y="180000"/>
            <a:ext cx="3196800" cy="23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</a:pPr>
            <a:r>
              <a:rPr b="0" lang="fr-FR" sz="1200" spc="-1" strike="noStrike">
                <a:solidFill>
                  <a:schemeClr val="accent1"/>
                </a:solidFill>
                <a:latin typeface="Calibri"/>
                <a:ea typeface="Calibri"/>
              </a:rPr>
              <a:t>Rappel des formes normales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fr-FR" sz="1200" spc="-1" strike="noStrike">
                <a:solidFill>
                  <a:schemeClr val="accent1"/>
                </a:solidFill>
                <a:latin typeface="Calibri"/>
                <a:ea typeface="Calibri"/>
              </a:rPr>
              <a:t>1NF : atomicité des attributs et clé primaire unique (pas de lignes en double sur clé primaire).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fr-FR" sz="1200" spc="-1" strike="noStrike">
                <a:solidFill>
                  <a:schemeClr val="accent1"/>
                </a:solidFill>
                <a:latin typeface="Calibri"/>
                <a:ea typeface="Calibri"/>
              </a:rPr>
              <a:t>2NF : pas de dépendance partielle sur une clé composite.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fr-FR" sz="1200" spc="-1" strike="noStrike">
                <a:solidFill>
                  <a:schemeClr val="accent1"/>
                </a:solidFill>
                <a:latin typeface="Calibri"/>
                <a:ea typeface="Calibri"/>
              </a:rPr>
              <a:t>3NF : pas de dépendance transitive entre attributs non‑clé.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Image 5" descr=""/>
          <p:cNvPicPr/>
          <p:nvPr/>
        </p:nvPicPr>
        <p:blipFill>
          <a:blip r:embed="rId1"/>
          <a:stretch/>
        </p:blipFill>
        <p:spPr>
          <a:xfrm>
            <a:off x="221400" y="1333080"/>
            <a:ext cx="4995720" cy="3192120"/>
          </a:xfrm>
          <a:prstGeom prst="rect">
            <a:avLst/>
          </a:prstGeom>
          <a:ln w="0">
            <a:noFill/>
          </a:ln>
        </p:spPr>
      </p:pic>
      <p:pic>
        <p:nvPicPr>
          <p:cNvPr id="195" name="Image 3" descr=""/>
          <p:cNvPicPr/>
          <p:nvPr/>
        </p:nvPicPr>
        <p:blipFill>
          <a:blip r:embed="rId2"/>
          <a:stretch/>
        </p:blipFill>
        <p:spPr>
          <a:xfrm>
            <a:off x="349560" y="1284120"/>
            <a:ext cx="4874760" cy="3192120"/>
          </a:xfrm>
          <a:prstGeom prst="rect">
            <a:avLst/>
          </a:prstGeom>
          <a:ln w="0">
            <a:noFill/>
          </a:ln>
        </p:spPr>
      </p:pic>
      <p:pic>
        <p:nvPicPr>
          <p:cNvPr id="196" name="" descr=""/>
          <p:cNvPicPr/>
          <p:nvPr/>
        </p:nvPicPr>
        <p:blipFill>
          <a:blip r:embed="rId3"/>
          <a:stretch/>
        </p:blipFill>
        <p:spPr>
          <a:xfrm>
            <a:off x="5580000" y="2880000"/>
            <a:ext cx="3042720" cy="162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390600" y="554760"/>
            <a:ext cx="468828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 fontScale="75000" lnSpcReduction="20000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La base de données avec les tables créées et les données chargées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-97920" y="1535760"/>
            <a:ext cx="4552200" cy="277524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 fontScale="43333"/>
          </a:bodyPr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 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CREATE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TABLE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</a:t>
            </a:r>
            <a:r>
              <a:rPr b="0" lang="fr-FR" sz="1800" spc="-1" strike="noStrike">
                <a:solidFill>
                  <a:srgbClr val="dcdcaa"/>
                </a:solidFill>
                <a:latin typeface="Consolas"/>
                <a:ea typeface="Calibri"/>
              </a:rPr>
              <a:t>Bien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(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    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id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INTEGER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   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PRIMARY KEY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UNIQUE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NOT NULL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    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code_dep_code_com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TEXT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(</a:t>
            </a:r>
            <a:r>
              <a:rPr b="0" lang="fr-FR" sz="1800" spc="-1" strike="noStrike">
                <a:solidFill>
                  <a:srgbClr val="b5cea8"/>
                </a:solidFill>
                <a:latin typeface="Consolas"/>
                <a:ea typeface="Calibri"/>
              </a:rPr>
              <a:t>10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)  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REFERENCES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commune (code_dep_code_com)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ON DELETE RESTRICT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ON UPDATE CASCADE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NOT NULL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    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no_voie          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INTEGER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    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b_t_q            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TEXT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(</a:t>
            </a:r>
            <a:r>
              <a:rPr b="0" lang="fr-FR" sz="1800" spc="-1" strike="noStrike">
                <a:solidFill>
                  <a:srgbClr val="b5cea8"/>
                </a:solidFill>
                <a:latin typeface="Consolas"/>
                <a:ea typeface="Calibri"/>
              </a:rPr>
              <a:t>1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),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    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type_voie        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TEXT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(</a:t>
            </a:r>
            <a:r>
              <a:rPr b="0" lang="fr-FR" sz="1800" spc="-1" strike="noStrike">
                <a:solidFill>
                  <a:srgbClr val="b5cea8"/>
                </a:solidFill>
                <a:latin typeface="Consolas"/>
                <a:ea typeface="Calibri"/>
              </a:rPr>
              <a:t>5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),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    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voie              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TEXT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(</a:t>
            </a:r>
            <a:r>
              <a:rPr b="0" lang="fr-FR" sz="1800" spc="-1" strike="noStrike">
                <a:solidFill>
                  <a:srgbClr val="b5cea8"/>
                </a:solidFill>
                <a:latin typeface="Consolas"/>
                <a:ea typeface="Calibri"/>
              </a:rPr>
              <a:t>50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),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    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surface_carrez    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NUMERIC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(</a:t>
            </a:r>
            <a:r>
              <a:rPr b="0" lang="fr-FR" sz="1800" spc="-1" strike="noStrike">
                <a:solidFill>
                  <a:srgbClr val="b5cea8"/>
                </a:solidFill>
                <a:latin typeface="Consolas"/>
                <a:ea typeface="Calibri"/>
              </a:rPr>
              <a:t>6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),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    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surface_reelle    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INTEGER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    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nb_pieces        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INTEGER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   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NOT NULL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    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type_local        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TEXT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 (</a:t>
            </a:r>
            <a:r>
              <a:rPr b="0" lang="fr-FR" sz="1800" spc="-1" strike="noStrike">
                <a:solidFill>
                  <a:srgbClr val="b5cea8"/>
                </a:solidFill>
                <a:latin typeface="Consolas"/>
                <a:ea typeface="Calibri"/>
              </a:rPr>
              <a:t>50</a:t>
            </a: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)   </a:t>
            </a:r>
            <a:r>
              <a:rPr b="0" lang="fr-FR" sz="1800" spc="-1" strike="noStrike">
                <a:solidFill>
                  <a:srgbClr val="569cd6"/>
                </a:solidFill>
                <a:latin typeface="Consolas"/>
                <a:ea typeface="Calibri"/>
              </a:rPr>
              <a:t>NOT NULL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90000"/>
              </a:lnSpc>
              <a:spcBef>
                <a:spcPts val="799"/>
              </a:spcBef>
              <a:buClr>
                <a:srgbClr val="2e7a40"/>
              </a:buClr>
              <a:buFont typeface="Arial"/>
              <a:buChar char="•"/>
            </a:pPr>
            <a:r>
              <a:rPr b="0" lang="fr-FR" sz="1800" spc="-1" strike="noStrike">
                <a:solidFill>
                  <a:srgbClr val="cccccc"/>
                </a:solidFill>
                <a:latin typeface="Consolas"/>
                <a:ea typeface="Calibri"/>
              </a:rPr>
              <a:t>);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ftr" idx="42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rgbClr val="9e9e9e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rgbClr val="9e9e9e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sldNum" idx="43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rgbClr val="9e9e9e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E8197D-50C6-4A95-A8BE-6D73D4E8DB8E}" type="slidenum">
              <a:rPr b="0" lang="fr" sz="900" spc="-1" strike="noStrike">
                <a:solidFill>
                  <a:srgbClr val="9e9e9e"/>
                </a:solidFill>
                <a:latin typeface="Calibri"/>
                <a:ea typeface="Calibri"/>
              </a:rPr>
              <a:t>7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1" name="Image 2" descr=""/>
          <p:cNvPicPr/>
          <p:nvPr/>
        </p:nvPicPr>
        <p:blipFill>
          <a:blip r:embed="rId1"/>
          <a:stretch/>
        </p:blipFill>
        <p:spPr>
          <a:xfrm>
            <a:off x="4298760" y="1241640"/>
            <a:ext cx="4688280" cy="344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389160" y="480600"/>
            <a:ext cx="468828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chemeClr val="accent1"/>
                </a:solidFill>
                <a:latin typeface="Calibri"/>
                <a:ea typeface="Calibri"/>
              </a:rPr>
              <a:t>Les requêtes ou screenshots qui permettent de démontrer le bon chargement des données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ftr" idx="44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rgbClr val="9e9e9e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rgbClr val="9e9e9e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45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rgbClr val="9e9e9e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7BAD78-62F5-4A23-A638-82F308268647}" type="slidenum">
              <a:rPr b="0" lang="fr" sz="900" spc="-1" strike="noStrike">
                <a:solidFill>
                  <a:srgbClr val="9e9e9e"/>
                </a:solidFill>
                <a:latin typeface="Calibri"/>
                <a:ea typeface="Calibri"/>
              </a:rPr>
              <a:t>7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5" name="Image 2" descr=""/>
          <p:cNvPicPr/>
          <p:nvPr/>
        </p:nvPicPr>
        <p:blipFill>
          <a:blip r:embed="rId1"/>
          <a:stretch/>
        </p:blipFill>
        <p:spPr>
          <a:xfrm>
            <a:off x="4305960" y="2157120"/>
            <a:ext cx="4513320" cy="1262160"/>
          </a:xfrm>
          <a:prstGeom prst="rect">
            <a:avLst/>
          </a:prstGeom>
          <a:ln w="0">
            <a:noFill/>
          </a:ln>
        </p:spPr>
      </p:pic>
      <p:pic>
        <p:nvPicPr>
          <p:cNvPr id="206" name="Image 6" descr=""/>
          <p:cNvPicPr/>
          <p:nvPr/>
        </p:nvPicPr>
        <p:blipFill>
          <a:blip r:embed="rId2"/>
          <a:stretch/>
        </p:blipFill>
        <p:spPr>
          <a:xfrm>
            <a:off x="253800" y="1481040"/>
            <a:ext cx="2878920" cy="1153440"/>
          </a:xfrm>
          <a:prstGeom prst="rect">
            <a:avLst/>
          </a:prstGeom>
          <a:ln w="0">
            <a:noFill/>
          </a:ln>
        </p:spPr>
      </p:pic>
      <p:pic>
        <p:nvPicPr>
          <p:cNvPr id="207" name="Image 8" descr=""/>
          <p:cNvPicPr/>
          <p:nvPr/>
        </p:nvPicPr>
        <p:blipFill>
          <a:blip r:embed="rId3"/>
          <a:stretch/>
        </p:blipFill>
        <p:spPr>
          <a:xfrm>
            <a:off x="253800" y="2903760"/>
            <a:ext cx="2916000" cy="1454040"/>
          </a:xfrm>
          <a:prstGeom prst="rect">
            <a:avLst/>
          </a:prstGeom>
          <a:ln w="0">
            <a:noFill/>
          </a:ln>
        </p:spPr>
      </p:pic>
      <p:pic>
        <p:nvPicPr>
          <p:cNvPr id="208" name="Image 10" descr=""/>
          <p:cNvPicPr/>
          <p:nvPr/>
        </p:nvPicPr>
        <p:blipFill>
          <a:blip r:embed="rId4"/>
          <a:stretch/>
        </p:blipFill>
        <p:spPr>
          <a:xfrm>
            <a:off x="4860000" y="555480"/>
            <a:ext cx="3502080" cy="1423800"/>
          </a:xfrm>
          <a:prstGeom prst="rect">
            <a:avLst/>
          </a:prstGeom>
          <a:ln w="0">
            <a:noFill/>
          </a:ln>
        </p:spPr>
      </p:pic>
      <p:pic>
        <p:nvPicPr>
          <p:cNvPr id="209" name="Image 12" descr=""/>
          <p:cNvPicPr/>
          <p:nvPr/>
        </p:nvPicPr>
        <p:blipFill>
          <a:blip r:embed="rId5"/>
          <a:stretch/>
        </p:blipFill>
        <p:spPr>
          <a:xfrm>
            <a:off x="5343120" y="3599640"/>
            <a:ext cx="2576160" cy="12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330;p41" descr=""/>
          <p:cNvPicPr/>
          <p:nvPr/>
        </p:nvPicPr>
        <p:blipFill>
          <a:blip r:embed="rId1"/>
          <a:srcRect l="20782" t="0" r="20782" b="0"/>
          <a:stretch/>
        </p:blipFill>
        <p:spPr>
          <a:xfrm>
            <a:off x="1262520" y="645840"/>
            <a:ext cx="3319920" cy="3851280"/>
          </a:xfrm>
          <a:prstGeom prst="rect">
            <a:avLst/>
          </a:prstGeom>
          <a:ln w="0">
            <a:noFill/>
          </a:ln>
        </p:spPr>
      </p:pic>
      <p:sp>
        <p:nvSpPr>
          <p:cNvPr id="211" name="Google Shape;331;p41"/>
          <p:cNvSpPr/>
          <p:nvPr/>
        </p:nvSpPr>
        <p:spPr>
          <a:xfrm rot="16200000">
            <a:off x="2009520" y="1792800"/>
            <a:ext cx="1808280" cy="155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712760" y="1490400"/>
            <a:ext cx="3682440" cy="13410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000" spc="-1" strike="noStrike">
                <a:solidFill>
                  <a:schemeClr val="accent1"/>
                </a:solidFill>
                <a:latin typeface="Calibri"/>
                <a:ea typeface="Calibri"/>
              </a:rPr>
              <a:t>Requêtes SQL et résultats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Google Shape;333;p41"/>
          <p:cNvSpPr/>
          <p:nvPr/>
        </p:nvSpPr>
        <p:spPr>
          <a:xfrm rot="16200000">
            <a:off x="2009520" y="1792800"/>
            <a:ext cx="1808280" cy="155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4712760" y="2844000"/>
            <a:ext cx="3682440" cy="6814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Les futurs possibilités de la base de données.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Google Shape;335;p41" descr="https://lh5.googleusercontent.com/TcdnvzxQ7ulQo8GiFwfIKujloK6EfAJv7ikP-EvnfdTVQnROS3WXw6XSx9Cpd73e_l7GCUAnbxroB-qlzG2fvYdCyl-Y5QZ95MpiD-GfDN-4taJyHRqsr3vOZzc3ONTBu52b0HIdUOMeHvdHiA_5tD0"/>
          <p:cNvPicPr/>
          <p:nvPr/>
        </p:nvPicPr>
        <p:blipFill>
          <a:blip r:embed="rId2"/>
          <a:srcRect l="11387" t="12668" r="63938" b="13980"/>
          <a:stretch/>
        </p:blipFill>
        <p:spPr>
          <a:xfrm>
            <a:off x="1979640" y="1607760"/>
            <a:ext cx="1800360" cy="177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1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ftr" idx="46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47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9B3317-1636-4615-9A5A-A0023860A25B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10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Nombre total d’appartements vendus au 1er semestre 2020.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Image 4" descr=""/>
          <p:cNvPicPr/>
          <p:nvPr/>
        </p:nvPicPr>
        <p:blipFill>
          <a:blip r:embed="rId1"/>
          <a:stretch/>
        </p:blipFill>
        <p:spPr>
          <a:xfrm>
            <a:off x="732240" y="3331080"/>
            <a:ext cx="2780280" cy="694080"/>
          </a:xfrm>
          <a:prstGeom prst="rect">
            <a:avLst/>
          </a:prstGeom>
          <a:ln w="0">
            <a:noFill/>
          </a:ln>
        </p:spPr>
      </p:pic>
      <p:sp>
        <p:nvSpPr>
          <p:cNvPr id="221" name="ZoneTexte 6"/>
          <p:cNvSpPr/>
          <p:nvPr/>
        </p:nvSpPr>
        <p:spPr>
          <a:xfrm>
            <a:off x="606240" y="1489320"/>
            <a:ext cx="60310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729fcf"/>
                </a:solidFill>
                <a:latin typeface="Consolas"/>
                <a:ea typeface="Arial"/>
              </a:rPr>
              <a:t>SELECT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729fcf"/>
                </a:solidFill>
                <a:latin typeface="Consolas"/>
                <a:ea typeface="Arial"/>
              </a:rPr>
              <a:t>COUNT(vente.id) AS nb_ventes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729fcf"/>
                </a:solidFill>
                <a:latin typeface="Consolas"/>
                <a:ea typeface="Arial"/>
              </a:rPr>
              <a:t>FROM vente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729fcf"/>
                </a:solidFill>
                <a:latin typeface="Consolas"/>
                <a:ea typeface="Arial"/>
              </a:rPr>
              <a:t>JOIN bien ON vente.id_bien = bien.id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729fcf"/>
                </a:solidFill>
                <a:latin typeface="Consolas"/>
                <a:ea typeface="Arial"/>
              </a:rPr>
              <a:t>WHERE date &gt;= '2020-01-01' AND date &lt;= '2020-06-30'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400" spc="-1" strike="noStrike">
                <a:solidFill>
                  <a:srgbClr val="729fcf"/>
                </a:solidFill>
                <a:latin typeface="Consolas"/>
                <a:ea typeface="Arial"/>
              </a:rPr>
              <a:t>AND bien.type_local = 'Appartement' 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2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sldNum" idx="48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7E38E0-FCAD-45DE-8FEF-A4E99AF335A8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11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Le nombre de ventes d’appartement par région pour le 1er semestre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2020.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ZoneTexte 6"/>
          <p:cNvSpPr/>
          <p:nvPr/>
        </p:nvSpPr>
        <p:spPr>
          <a:xfrm>
            <a:off x="253800" y="1738440"/>
            <a:ext cx="4574160" cy="24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SELECT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COUNT(vente.id) AS nb_ventes,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region.nom AS region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FROM vente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bien ON vente.id_bien = bien.id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commune ON bien.code_dep_code_com = commune.code_dep_code_com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departement ON commune.id_dep = departement.id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region ON departement.id_region = region.id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WHERE date &gt;= '2020-01-01' AND date &lt;= '2020-06-30'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AND bien.type_local = 'Appartement'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GROUP BY region.nom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ORDER BY nb_ventes DESC;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Image 8" descr=""/>
          <p:cNvPicPr/>
          <p:nvPr/>
        </p:nvPicPr>
        <p:blipFill>
          <a:blip r:embed="rId1"/>
          <a:stretch/>
        </p:blipFill>
        <p:spPr>
          <a:xfrm>
            <a:off x="5091840" y="1573560"/>
            <a:ext cx="3389040" cy="313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3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ftr" idx="49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50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145C40-5ECD-4C8C-B7C2-92692EE06570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12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Proportion des ventes d’appartements par le nombre de pièces.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ZoneTexte 2"/>
          <p:cNvSpPr/>
          <p:nvPr/>
        </p:nvSpPr>
        <p:spPr>
          <a:xfrm>
            <a:off x="306000" y="1857240"/>
            <a:ext cx="46076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SELECT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bien.nb_pieces AS nb_pieces,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ROUND(COUNT(CASE WHEN bien.type_local = 'Appartement' THEN 1 END) *100.00 / COUNT(vente.id), 2) AS proportion_appartements_pourc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FROM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vente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bien ON vente.id_bien = bien.id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GROUP BY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bien.nb_pieces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ORDER BY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bien.nb_pieces DESC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2" name="Image 3" descr=""/>
          <p:cNvPicPr/>
          <p:nvPr/>
        </p:nvPicPr>
        <p:blipFill>
          <a:blip r:embed="rId1"/>
          <a:stretch/>
        </p:blipFill>
        <p:spPr>
          <a:xfrm>
            <a:off x="5288400" y="1504440"/>
            <a:ext cx="3418560" cy="276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4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ftr" idx="51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52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3ED0B5-B760-43F3-AE6A-A45B2432CA68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Liste des 10 départements où le prix du mètre carré est le plus élevé.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ZoneTexte 4"/>
          <p:cNvSpPr/>
          <p:nvPr/>
        </p:nvSpPr>
        <p:spPr>
          <a:xfrm>
            <a:off x="464760" y="1558440"/>
            <a:ext cx="4574160" cy="24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SELECT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ROUND(AVG(vente.valeur/bien.surface_carrez), 2) AS prix_m2,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departement.nom AS departement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FROM vente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bien ON vente.id_bien = bien.id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commune ON bien.code_dep_code_com = commune.code_dep_code_com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departement ON commune.id_dep = departement.id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WHERE vente.valeur != ''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AND bien.surface_carrez != 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GROUP BY departement.nom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ORDER BY prix_m2 DESC LIMIT 10;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8" name="Image 2" descr=""/>
          <p:cNvPicPr/>
          <p:nvPr/>
        </p:nvPicPr>
        <p:blipFill>
          <a:blip r:embed="rId1"/>
          <a:stretch/>
        </p:blipFill>
        <p:spPr>
          <a:xfrm>
            <a:off x="5493960" y="1767240"/>
            <a:ext cx="2056320" cy="234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5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ftr" idx="53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54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559C37-F1A0-48D9-830E-39270A88BAF9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Prix moyen du mètre carré d’une maison en Île-de-France.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ZoneTexte 4"/>
          <p:cNvSpPr/>
          <p:nvPr/>
        </p:nvSpPr>
        <p:spPr>
          <a:xfrm>
            <a:off x="389160" y="1504440"/>
            <a:ext cx="4574160" cy="29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SELECT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region.nom AS region,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ROUND(AVG(vente.valeur / bien.surface_carrez), 2) AS prix_moyen_m2_maison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FROM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vente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bien ON vente.id_bien = bien.id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commune ON bien.code_dep_code_com = commune.code_dep_code_com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departement ON commune.id_dep = departement.id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region ON departement.id_region = region.id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WHERE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region.nom = 'Ile-de-France'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AND bien.type_local = 'Maison'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AND vente.valeur != ''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AND bien.surface_carrez != 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GROUP BY region.nom;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" name="Image 2" descr=""/>
          <p:cNvPicPr/>
          <p:nvPr/>
        </p:nvPicPr>
        <p:blipFill>
          <a:blip r:embed="rId1"/>
          <a:stretch/>
        </p:blipFill>
        <p:spPr>
          <a:xfrm>
            <a:off x="5099400" y="2571840"/>
            <a:ext cx="2875680" cy="4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6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ldNum" idx="55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FF92A2-A770-40F7-8C92-22D17EA55183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Liste des 10 appartements les plus chers avec la région et le nombre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de mètres carrés.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ZoneTexte 2"/>
          <p:cNvSpPr/>
          <p:nvPr/>
        </p:nvSpPr>
        <p:spPr>
          <a:xfrm>
            <a:off x="360000" y="1793160"/>
            <a:ext cx="4574160" cy="25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SELECT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valeur,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bien.surface_carrez,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region.nom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FROM vente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bien ON vente.id_bien = bien.id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commune ON bien.code_dep_code_com = commune.code_dep_code_com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departement ON commune.id_dep = departement.id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region ON departement.id_region = region.id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WHERE vente.valeur != ''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ORDER BY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valeur DESC LIMIT 10;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000"/>
            </a:b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" name="Image 4" descr=""/>
          <p:cNvPicPr/>
          <p:nvPr/>
        </p:nvPicPr>
        <p:blipFill>
          <a:blip r:embed="rId1"/>
          <a:stretch/>
        </p:blipFill>
        <p:spPr>
          <a:xfrm>
            <a:off x="4789080" y="1672560"/>
            <a:ext cx="3847320" cy="298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7 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ftr" idx="56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57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4CD72D-9EBB-4501-8D7F-82B86B04AC45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Taux d’évolution du nombre de ventes entre le premier et le second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trimestre de 2020.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ZoneTexte 2"/>
          <p:cNvSpPr/>
          <p:nvPr/>
        </p:nvSpPr>
        <p:spPr>
          <a:xfrm>
            <a:off x="389160" y="1726200"/>
            <a:ext cx="4574160" cy="27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SELECT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ROUND((deuxieme_trimestre.nb_ventes - premier_trimestre.nb_ventes)*100.0 / premier_trimestre.nb_ventes, 2)  AS taux_evolution_en_pourcent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FROM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  </a:t>
            </a: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( SELECT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        </a:t>
            </a: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COUNT(vente.id) AS nb_ventes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        </a:t>
            </a: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FROM vente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        </a:t>
            </a: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WHERE date &lt; '2020-04-01')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    </a:t>
            </a: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AS premier_trimestre,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  </a:t>
            </a: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( SELECT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        </a:t>
            </a: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COUNT(vente.id) AS nb_ventes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        </a:t>
            </a: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FROM vente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        </a:t>
            </a: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WHERE date &gt;= '2020-04-01')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    </a:t>
            </a:r>
            <a:r>
              <a:rPr b="0" lang="fr-FR" sz="1100" spc="-1" strike="noStrike">
                <a:solidFill>
                  <a:srgbClr val="729fcf"/>
                </a:solidFill>
                <a:latin typeface="Consolas"/>
                <a:ea typeface="Arial"/>
              </a:rPr>
              <a:t>AS deuxieme_trimestre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5" name="Image 4" descr=""/>
          <p:cNvPicPr/>
          <p:nvPr/>
        </p:nvPicPr>
        <p:blipFill>
          <a:blip r:embed="rId1"/>
          <a:stretch/>
        </p:blipFill>
        <p:spPr>
          <a:xfrm>
            <a:off x="4483080" y="2516400"/>
            <a:ext cx="3113640" cy="60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8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ftr" idx="58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59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FD1376-0CF5-459A-A443-511D587C5AD0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Le classement des régions par rapport au prix au mètre carré des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appartement de plus de 4 pièces.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ZoneTexte 2"/>
          <p:cNvSpPr/>
          <p:nvPr/>
        </p:nvSpPr>
        <p:spPr>
          <a:xfrm>
            <a:off x="253800" y="1661400"/>
            <a:ext cx="4574160" cy="27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SELECT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region.nom AS region,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ROUND(AVG(vente.valeur / bien.surface_carrez), 2) AS prix_moyen_m2_appartement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FROM vente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bien ON vente.id_bien = bien.id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commune ON bien.code_dep_code_com = commune.code_dep_code_com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departement ON commune.id_dep = departement.id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region ON departement.id_region = region.id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WHERE bien.nb_pieces &gt; 4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AND bien.type_local = 'Appartement'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AND vente.valeur != ''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AND bien.surface_carrez != 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GROUP BY region.nom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ORDER BY prix_moyen_m2_appartement DESC;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1" name="Image 3" descr=""/>
          <p:cNvPicPr/>
          <p:nvPr/>
        </p:nvPicPr>
        <p:blipFill>
          <a:blip r:embed="rId1"/>
          <a:stretch/>
        </p:blipFill>
        <p:spPr>
          <a:xfrm>
            <a:off x="4897080" y="1661400"/>
            <a:ext cx="3481920" cy="279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9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ftr" idx="60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61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68F527-A71F-4942-AC2E-E5CD7437B4FF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Liste des communes ayant eu au moins 50 ventes au 1er trimestre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ZoneTexte 2"/>
          <p:cNvSpPr/>
          <p:nvPr/>
        </p:nvSpPr>
        <p:spPr>
          <a:xfrm>
            <a:off x="253800" y="1530360"/>
            <a:ext cx="45741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SELECT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commune.nom,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COUNT(vente.id) AS nb_ventes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FROM vente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bien ON vente.id_bien = bien.id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JOIN commune ON bien.code_dep_code_com = commune.code_dep_code_com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WHERE vente.date &lt; '2020-04-01'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AND vente.date &gt;= '2020-01-01'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GROUP BY commune.code_dep_code_com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HAVING COUNT(vente.id) &gt;= 50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569cd6"/>
                </a:solidFill>
                <a:latin typeface="Consolas"/>
                <a:ea typeface="Arial"/>
              </a:rPr>
              <a:t>ORDER BY nb_ventes DESC;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Image 3" descr=""/>
          <p:cNvPicPr/>
          <p:nvPr/>
        </p:nvPicPr>
        <p:blipFill>
          <a:blip r:embed="rId1"/>
          <a:stretch/>
        </p:blipFill>
        <p:spPr>
          <a:xfrm>
            <a:off x="4947840" y="1416600"/>
            <a:ext cx="2480040" cy="2016000"/>
          </a:xfrm>
          <a:prstGeom prst="rect">
            <a:avLst/>
          </a:prstGeom>
          <a:ln w="0">
            <a:noFill/>
          </a:ln>
        </p:spPr>
      </p:pic>
      <p:pic>
        <p:nvPicPr>
          <p:cNvPr id="268" name="Image 5" descr=""/>
          <p:cNvPicPr/>
          <p:nvPr/>
        </p:nvPicPr>
        <p:blipFill>
          <a:blip r:embed="rId2"/>
          <a:stretch/>
        </p:blipFill>
        <p:spPr>
          <a:xfrm>
            <a:off x="4947840" y="3484800"/>
            <a:ext cx="2480040" cy="82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10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ftr" idx="62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63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6F28AC-EB24-4D53-A30D-F2E16C839C40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Différence en pourcentage du prix au mètre carré entre un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appartement de 2 pièces et un appartement de 3 pièces.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ZoneTexte 2"/>
          <p:cNvSpPr/>
          <p:nvPr/>
        </p:nvSpPr>
        <p:spPr>
          <a:xfrm>
            <a:off x="325800" y="1669320"/>
            <a:ext cx="4747320" cy="276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SELECT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ROUND(((t3.prix_moyen - t2.prix_moyen) / t2.prix_moyen) * 100,00, 2) AS difference_pourcentage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FROM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(SELECT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ROUND(AVG(vente.valeur / bien.surface_carrez), 2) AS prix_moyen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FROM vente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JOIN bien ON vente.id_bien = bien.id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WHERE bien.type_local = 'Appartement'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AND bien.nb_pieces = 2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AND vente.valeur != ''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AND bien.surface_carrez != 0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) AS t2,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(SELECT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ROUND(AVG(vente.valeur / bien.surface_carrez), 2) AS prix_moyen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FROM vente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JOIN bien ON vente.id_bien = bien.id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WHERE bien.type_local = 'Appartement'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AND bien.nb_pieces = 3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AND vente.valeur != ''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AND bien.surface_carrez != 0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800" spc="-1" strike="noStrike">
                <a:solidFill>
                  <a:srgbClr val="569cd6"/>
                </a:solidFill>
                <a:latin typeface="Consolas"/>
                <a:ea typeface="Arial"/>
              </a:rPr>
              <a:t>) AS t3;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4" name="Image 3" descr=""/>
          <p:cNvPicPr/>
          <p:nvPr/>
        </p:nvPicPr>
        <p:blipFill>
          <a:blip r:embed="rId1"/>
          <a:stretch/>
        </p:blipFill>
        <p:spPr>
          <a:xfrm>
            <a:off x="5638680" y="2796120"/>
            <a:ext cx="1999080" cy="45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11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ldNum" idx="64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66249B-CEF3-4EEC-ABBD-69A406167774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Les moyennes de valeurs foncières pour le top 3 des communes des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départements 6, 13, 33, 59 et 69.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ZoneTexte 4"/>
          <p:cNvSpPr/>
          <p:nvPr/>
        </p:nvSpPr>
        <p:spPr>
          <a:xfrm>
            <a:off x="389160" y="1672200"/>
            <a:ext cx="4264560" cy="25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SELECT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id,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departement,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commune,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moyenne_valeur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FROM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(SELECT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departement.id AS id,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departement.nom AS departement,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commune.nom AS commune,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ROUND(AVG(valeur), 2) AS moyenne_valeur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FROM vente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JOIN bien ON vente.id_bien = bien.id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JOIN commune ON bien.code_dep_code_com = commune.code_dep_code_com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JOIN departement ON commune.id_dep = departement.id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WHERE departement.id = '6'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GROUP BY departement.id,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commune.nom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ORDER BY moyenne_valeur DESC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LIMIT 3)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UNION 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(même requête pour chaque département:13, 33, 59, 69)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ORDER BY moyenne_valeur</a:t>
            </a:r>
            <a:r>
              <a:rPr b="0" lang="fr-FR" sz="700" spc="-1" strike="noStrike">
                <a:solidFill>
                  <a:srgbClr val="cccccc"/>
                </a:solidFill>
                <a:latin typeface="Consolas"/>
                <a:ea typeface="Arial"/>
              </a:rPr>
              <a:t> </a:t>
            </a:r>
            <a:r>
              <a:rPr b="0" lang="fr-FR" sz="700" spc="-1" strike="noStrike">
                <a:solidFill>
                  <a:srgbClr val="569cd6"/>
                </a:solidFill>
                <a:latin typeface="Consolas"/>
                <a:ea typeface="Arial"/>
              </a:rPr>
              <a:t>DESC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Image 3" descr=""/>
          <p:cNvPicPr/>
          <p:nvPr/>
        </p:nvPicPr>
        <p:blipFill>
          <a:blip r:embed="rId1"/>
          <a:stretch/>
        </p:blipFill>
        <p:spPr>
          <a:xfrm>
            <a:off x="4500000" y="1504440"/>
            <a:ext cx="4264560" cy="292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389160" y="156600"/>
            <a:ext cx="6248520" cy="859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" sz="3300" spc="-1" strike="noStrike">
                <a:solidFill>
                  <a:schemeClr val="accent1"/>
                </a:solidFill>
                <a:latin typeface="Calibri"/>
                <a:ea typeface="Calibri"/>
              </a:rPr>
              <a:t>Requête 12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ftr" idx="65"/>
          </p:nvPr>
        </p:nvSpPr>
        <p:spPr>
          <a:xfrm>
            <a:off x="253800" y="4767120"/>
            <a:ext cx="308484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Ajouter un pied de page</a:t>
            </a:r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66"/>
          </p:nvPr>
        </p:nvSpPr>
        <p:spPr>
          <a:xfrm>
            <a:off x="8360280" y="4767120"/>
            <a:ext cx="553680" cy="2725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900" spc="-1" strike="noStrike">
                <a:solidFill>
                  <a:schemeClr val="lt2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A3B390-9284-4773-98F0-DA576D60FADD}" type="slidenum">
              <a:rPr b="0" lang="fr" sz="900" spc="-1" strike="noStrike">
                <a:solidFill>
                  <a:schemeClr val="lt2"/>
                </a:solidFill>
                <a:latin typeface="Calibri"/>
                <a:ea typeface="Calibri"/>
              </a:rPr>
              <a:t>&lt;numéro&gt;</a:t>
            </a:fld>
            <a:endParaRPr b="0" lang="fr-F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390240" y="1032840"/>
            <a:ext cx="5524920" cy="4554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Les 20 communes avec le plus de transactions pour 1000 habitants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chemeClr val="accent6"/>
                </a:solidFill>
                <a:latin typeface="Calibri"/>
                <a:ea typeface="Calibri"/>
              </a:rPr>
              <a:t>pour les communes qui dépassent les 10 000 habitants.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ZoneTexte 2"/>
          <p:cNvSpPr/>
          <p:nvPr/>
        </p:nvSpPr>
        <p:spPr>
          <a:xfrm>
            <a:off x="389160" y="1771920"/>
            <a:ext cx="3225600" cy="23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569cd6"/>
                </a:solidFill>
                <a:latin typeface="Consolas"/>
                <a:ea typeface="Arial"/>
              </a:rPr>
              <a:t>SELECT 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569cd6"/>
                </a:solidFill>
                <a:latin typeface="Consolas"/>
                <a:ea typeface="Arial"/>
              </a:rPr>
              <a:t>commune.code_dep_code_com,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569cd6"/>
                </a:solidFill>
                <a:latin typeface="Consolas"/>
                <a:ea typeface="Arial"/>
              </a:rPr>
              <a:t>commune.nom as commune,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569cd6"/>
                </a:solidFill>
                <a:latin typeface="Consolas"/>
                <a:ea typeface="Arial"/>
              </a:rPr>
              <a:t>ROUND(COUNT(vente.id) / (commune.population/1000.00), 2) AS transactions_pour_1000_hab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569cd6"/>
                </a:solidFill>
                <a:latin typeface="Consolas"/>
                <a:ea typeface="Arial"/>
              </a:rPr>
              <a:t>FROM vente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569cd6"/>
                </a:solidFill>
                <a:latin typeface="Consolas"/>
                <a:ea typeface="Arial"/>
              </a:rPr>
              <a:t>JOIN bien ON vente.id_bien = bien.id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569cd6"/>
                </a:solidFill>
                <a:latin typeface="Consolas"/>
                <a:ea typeface="Arial"/>
              </a:rPr>
              <a:t>JOIN commune ON bien.code_dep_code_com = commune.code_dep_code_com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569cd6"/>
                </a:solidFill>
                <a:latin typeface="Consolas"/>
                <a:ea typeface="Arial"/>
              </a:rPr>
              <a:t>WHERE commune.population &gt;= 10000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569cd6"/>
                </a:solidFill>
                <a:latin typeface="Consolas"/>
                <a:ea typeface="Arial"/>
              </a:rPr>
              <a:t>GROUP BY commune.code_dep_code_com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569cd6"/>
                </a:solidFill>
                <a:latin typeface="Consolas"/>
                <a:ea typeface="Arial"/>
              </a:rPr>
              <a:t>ORDER BY transactions_pour_1000_hab DESC LIMIT 20;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" name="Image 4" descr=""/>
          <p:cNvPicPr/>
          <p:nvPr/>
        </p:nvPicPr>
        <p:blipFill>
          <a:blip r:embed="rId1"/>
          <a:stretch/>
        </p:blipFill>
        <p:spPr>
          <a:xfrm>
            <a:off x="4662000" y="1705320"/>
            <a:ext cx="4219200" cy="330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351;p43" descr=""/>
          <p:cNvPicPr/>
          <p:nvPr/>
        </p:nvPicPr>
        <p:blipFill>
          <a:blip r:embed="rId1"/>
          <a:srcRect l="20780" t="0" r="20780" b="0"/>
          <a:stretch/>
        </p:blipFill>
        <p:spPr>
          <a:xfrm>
            <a:off x="1262520" y="645840"/>
            <a:ext cx="3319920" cy="3851280"/>
          </a:xfrm>
          <a:prstGeom prst="rect">
            <a:avLst/>
          </a:prstGeom>
          <a:ln w="0">
            <a:noFill/>
          </a:ln>
        </p:spPr>
      </p:pic>
      <p:sp>
        <p:nvSpPr>
          <p:cNvPr id="287" name="Google Shape;352;p43"/>
          <p:cNvSpPr/>
          <p:nvPr/>
        </p:nvSpPr>
        <p:spPr>
          <a:xfrm rot="16200000">
            <a:off x="2009520" y="1792800"/>
            <a:ext cx="1808280" cy="15588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781880" y="1504440"/>
            <a:ext cx="3638880" cy="1210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fr" sz="3200" spc="-1" strike="noStrike">
                <a:solidFill>
                  <a:schemeClr val="accent1"/>
                </a:solidFill>
                <a:latin typeface="Calibri"/>
                <a:ea typeface="Calibri"/>
              </a:rPr>
              <a:t>Merci !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Google Shape;354;p43" descr="https://lh5.googleusercontent.com/TcdnvzxQ7ulQo8GiFwfIKujloK6EfAJv7ikP-EvnfdTVQnROS3WXw6XSx9Cpd73e_l7GCUAnbxroB-qlzG2fvYdCyl-Y5QZ95MpiD-GfDN-4taJyHRqsr3vOZzc3ONTBu52b0HIdUOMeHvdHiA_5tD0"/>
          <p:cNvPicPr/>
          <p:nvPr/>
        </p:nvPicPr>
        <p:blipFill>
          <a:blip r:embed="rId2"/>
          <a:srcRect l="11387" t="12668" r="63938" b="13980"/>
          <a:stretch/>
        </p:blipFill>
        <p:spPr>
          <a:xfrm>
            <a:off x="1980000" y="1578240"/>
            <a:ext cx="1800360" cy="177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895</TotalTime>
  <Application>LibreOffice/24.2.7.2$Linux_X86_64 LibreOffice_project/420$Build-2</Application>
  <AppVersion>15.0000</AppVersion>
  <Words>2142</Words>
  <Paragraphs>348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dcterms:modified xsi:type="dcterms:W3CDTF">2026-03-03T10:55:12Z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Affichage à l'écran (16:9)</vt:lpwstr>
  </property>
  <property fmtid="{D5CDD505-2E9C-101B-9397-08002B2CF9AE}" pid="4" name="Slides">
    <vt:i4>22</vt:i4>
  </property>
</Properties>
</file>