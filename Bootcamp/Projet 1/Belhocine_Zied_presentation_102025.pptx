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8_D5A02896.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omments/modernComment_10F_277180FC.xml" ContentType="application/vnd.ms-powerpoint.comment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1.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2.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63" r:id="rId4"/>
    <p:sldId id="264" r:id="rId5"/>
    <p:sldId id="271" r:id="rId6"/>
    <p:sldId id="266" r:id="rId7"/>
    <p:sldId id="273" r:id="rId8"/>
    <p:sldId id="274" r:id="rId9"/>
    <p:sldId id="267" r:id="rId10"/>
    <p:sldId id="268" r:id="rId11"/>
    <p:sldId id="275" r:id="rId12"/>
    <p:sldId id="270" r:id="rId13"/>
    <p:sldId id="269" r:id="rId14"/>
  </p:sldIdLst>
  <p:sldSz cx="9144000" cy="5143500" type="screen16x9"/>
  <p:notesSz cx="6858000" cy="9144000"/>
  <p:embeddedFontLst>
    <p:embeddedFont>
      <p:font typeface="Maven Pro" panose="020B0604020202020204" charset="0"/>
      <p:regular r:id="rId16"/>
      <p:bold r:id="rId17"/>
    </p:embeddedFont>
    <p:embeddedFont>
      <p:font typeface="Nunito" pitchFamily="2" charset="0"/>
      <p:regular r:id="rId18"/>
      <p:bold r:id="rId19"/>
      <p:italic r:id="rId20"/>
      <p:boldItalic r:id="rId21"/>
    </p:embeddedFont>
    <p:embeddedFont>
      <p:font typeface="Segoe UI" panose="020B0502040204020203"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18D156F-5E08-802C-3708-173A42C7959F}" name="Zied Belhocine" initials="ZB" userId="200cc0e2b299676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F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667" autoAdjust="0"/>
  </p:normalViewPr>
  <p:slideViewPr>
    <p:cSldViewPr snapToGrid="0">
      <p:cViewPr varScale="1">
        <p:scale>
          <a:sx n="182" d="100"/>
          <a:sy n="182" d="100"/>
        </p:scale>
        <p:origin x="312" y="15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ied Belhocine" userId="200cc0e2b299676e" providerId="LiveId" clId="{C38E24E7-70BC-4249-97BD-2C6836143E24}"/>
    <pc:docChg chg="undo custSel addSld modSld">
      <pc:chgData name="Zied Belhocine" userId="200cc0e2b299676e" providerId="LiveId" clId="{C38E24E7-70BC-4249-97BD-2C6836143E24}" dt="2025-10-10T09:30:30.135" v="2153" actId="20577"/>
      <pc:docMkLst>
        <pc:docMk/>
      </pc:docMkLst>
      <pc:sldChg chg="modSp mod">
        <pc:chgData name="Zied Belhocine" userId="200cc0e2b299676e" providerId="LiveId" clId="{C38E24E7-70BC-4249-97BD-2C6836143E24}" dt="2025-10-10T09:26:09.287" v="2100" actId="113"/>
        <pc:sldMkLst>
          <pc:docMk/>
          <pc:sldMk cId="0" sldId="257"/>
        </pc:sldMkLst>
        <pc:graphicFrameChg chg="mod modGraphic">
          <ac:chgData name="Zied Belhocine" userId="200cc0e2b299676e" providerId="LiveId" clId="{C38E24E7-70BC-4249-97BD-2C6836143E24}" dt="2025-10-10T09:26:09.287" v="2100" actId="113"/>
          <ac:graphicFrameMkLst>
            <pc:docMk/>
            <pc:sldMk cId="0" sldId="257"/>
            <ac:graphicFrameMk id="2" creationId="{E41F5552-BCA8-93D4-6592-F370CF9804BA}"/>
          </ac:graphicFrameMkLst>
        </pc:graphicFrameChg>
      </pc:sldChg>
      <pc:sldChg chg="modSp mod">
        <pc:chgData name="Zied Belhocine" userId="200cc0e2b299676e" providerId="LiveId" clId="{C38E24E7-70BC-4249-97BD-2C6836143E24}" dt="2025-10-08T15:27:28.776" v="153" actId="20577"/>
        <pc:sldMkLst>
          <pc:docMk/>
          <pc:sldMk cId="2970488053" sldId="263"/>
        </pc:sldMkLst>
        <pc:spChg chg="mod">
          <ac:chgData name="Zied Belhocine" userId="200cc0e2b299676e" providerId="LiveId" clId="{C38E24E7-70BC-4249-97BD-2C6836143E24}" dt="2025-10-08T15:27:28.776" v="153" actId="20577"/>
          <ac:spMkLst>
            <pc:docMk/>
            <pc:sldMk cId="2970488053" sldId="263"/>
            <ac:spMk id="284" creationId="{00000000-0000-0000-0000-000000000000}"/>
          </ac:spMkLst>
        </pc:spChg>
      </pc:sldChg>
      <pc:sldChg chg="modSp mod modNotesTx">
        <pc:chgData name="Zied Belhocine" userId="200cc0e2b299676e" providerId="LiveId" clId="{C38E24E7-70BC-4249-97BD-2C6836143E24}" dt="2025-10-10T08:59:42.060" v="1809" actId="20577"/>
        <pc:sldMkLst>
          <pc:docMk/>
          <pc:sldMk cId="3584043158" sldId="264"/>
        </pc:sldMkLst>
        <pc:graphicFrameChg chg="mod">
          <ac:chgData name="Zied Belhocine" userId="200cc0e2b299676e" providerId="LiveId" clId="{C38E24E7-70BC-4249-97BD-2C6836143E24}" dt="2025-10-10T08:59:31.134" v="1807" actId="692"/>
          <ac:graphicFrameMkLst>
            <pc:docMk/>
            <pc:sldMk cId="3584043158" sldId="264"/>
            <ac:graphicFrameMk id="4" creationId="{CBA28111-8194-42F8-A969-40EEEBFC0556}"/>
          </ac:graphicFrameMkLst>
        </pc:graphicFrameChg>
      </pc:sldChg>
      <pc:sldChg chg="modNotesTx">
        <pc:chgData name="Zied Belhocine" userId="200cc0e2b299676e" providerId="LiveId" clId="{C38E24E7-70BC-4249-97BD-2C6836143E24}" dt="2025-10-09T07:20:35.481" v="380" actId="20577"/>
        <pc:sldMkLst>
          <pc:docMk/>
          <pc:sldMk cId="1399577604" sldId="266"/>
        </pc:sldMkLst>
      </pc:sldChg>
      <pc:sldChg chg="modNotesTx">
        <pc:chgData name="Zied Belhocine" userId="200cc0e2b299676e" providerId="LiveId" clId="{C38E24E7-70BC-4249-97BD-2C6836143E24}" dt="2025-10-09T07:33:19.603" v="850" actId="20577"/>
        <pc:sldMkLst>
          <pc:docMk/>
          <pc:sldMk cId="3624228013" sldId="267"/>
        </pc:sldMkLst>
      </pc:sldChg>
      <pc:sldChg chg="addSp delSp modSp mod modNotesTx">
        <pc:chgData name="Zied Belhocine" userId="200cc0e2b299676e" providerId="LiveId" clId="{C38E24E7-70BC-4249-97BD-2C6836143E24}" dt="2025-10-10T09:16:26.724" v="1846" actId="20577"/>
        <pc:sldMkLst>
          <pc:docMk/>
          <pc:sldMk cId="1653014988" sldId="268"/>
        </pc:sldMkLst>
        <pc:graphicFrameChg chg="del mod">
          <ac:chgData name="Zied Belhocine" userId="200cc0e2b299676e" providerId="LiveId" clId="{C38E24E7-70BC-4249-97BD-2C6836143E24}" dt="2025-10-10T09:09:00.156" v="1816" actId="478"/>
          <ac:graphicFrameMkLst>
            <pc:docMk/>
            <pc:sldMk cId="1653014988" sldId="268"/>
            <ac:graphicFrameMk id="2" creationId="{C12DF7F1-BF59-0857-BBF2-822D1469F308}"/>
          </ac:graphicFrameMkLst>
        </pc:graphicFrameChg>
        <pc:graphicFrameChg chg="add mod">
          <ac:chgData name="Zied Belhocine" userId="200cc0e2b299676e" providerId="LiveId" clId="{C38E24E7-70BC-4249-97BD-2C6836143E24}" dt="2025-10-10T09:09:40.834" v="1827" actId="108"/>
          <ac:graphicFrameMkLst>
            <pc:docMk/>
            <pc:sldMk cId="1653014988" sldId="268"/>
            <ac:graphicFrameMk id="4" creationId="{67D3F35A-4EC1-3185-5D69-389E81B565BB}"/>
          </ac:graphicFrameMkLst>
        </pc:graphicFrameChg>
        <pc:graphicFrameChg chg="add mod">
          <ac:chgData name="Zied Belhocine" userId="200cc0e2b299676e" providerId="LiveId" clId="{C38E24E7-70BC-4249-97BD-2C6836143E24}" dt="2025-10-10T09:09:12.310" v="1820"/>
          <ac:graphicFrameMkLst>
            <pc:docMk/>
            <pc:sldMk cId="1653014988" sldId="268"/>
            <ac:graphicFrameMk id="5" creationId="{67D3F35A-4EC1-3185-5D69-389E81B565BB}"/>
          </ac:graphicFrameMkLst>
        </pc:graphicFrameChg>
      </pc:sldChg>
      <pc:sldChg chg="modSp mod">
        <pc:chgData name="Zied Belhocine" userId="200cc0e2b299676e" providerId="LiveId" clId="{C38E24E7-70BC-4249-97BD-2C6836143E24}" dt="2025-10-09T07:47:46.396" v="1735" actId="20577"/>
        <pc:sldMkLst>
          <pc:docMk/>
          <pc:sldMk cId="1864044771" sldId="269"/>
        </pc:sldMkLst>
        <pc:spChg chg="mod">
          <ac:chgData name="Zied Belhocine" userId="200cc0e2b299676e" providerId="LiveId" clId="{C38E24E7-70BC-4249-97BD-2C6836143E24}" dt="2025-10-09T07:47:46.396" v="1735" actId="20577"/>
          <ac:spMkLst>
            <pc:docMk/>
            <pc:sldMk cId="1864044771" sldId="269"/>
            <ac:spMk id="284" creationId="{00000000-0000-0000-0000-000000000000}"/>
          </ac:spMkLst>
        </pc:spChg>
      </pc:sldChg>
      <pc:sldChg chg="addSp delSp modSp mod modNotesTx">
        <pc:chgData name="Zied Belhocine" userId="200cc0e2b299676e" providerId="LiveId" clId="{C38E24E7-70BC-4249-97BD-2C6836143E24}" dt="2025-10-10T09:30:30.135" v="2153" actId="20577"/>
        <pc:sldMkLst>
          <pc:docMk/>
          <pc:sldMk cId="2891126051" sldId="270"/>
        </pc:sldMkLst>
        <pc:graphicFrameChg chg="del mod">
          <ac:chgData name="Zied Belhocine" userId="200cc0e2b299676e" providerId="LiveId" clId="{C38E24E7-70BC-4249-97BD-2C6836143E24}" dt="2025-10-10T09:15:30.167" v="1829" actId="478"/>
          <ac:graphicFrameMkLst>
            <pc:docMk/>
            <pc:sldMk cId="2891126051" sldId="270"/>
            <ac:graphicFrameMk id="2" creationId="{F2D0846C-1A4D-2F71-52D0-2584B757BAC3}"/>
          </ac:graphicFrameMkLst>
        </pc:graphicFrameChg>
        <pc:graphicFrameChg chg="add del mod">
          <ac:chgData name="Zied Belhocine" userId="200cc0e2b299676e" providerId="LiveId" clId="{C38E24E7-70BC-4249-97BD-2C6836143E24}" dt="2025-10-10T09:20:59.254" v="1922" actId="478"/>
          <ac:graphicFrameMkLst>
            <pc:docMk/>
            <pc:sldMk cId="2891126051" sldId="270"/>
            <ac:graphicFrameMk id="4" creationId="{9211DDF7-0091-CEB9-537F-97E6CE3FEF5B}"/>
          </ac:graphicFrameMkLst>
        </pc:graphicFrameChg>
        <pc:graphicFrameChg chg="add mod">
          <ac:chgData name="Zied Belhocine" userId="200cc0e2b299676e" providerId="LiveId" clId="{C38E24E7-70BC-4249-97BD-2C6836143E24}" dt="2025-10-10T09:29:23.152" v="2136" actId="113"/>
          <ac:graphicFrameMkLst>
            <pc:docMk/>
            <pc:sldMk cId="2891126051" sldId="270"/>
            <ac:graphicFrameMk id="5" creationId="{62C2E260-B504-B849-7F41-EB415BFA8C33}"/>
          </ac:graphicFrameMkLst>
        </pc:graphicFrameChg>
      </pc:sldChg>
      <pc:sldChg chg="modNotesTx">
        <pc:chgData name="Zied Belhocine" userId="200cc0e2b299676e" providerId="LiveId" clId="{C38E24E7-70BC-4249-97BD-2C6836143E24}" dt="2025-10-09T07:17:28.211" v="311"/>
        <pc:sldMkLst>
          <pc:docMk/>
          <pc:sldMk cId="661750012" sldId="271"/>
        </pc:sldMkLst>
      </pc:sldChg>
      <pc:sldChg chg="addSp delSp mod modNotesTx">
        <pc:chgData name="Zied Belhocine" userId="200cc0e2b299676e" providerId="LiveId" clId="{C38E24E7-70BC-4249-97BD-2C6836143E24}" dt="2025-10-09T07:26:31.561" v="421" actId="20577"/>
        <pc:sldMkLst>
          <pc:docMk/>
          <pc:sldMk cId="2253101041" sldId="273"/>
        </pc:sldMkLst>
        <pc:spChg chg="add del">
          <ac:chgData name="Zied Belhocine" userId="200cc0e2b299676e" providerId="LiveId" clId="{C38E24E7-70BC-4249-97BD-2C6836143E24}" dt="2025-10-09T07:21:31.350" v="382" actId="22"/>
          <ac:spMkLst>
            <pc:docMk/>
            <pc:sldMk cId="2253101041" sldId="273"/>
            <ac:spMk id="4" creationId="{85820193-C019-FDD0-56A5-D5D3712ACE8F}"/>
          </ac:spMkLst>
        </pc:spChg>
      </pc:sldChg>
      <pc:sldChg chg="modNotesTx">
        <pc:chgData name="Zied Belhocine" userId="200cc0e2b299676e" providerId="LiveId" clId="{C38E24E7-70BC-4249-97BD-2C6836143E24}" dt="2025-10-10T09:17:23.060" v="1877" actId="20577"/>
        <pc:sldMkLst>
          <pc:docMk/>
          <pc:sldMk cId="228660321" sldId="274"/>
        </pc:sldMkLst>
      </pc:sldChg>
      <pc:sldChg chg="addSp delSp modSp add mod modNotesTx">
        <pc:chgData name="Zied Belhocine" userId="200cc0e2b299676e" providerId="LiveId" clId="{C38E24E7-70BC-4249-97BD-2C6836143E24}" dt="2025-10-10T09:16:42.479" v="1848" actId="14100"/>
        <pc:sldMkLst>
          <pc:docMk/>
          <pc:sldMk cId="1998630485" sldId="275"/>
        </pc:sldMkLst>
        <pc:graphicFrameChg chg="del">
          <ac:chgData name="Zied Belhocine" userId="200cc0e2b299676e" providerId="LiveId" clId="{C38E24E7-70BC-4249-97BD-2C6836143E24}" dt="2025-10-08T17:07:44.673" v="155" actId="478"/>
          <ac:graphicFrameMkLst>
            <pc:docMk/>
            <pc:sldMk cId="1998630485" sldId="275"/>
            <ac:graphicFrameMk id="2" creationId="{C12DF7F1-BF59-0857-BBF2-822D1469F308}"/>
          </ac:graphicFrameMkLst>
        </pc:graphicFrameChg>
        <pc:graphicFrameChg chg="add mod">
          <ac:chgData name="Zied Belhocine" userId="200cc0e2b299676e" providerId="LiveId" clId="{C38E24E7-70BC-4249-97BD-2C6836143E24}" dt="2025-10-10T09:16:42.479" v="1848" actId="14100"/>
          <ac:graphicFrameMkLst>
            <pc:docMk/>
            <pc:sldMk cId="1998630485" sldId="275"/>
            <ac:graphicFrameMk id="4" creationId="{A59DEE9A-BDD3-A44B-0315-C2E3659FA898}"/>
          </ac:graphicFrameMkLst>
        </pc:graphicFrameChg>
      </pc:sldChg>
    </pc:docChg>
  </pc:docChgLst>
  <pc:docChgLst>
    <pc:chgData name="Zied Belhocine" userId="200cc0e2b299676e" providerId="LiveId" clId="{9101D706-6743-4105-B561-2C59B5B6AD02}"/>
    <pc:docChg chg="custSel modSld">
      <pc:chgData name="Zied Belhocine" userId="200cc0e2b299676e" providerId="LiveId" clId="{9101D706-6743-4105-B561-2C59B5B6AD02}" dt="2025-10-09T09:27:56.440" v="134" actId="20577"/>
      <pc:docMkLst>
        <pc:docMk/>
      </pc:docMkLst>
      <pc:sldChg chg="modNotesTx">
        <pc:chgData name="Zied Belhocine" userId="200cc0e2b299676e" providerId="LiveId" clId="{9101D706-6743-4105-B561-2C59B5B6AD02}" dt="2025-10-09T09:10:38.626" v="67" actId="20577"/>
        <pc:sldMkLst>
          <pc:docMk/>
          <pc:sldMk cId="3584043158" sldId="264"/>
        </pc:sldMkLst>
      </pc:sldChg>
      <pc:sldChg chg="modNotesTx">
        <pc:chgData name="Zied Belhocine" userId="200cc0e2b299676e" providerId="LiveId" clId="{9101D706-6743-4105-B561-2C59B5B6AD02}" dt="2025-10-09T08:59:33.083" v="21" actId="20577"/>
        <pc:sldMkLst>
          <pc:docMk/>
          <pc:sldMk cId="1399577604" sldId="266"/>
        </pc:sldMkLst>
      </pc:sldChg>
      <pc:sldChg chg="modNotesTx">
        <pc:chgData name="Zied Belhocine" userId="200cc0e2b299676e" providerId="LiveId" clId="{9101D706-6743-4105-B561-2C59B5B6AD02}" dt="2025-10-09T09:27:46.513" v="112" actId="20577"/>
        <pc:sldMkLst>
          <pc:docMk/>
          <pc:sldMk cId="1653014988" sldId="268"/>
        </pc:sldMkLst>
      </pc:sldChg>
      <pc:sldChg chg="modNotesTx">
        <pc:chgData name="Zied Belhocine" userId="200cc0e2b299676e" providerId="LiveId" clId="{9101D706-6743-4105-B561-2C59B5B6AD02}" dt="2025-10-09T09:27:56.440" v="134" actId="20577"/>
        <pc:sldMkLst>
          <pc:docMk/>
          <pc:sldMk cId="2891126051" sldId="270"/>
        </pc:sldMkLst>
      </pc:sldChg>
      <pc:sldChg chg="modSp">
        <pc:chgData name="Zied Belhocine" userId="200cc0e2b299676e" providerId="LiveId" clId="{9101D706-6743-4105-B561-2C59B5B6AD02}" dt="2025-10-09T09:23:09.485" v="92" actId="20577"/>
        <pc:sldMkLst>
          <pc:docMk/>
          <pc:sldMk cId="1998630485" sldId="275"/>
        </pc:sldMkLst>
        <pc:graphicFrameChg chg="mod">
          <ac:chgData name="Zied Belhocine" userId="200cc0e2b299676e" providerId="LiveId" clId="{9101D706-6743-4105-B561-2C59B5B6AD02}" dt="2025-10-09T09:23:09.485" v="92" actId="20577"/>
          <ac:graphicFrameMkLst>
            <pc:docMk/>
            <pc:sldMk cId="1998630485" sldId="275"/>
            <ac:graphicFrameMk id="4" creationId="{A59DEE9A-BDD3-A44B-0315-C2E3659FA898}"/>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MonCompte\Downloads\Donne&#769;es+saison+re&#769;gulie&#768;re+NBA+2024_202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MonCompte\Downloads\Donne&#769;es+saison+re&#769;gulie&#768;re+NBA+2024_2025.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MonCompte\Downloads\Donne&#769;es+saison+re&#769;gulie&#768;re+NBA+2024_2025.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MonCompte\Downloads\Donne&#769;es+saison+re&#769;gulie&#768;re+NBA+2024_2025.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MonCompte\Downloads\Donne&#769;es+saison+re&#769;gulie&#768;re+NBA+2024_2025.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200cc0e2b299676e/Documents/COURS%20OC/Projet%201/Donne&#769;es%5eMsaison%5eMre&#769;gulie&#768;re%5eMNBA%5eM2024_2025_modif.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200cc0e2b299676e/Documents/COURS%20OC/Projet%201/Donne&#769;es%5eMsaison%5eMre&#769;gulie&#768;re%5eMNBA%5eM2024_2025_modif.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200cc0e2b299676e/Documents/COURS%20OC/Projet%201/Donne&#769;es%5eMsaison%5eMre&#769;gulie&#768;re%5eMNBA%5eM2024_2025_modif.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cap="none" spc="0" normalizeH="0" baseline="0">
                <a:solidFill>
                  <a:schemeClr val="tx1">
                    <a:lumMod val="65000"/>
                    <a:lumOff val="35000"/>
                  </a:schemeClr>
                </a:solidFill>
                <a:latin typeface="+mj-lt"/>
                <a:ea typeface="+mj-ea"/>
                <a:cs typeface="+mj-cs"/>
              </a:defRPr>
            </a:pPr>
            <a:r>
              <a:rPr lang="fr-FR" dirty="0"/>
              <a:t>Visualisation des équipes</a:t>
            </a:r>
          </a:p>
        </c:rich>
      </c:tx>
      <c:layout>
        <c:manualLayout>
          <c:xMode val="edge"/>
          <c:yMode val="edge"/>
          <c:x val="1.4915246600530027E-2"/>
          <c:y val="5.3231445836913749E-3"/>
        </c:manualLayout>
      </c:layout>
      <c:overlay val="0"/>
      <c:spPr>
        <a:noFill/>
        <a:ln>
          <a:noFill/>
        </a:ln>
        <a:effectLst/>
      </c:spPr>
      <c:txPr>
        <a:bodyPr rot="0" spcFirstLastPara="1" vertOverflow="ellipsis" vert="horz" wrap="square" anchor="ctr" anchorCtr="1"/>
        <a:lstStyle/>
        <a:p>
          <a:pPr>
            <a:defRPr sz="2000" b="0" i="0" u="none" strike="noStrike" kern="1200" cap="none" spc="0" normalizeH="0" baseline="0">
              <a:solidFill>
                <a:schemeClr val="tx1">
                  <a:lumMod val="65000"/>
                  <a:lumOff val="35000"/>
                </a:schemeClr>
              </a:solidFill>
              <a:latin typeface="+mj-lt"/>
              <a:ea typeface="+mj-ea"/>
              <a:cs typeface="+mj-cs"/>
            </a:defRPr>
          </a:pPr>
          <a:endParaRPr lang="fr-FR"/>
        </a:p>
      </c:txPr>
    </c:title>
    <c:autoTitleDeleted val="0"/>
    <c:plotArea>
      <c:layout/>
      <c:barChart>
        <c:barDir val="col"/>
        <c:grouping val="clustered"/>
        <c:varyColors val="0"/>
        <c:ser>
          <c:idx val="1"/>
          <c:order val="1"/>
          <c:tx>
            <c:strRef>
              <c:f>Tests!$D$5</c:f>
              <c:strCache>
                <c:ptCount val="1"/>
                <c:pt idx="0">
                  <c:v>Nombre total de points par équipe</c:v>
                </c:pt>
              </c:strCache>
            </c:strRef>
          </c:tx>
          <c:spPr>
            <a:solidFill>
              <a:schemeClr val="accent2"/>
            </a:solidFill>
            <a:ln w="73025" cmpd="sng">
              <a:solidFill>
                <a:schemeClr val="accent2"/>
              </a:solidFill>
            </a:ln>
            <a:effectLst/>
          </c:spPr>
          <c:invertIfNegative val="0"/>
          <c:dLbls>
            <c:dLbl>
              <c:idx val="5"/>
              <c:layout>
                <c:manualLayout>
                  <c:x val="1.3888890407796414E-2"/>
                  <c:y val="-1.9616191956537552E-2"/>
                </c:manualLayout>
              </c:layout>
              <c:tx>
                <c:rich>
                  <a:bodyPr rot="0" spcFirstLastPara="1" vertOverflow="ellipsis" vert="horz" wrap="square" lIns="38100" tIns="19050" rIns="38100" bIns="1905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rgbClr val="C0791B">
                            <a:lumMod val="75000"/>
                            <a:lumOff val="25000"/>
                          </a:srgbClr>
                        </a:solidFill>
                        <a:latin typeface="+mn-lt"/>
                        <a:ea typeface="+mn-ea"/>
                        <a:cs typeface="+mn-cs"/>
                      </a:defRPr>
                    </a:pPr>
                    <a:r>
                      <a:rPr lang="en-US" sz="800" b="0" i="1" u="none" strike="noStrike" kern="1200" baseline="0" dirty="0">
                        <a:solidFill>
                          <a:srgbClr val="000000">
                            <a:lumMod val="75000"/>
                            <a:lumOff val="25000"/>
                          </a:srgbClr>
                        </a:solidFill>
                      </a:rPr>
                      <a:t>Cavaliers 10180 / 18</a:t>
                    </a:r>
                  </a:p>
                </c:rich>
              </c:tx>
              <c:spPr>
                <a:noFill/>
                <a:ln w="12700">
                  <a:solidFill>
                    <a:schemeClr val="accent2">
                      <a:lumMod val="75000"/>
                    </a:schemeClr>
                  </a:solidFill>
                </a:ln>
                <a:effectLst/>
              </c:spPr>
              <c:txPr>
                <a:bodyPr rot="0" spcFirstLastPara="1" vertOverflow="ellipsis" vert="horz" wrap="square" lIns="38100" tIns="19050" rIns="38100" bIns="1905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rgbClr val="C0791B">
                          <a:lumMod val="75000"/>
                          <a:lumOff val="25000"/>
                        </a:srgb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ECAE-40FD-A582-AB52AA1C2A8D}"/>
                </c:ext>
              </c:extLst>
            </c:dLbl>
            <c:dLbl>
              <c:idx val="8"/>
              <c:layout>
                <c:manualLayout>
                  <c:x val="5.8333339712744937E-2"/>
                  <c:y val="-2.2885557282627079E-2"/>
                </c:manualLayout>
              </c:layout>
              <c:tx>
                <c:rich>
                  <a:bodyPr rot="0" spcFirstLastPara="1" vertOverflow="ellipsis" vert="horz" wrap="square" lIns="38100" tIns="19050" rIns="38100" bIns="1905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rgbClr val="C0791B">
                            <a:lumMod val="75000"/>
                            <a:lumOff val="25000"/>
                          </a:srgbClr>
                        </a:solidFill>
                        <a:latin typeface="+mn-lt"/>
                        <a:ea typeface="+mn-ea"/>
                        <a:cs typeface="+mn-cs"/>
                      </a:defRPr>
                    </a:pPr>
                    <a:r>
                      <a:rPr lang="en-US" sz="800" b="0" i="1" u="none" strike="noStrike" kern="1200" baseline="0" dirty="0">
                        <a:solidFill>
                          <a:srgbClr val="000000">
                            <a:lumMod val="75000"/>
                            <a:lumOff val="25000"/>
                          </a:srgbClr>
                        </a:solidFill>
                      </a:rPr>
                      <a:t>Pistons </a:t>
                    </a:r>
                    <a:fld id="{3EC33ADE-1B5E-4E9E-9C85-54B468175AA3}" type="VALUE">
                      <a:rPr lang="en-US" sz="800" b="0" i="1" u="none" strike="noStrike" kern="1200" baseline="0" smtClean="0">
                        <a:solidFill>
                          <a:srgbClr val="000000">
                            <a:lumMod val="75000"/>
                            <a:lumOff val="25000"/>
                          </a:srgbClr>
                        </a:solidFill>
                      </a:rPr>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rgbClr val="C0791B">
                              <a:lumMod val="75000"/>
                              <a:lumOff val="25000"/>
                            </a:srgbClr>
                          </a:solidFill>
                          <a:latin typeface="+mn-lt"/>
                          <a:ea typeface="+mn-ea"/>
                          <a:cs typeface="+mn-cs"/>
                        </a:defRPr>
                      </a:pPr>
                      <a:t>[VALEUR]</a:t>
                    </a:fld>
                    <a:r>
                      <a:rPr lang="en-US" sz="800" b="0" i="1" u="none" strike="noStrike" kern="1200" baseline="0" dirty="0">
                        <a:solidFill>
                          <a:srgbClr val="000000">
                            <a:lumMod val="75000"/>
                            <a:lumOff val="25000"/>
                          </a:srgbClr>
                        </a:solidFill>
                      </a:rPr>
                      <a:t> / 19</a:t>
                    </a:r>
                  </a:p>
                </c:rich>
              </c:tx>
              <c:spPr>
                <a:noFill/>
                <a:ln w="12700">
                  <a:solidFill>
                    <a:schemeClr val="accent2">
                      <a:lumMod val="75000"/>
                    </a:schemeClr>
                  </a:solidFill>
                </a:ln>
                <a:effectLst/>
              </c:spPr>
              <c:txPr>
                <a:bodyPr rot="0" spcFirstLastPara="1" vertOverflow="ellipsis" vert="horz" wrap="square" lIns="38100" tIns="19050" rIns="38100" bIns="1905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rgbClr val="C0791B">
                          <a:lumMod val="75000"/>
                          <a:lumOff val="25000"/>
                        </a:srgb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ECAE-40FD-A582-AB52AA1C2A8D}"/>
                </c:ext>
              </c:extLst>
            </c:dLbl>
            <c:dLbl>
              <c:idx val="26"/>
              <c:layout>
                <c:manualLayout>
                  <c:x val="0"/>
                  <c:y val="-2.5664517809803285E-2"/>
                </c:manualLayout>
              </c:layout>
              <c:tx>
                <c:rich>
                  <a:bodyPr rot="0" spcFirstLastPara="1" vertOverflow="ellipsis" vert="horz" wrap="square" lIns="38100" tIns="19050" rIns="38100" bIns="1905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rgbClr val="C0791B">
                            <a:lumMod val="75000"/>
                            <a:lumOff val="25000"/>
                          </a:srgbClr>
                        </a:solidFill>
                        <a:latin typeface="+mn-lt"/>
                        <a:ea typeface="+mn-ea"/>
                        <a:cs typeface="+mn-cs"/>
                      </a:defRPr>
                    </a:pPr>
                    <a:r>
                      <a:rPr lang="en-US" sz="800" b="0" i="1" u="none" strike="noStrike" kern="1200" baseline="0" dirty="0">
                        <a:solidFill>
                          <a:srgbClr val="000000">
                            <a:lumMod val="75000"/>
                            <a:lumOff val="25000"/>
                          </a:srgbClr>
                        </a:solidFill>
                      </a:rPr>
                      <a:t>Spurs 10198 / 18</a:t>
                    </a:r>
                  </a:p>
                </c:rich>
              </c:tx>
              <c:spPr>
                <a:noFill/>
                <a:ln w="12700">
                  <a:solidFill>
                    <a:schemeClr val="accent2">
                      <a:lumMod val="75000"/>
                    </a:schemeClr>
                  </a:solidFill>
                </a:ln>
                <a:effectLst/>
              </c:spPr>
              <c:txPr>
                <a:bodyPr rot="0" spcFirstLastPara="1" vertOverflow="ellipsis" vert="horz" wrap="square" lIns="38100" tIns="19050" rIns="38100" bIns="1905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rgbClr val="C0791B">
                          <a:lumMod val="75000"/>
                          <a:lumOff val="25000"/>
                        </a:srgb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CAE-40FD-A582-AB52AA1C2A8D}"/>
                </c:ext>
              </c:extLst>
            </c:dLbl>
            <c:spPr>
              <a:noFill/>
              <a:ln w="12700">
                <a:solidFill>
                  <a:schemeClr val="accent2">
                    <a:lumMod val="75000"/>
                  </a:schemeClr>
                </a:solid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Tests!$B$6:$B$35</c:f>
              <c:strCache>
                <c:ptCount val="30"/>
                <c:pt idx="0">
                  <c:v>Atlanta Hawks</c:v>
                </c:pt>
                <c:pt idx="1">
                  <c:v>Brooklyn Nets</c:v>
                </c:pt>
                <c:pt idx="2">
                  <c:v>Boston Celtics</c:v>
                </c:pt>
                <c:pt idx="3">
                  <c:v>Charlotte Hornets</c:v>
                </c:pt>
                <c:pt idx="4">
                  <c:v>Chicago Bulls</c:v>
                </c:pt>
                <c:pt idx="5">
                  <c:v>Cleveland Cavaliers</c:v>
                </c:pt>
                <c:pt idx="6">
                  <c:v>Dallas Mavericks</c:v>
                </c:pt>
                <c:pt idx="7">
                  <c:v>Denver Nuggets</c:v>
                </c:pt>
                <c:pt idx="8">
                  <c:v>Detroit Pistons</c:v>
                </c:pt>
                <c:pt idx="9">
                  <c:v>Golden State Warriors</c:v>
                </c:pt>
                <c:pt idx="10">
                  <c:v>Houston Rockets</c:v>
                </c:pt>
                <c:pt idx="11">
                  <c:v>Indiana Pacers</c:v>
                </c:pt>
                <c:pt idx="12">
                  <c:v>Los Angeles Clippers</c:v>
                </c:pt>
                <c:pt idx="13">
                  <c:v>Los Angeles Lakers</c:v>
                </c:pt>
                <c:pt idx="14">
                  <c:v>Memphis Grizzlies</c:v>
                </c:pt>
                <c:pt idx="15">
                  <c:v>Miami Heat</c:v>
                </c:pt>
                <c:pt idx="16">
                  <c:v>Milwaukee Bucks</c:v>
                </c:pt>
                <c:pt idx="17">
                  <c:v>Minnesota Timberwolves</c:v>
                </c:pt>
                <c:pt idx="18">
                  <c:v>New Orleans Pelicans</c:v>
                </c:pt>
                <c:pt idx="19">
                  <c:v>New York Knicks</c:v>
                </c:pt>
                <c:pt idx="20">
                  <c:v>Oklahoma City Thunder</c:v>
                </c:pt>
                <c:pt idx="21">
                  <c:v>Orlando Magic</c:v>
                </c:pt>
                <c:pt idx="22">
                  <c:v>Philadelphia 76ers</c:v>
                </c:pt>
                <c:pt idx="23">
                  <c:v>Phoenix Suns</c:v>
                </c:pt>
                <c:pt idx="24">
                  <c:v>Portland Trail Blazers</c:v>
                </c:pt>
                <c:pt idx="25">
                  <c:v>Sacramento Kings</c:v>
                </c:pt>
                <c:pt idx="26">
                  <c:v>San Antonio Spurs</c:v>
                </c:pt>
                <c:pt idx="27">
                  <c:v>Toronto Raptors</c:v>
                </c:pt>
                <c:pt idx="28">
                  <c:v>Utah Jazz</c:v>
                </c:pt>
                <c:pt idx="29">
                  <c:v>Washington Wizards</c:v>
                </c:pt>
              </c:strCache>
            </c:strRef>
          </c:cat>
          <c:val>
            <c:numRef>
              <c:f>Tests!$D$6:$D$35</c:f>
              <c:numCache>
                <c:formatCode>General</c:formatCode>
                <c:ptCount val="30"/>
                <c:pt idx="0">
                  <c:v>9689</c:v>
                </c:pt>
                <c:pt idx="1">
                  <c:v>7999</c:v>
                </c:pt>
                <c:pt idx="2">
                  <c:v>9551</c:v>
                </c:pt>
                <c:pt idx="3">
                  <c:v>8278</c:v>
                </c:pt>
                <c:pt idx="4">
                  <c:v>9230</c:v>
                </c:pt>
                <c:pt idx="5">
                  <c:v>10180</c:v>
                </c:pt>
                <c:pt idx="6">
                  <c:v>9970</c:v>
                </c:pt>
                <c:pt idx="7">
                  <c:v>9899</c:v>
                </c:pt>
                <c:pt idx="8">
                  <c:v>10292</c:v>
                </c:pt>
                <c:pt idx="9">
                  <c:v>8288</c:v>
                </c:pt>
                <c:pt idx="10">
                  <c:v>9515</c:v>
                </c:pt>
                <c:pt idx="11">
                  <c:v>9630</c:v>
                </c:pt>
                <c:pt idx="12">
                  <c:v>9050</c:v>
                </c:pt>
                <c:pt idx="13">
                  <c:v>8691</c:v>
                </c:pt>
                <c:pt idx="14">
                  <c:v>9552</c:v>
                </c:pt>
                <c:pt idx="15">
                  <c:v>9828</c:v>
                </c:pt>
                <c:pt idx="16">
                  <c:v>10016</c:v>
                </c:pt>
                <c:pt idx="17">
                  <c:v>9523</c:v>
                </c:pt>
                <c:pt idx="18">
                  <c:v>8763</c:v>
                </c:pt>
                <c:pt idx="19">
                  <c:v>9540</c:v>
                </c:pt>
                <c:pt idx="20">
                  <c:v>9880</c:v>
                </c:pt>
                <c:pt idx="21">
                  <c:v>8648</c:v>
                </c:pt>
                <c:pt idx="22">
                  <c:v>9142</c:v>
                </c:pt>
                <c:pt idx="23">
                  <c:v>9719</c:v>
                </c:pt>
                <c:pt idx="24">
                  <c:v>9113</c:v>
                </c:pt>
                <c:pt idx="25">
                  <c:v>9786</c:v>
                </c:pt>
                <c:pt idx="26">
                  <c:v>10198</c:v>
                </c:pt>
                <c:pt idx="27">
                  <c:v>8963</c:v>
                </c:pt>
                <c:pt idx="28">
                  <c:v>9096</c:v>
                </c:pt>
                <c:pt idx="29">
                  <c:v>7986</c:v>
                </c:pt>
              </c:numCache>
            </c:numRef>
          </c:val>
          <c:extLst>
            <c:ext xmlns:c16="http://schemas.microsoft.com/office/drawing/2014/chart" uri="{C3380CC4-5D6E-409C-BE32-E72D297353CC}">
              <c16:uniqueId val="{00000000-434F-4597-B165-11252CD623BA}"/>
            </c:ext>
          </c:extLst>
        </c:ser>
        <c:dLbls>
          <c:showLegendKey val="0"/>
          <c:showVal val="0"/>
          <c:showCatName val="0"/>
          <c:showSerName val="0"/>
          <c:showPercent val="0"/>
          <c:showBubbleSize val="0"/>
        </c:dLbls>
        <c:gapWidth val="269"/>
        <c:axId val="1616905440"/>
        <c:axId val="1616905920"/>
      </c:barChart>
      <c:lineChart>
        <c:grouping val="standard"/>
        <c:varyColors val="0"/>
        <c:ser>
          <c:idx val="0"/>
          <c:order val="0"/>
          <c:tx>
            <c:strRef>
              <c:f>Tests!$C$5</c:f>
              <c:strCache>
                <c:ptCount val="1"/>
                <c:pt idx="0">
                  <c:v>Nombre de joueurs par équipe</c:v>
                </c:pt>
              </c:strCache>
            </c:strRef>
          </c:tx>
          <c:spPr>
            <a:ln w="31750" cap="rnd">
              <a:solidFill>
                <a:schemeClr val="accent1"/>
              </a:solidFill>
              <a:round/>
            </a:ln>
            <a:effectLst/>
          </c:spPr>
          <c:marker>
            <c:symbol val="none"/>
          </c:marker>
          <c:dLbls>
            <c:dLbl>
              <c:idx val="3"/>
              <c:layout>
                <c:manualLayout>
                  <c:x val="-6.190858069866368E-2"/>
                  <c:y val="-7.8484684140522509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r>
                      <a:rPr lang="en-US" sz="800" b="1" i="0" u="none" strike="noStrike" kern="1200" baseline="0" dirty="0">
                        <a:solidFill>
                          <a:srgbClr val="000000">
                            <a:lumMod val="75000"/>
                            <a:lumOff val="25000"/>
                          </a:srgbClr>
                        </a:solidFill>
                      </a:rPr>
                      <a:t>Hornets 8278 / 22</a:t>
                    </a:r>
                    <a:endParaRPr lang="en-US" sz="400" b="1" i="0" u="none" strike="noStrike" kern="1200" baseline="0" dirty="0">
                      <a:solidFill>
                        <a:srgbClr val="000000">
                          <a:lumMod val="75000"/>
                          <a:lumOff val="25000"/>
                        </a:srgbClr>
                      </a:solidFill>
                    </a:endParaRPr>
                  </a:p>
                </c:rich>
              </c:tx>
              <c:spPr>
                <a:noFill/>
                <a:ln w="19050">
                  <a:solidFill>
                    <a:schemeClr val="accent3">
                      <a:lumMod val="75000"/>
                    </a:schemeClr>
                  </a:solid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15:layout>
                    <c:manualLayout>
                      <c:w val="0.11735950009650911"/>
                      <c:h val="4.6815605499386792E-2"/>
                    </c:manualLayout>
                  </c15:layout>
                  <c15:showDataLabelsRange val="0"/>
                </c:ext>
                <c:ext xmlns:c16="http://schemas.microsoft.com/office/drawing/2014/chart" uri="{C3380CC4-5D6E-409C-BE32-E72D297353CC}">
                  <c16:uniqueId val="{00000001-434F-4597-B165-11252CD623BA}"/>
                </c:ext>
              </c:extLst>
            </c:dLbl>
            <c:dLbl>
              <c:idx val="18"/>
              <c:layout>
                <c:manualLayout>
                  <c:x val="-9.1084436907746924E-2"/>
                  <c:y val="-7.1516208071676843E-2"/>
                </c:manualLayout>
              </c:layout>
              <c:tx>
                <c:rich>
                  <a:bodyPr rot="0" spcFirstLastPara="1" vertOverflow="ellipsis" vert="horz" wrap="square" lIns="38100" tIns="19050" rIns="38100" bIns="190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rgbClr val="C0791B">
                            <a:lumMod val="75000"/>
                            <a:lumOff val="25000"/>
                          </a:srgbClr>
                        </a:solidFill>
                        <a:latin typeface="+mn-lt"/>
                        <a:ea typeface="+mn-ea"/>
                        <a:cs typeface="+mn-cs"/>
                      </a:defRPr>
                    </a:pPr>
                    <a:r>
                      <a:rPr lang="en-US" sz="800" b="1" i="0" u="none" strike="noStrike" kern="1200" baseline="0" dirty="0">
                        <a:solidFill>
                          <a:srgbClr val="000000">
                            <a:lumMod val="75000"/>
                            <a:lumOff val="25000"/>
                          </a:srgbClr>
                        </a:solidFill>
                      </a:rPr>
                      <a:t>Pelicans 8763 / 22</a:t>
                    </a:r>
                    <a:endParaRPr lang="en-US" sz="400" b="1" i="0" u="none" strike="noStrike" kern="1200" baseline="0" dirty="0">
                      <a:solidFill>
                        <a:srgbClr val="000000">
                          <a:lumMod val="75000"/>
                          <a:lumOff val="25000"/>
                        </a:srgbClr>
                      </a:solidFill>
                    </a:endParaRPr>
                  </a:p>
                </c:rich>
              </c:tx>
              <c:spPr>
                <a:noFill/>
                <a:ln w="19050">
                  <a:solidFill>
                    <a:schemeClr val="accent3">
                      <a:lumMod val="75000"/>
                    </a:schemeClr>
                  </a:solidFill>
                </a:ln>
                <a:effectLst/>
              </c:spPr>
              <c:txPr>
                <a:bodyPr rot="0" spcFirstLastPara="1" vertOverflow="ellipsis" vert="horz" wrap="square" lIns="38100" tIns="19050" rIns="38100" bIns="190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rgbClr val="C0791B">
                          <a:lumMod val="75000"/>
                          <a:lumOff val="25000"/>
                        </a:srgb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15:layout>
                    <c:manualLayout>
                      <c:w val="0.12099804472857006"/>
                      <c:h val="6.2441016273201554E-2"/>
                    </c:manualLayout>
                  </c15:layout>
                  <c15:showDataLabelsRange val="0"/>
                </c:ext>
                <c:ext xmlns:c16="http://schemas.microsoft.com/office/drawing/2014/chart" uri="{C3380CC4-5D6E-409C-BE32-E72D297353CC}">
                  <c16:uniqueId val="{00000002-434F-4597-B165-11252CD623BA}"/>
                </c:ext>
              </c:extLst>
            </c:dLbl>
            <c:dLbl>
              <c:idx val="22"/>
              <c:layout>
                <c:manualLayout>
                  <c:x val="-6.476296640014953E-2"/>
                  <c:y val="-5.7645861318156612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r>
                      <a:rPr lang="en-US" sz="800" b="1" i="0" u="none" strike="noStrike" kern="1200" baseline="0" dirty="0">
                        <a:solidFill>
                          <a:srgbClr val="000000">
                            <a:lumMod val="75000"/>
                            <a:lumOff val="25000"/>
                          </a:srgbClr>
                        </a:solidFill>
                      </a:rPr>
                      <a:t>Sixers 9142 / 23</a:t>
                    </a:r>
                  </a:p>
                </c:rich>
              </c:tx>
              <c:spPr>
                <a:noFill/>
                <a:ln w="19050">
                  <a:solidFill>
                    <a:schemeClr val="accent3">
                      <a:lumMod val="75000"/>
                    </a:schemeClr>
                  </a:solid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15:layout>
                    <c:manualLayout>
                      <c:w val="0.11234964045818464"/>
                      <c:h val="5.9029806829420994E-2"/>
                    </c:manualLayout>
                  </c15:layout>
                  <c15:showDataLabelsRange val="0"/>
                </c:ext>
                <c:ext xmlns:c16="http://schemas.microsoft.com/office/drawing/2014/chart" uri="{C3380CC4-5D6E-409C-BE32-E72D297353CC}">
                  <c16:uniqueId val="{00000003-434F-4597-B165-11252CD623BA}"/>
                </c:ext>
              </c:extLst>
            </c:dLbl>
            <c:spPr>
              <a:noFill/>
              <a:ln w="19050">
                <a:solidFill>
                  <a:schemeClr val="accent3">
                    <a:lumMod val="75000"/>
                  </a:schemeClr>
                </a:solid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Tests!$B$6:$B$35</c:f>
              <c:strCache>
                <c:ptCount val="30"/>
                <c:pt idx="0">
                  <c:v>Atlanta Hawks</c:v>
                </c:pt>
                <c:pt idx="1">
                  <c:v>Brooklyn Nets</c:v>
                </c:pt>
                <c:pt idx="2">
                  <c:v>Boston Celtics</c:v>
                </c:pt>
                <c:pt idx="3">
                  <c:v>Charlotte Hornets</c:v>
                </c:pt>
                <c:pt idx="4">
                  <c:v>Chicago Bulls</c:v>
                </c:pt>
                <c:pt idx="5">
                  <c:v>Cleveland Cavaliers</c:v>
                </c:pt>
                <c:pt idx="6">
                  <c:v>Dallas Mavericks</c:v>
                </c:pt>
                <c:pt idx="7">
                  <c:v>Denver Nuggets</c:v>
                </c:pt>
                <c:pt idx="8">
                  <c:v>Detroit Pistons</c:v>
                </c:pt>
                <c:pt idx="9">
                  <c:v>Golden State Warriors</c:v>
                </c:pt>
                <c:pt idx="10">
                  <c:v>Houston Rockets</c:v>
                </c:pt>
                <c:pt idx="11">
                  <c:v>Indiana Pacers</c:v>
                </c:pt>
                <c:pt idx="12">
                  <c:v>Los Angeles Clippers</c:v>
                </c:pt>
                <c:pt idx="13">
                  <c:v>Los Angeles Lakers</c:v>
                </c:pt>
                <c:pt idx="14">
                  <c:v>Memphis Grizzlies</c:v>
                </c:pt>
                <c:pt idx="15">
                  <c:v>Miami Heat</c:v>
                </c:pt>
                <c:pt idx="16">
                  <c:v>Milwaukee Bucks</c:v>
                </c:pt>
                <c:pt idx="17">
                  <c:v>Minnesota Timberwolves</c:v>
                </c:pt>
                <c:pt idx="18">
                  <c:v>New Orleans Pelicans</c:v>
                </c:pt>
                <c:pt idx="19">
                  <c:v>New York Knicks</c:v>
                </c:pt>
                <c:pt idx="20">
                  <c:v>Oklahoma City Thunder</c:v>
                </c:pt>
                <c:pt idx="21">
                  <c:v>Orlando Magic</c:v>
                </c:pt>
                <c:pt idx="22">
                  <c:v>Philadelphia 76ers</c:v>
                </c:pt>
                <c:pt idx="23">
                  <c:v>Phoenix Suns</c:v>
                </c:pt>
                <c:pt idx="24">
                  <c:v>Portland Trail Blazers</c:v>
                </c:pt>
                <c:pt idx="25">
                  <c:v>Sacramento Kings</c:v>
                </c:pt>
                <c:pt idx="26">
                  <c:v>San Antonio Spurs</c:v>
                </c:pt>
                <c:pt idx="27">
                  <c:v>Toronto Raptors</c:v>
                </c:pt>
                <c:pt idx="28">
                  <c:v>Utah Jazz</c:v>
                </c:pt>
                <c:pt idx="29">
                  <c:v>Washington Wizards</c:v>
                </c:pt>
              </c:strCache>
            </c:strRef>
          </c:cat>
          <c:val>
            <c:numRef>
              <c:f>Tests!$C$6:$C$35</c:f>
              <c:numCache>
                <c:formatCode>General</c:formatCode>
                <c:ptCount val="30"/>
                <c:pt idx="0">
                  <c:v>18</c:v>
                </c:pt>
                <c:pt idx="1">
                  <c:v>20</c:v>
                </c:pt>
                <c:pt idx="2">
                  <c:v>17</c:v>
                </c:pt>
                <c:pt idx="3">
                  <c:v>22</c:v>
                </c:pt>
                <c:pt idx="4">
                  <c:v>20</c:v>
                </c:pt>
                <c:pt idx="5">
                  <c:v>18</c:v>
                </c:pt>
                <c:pt idx="6">
                  <c:v>19</c:v>
                </c:pt>
                <c:pt idx="7">
                  <c:v>17</c:v>
                </c:pt>
                <c:pt idx="8">
                  <c:v>19</c:v>
                </c:pt>
                <c:pt idx="9">
                  <c:v>17</c:v>
                </c:pt>
                <c:pt idx="10">
                  <c:v>18</c:v>
                </c:pt>
                <c:pt idx="11">
                  <c:v>20</c:v>
                </c:pt>
                <c:pt idx="12">
                  <c:v>17</c:v>
                </c:pt>
                <c:pt idx="13">
                  <c:v>20</c:v>
                </c:pt>
                <c:pt idx="14">
                  <c:v>18</c:v>
                </c:pt>
                <c:pt idx="15">
                  <c:v>19</c:v>
                </c:pt>
                <c:pt idx="16">
                  <c:v>19</c:v>
                </c:pt>
                <c:pt idx="17">
                  <c:v>20</c:v>
                </c:pt>
                <c:pt idx="18">
                  <c:v>22</c:v>
                </c:pt>
                <c:pt idx="19">
                  <c:v>19</c:v>
                </c:pt>
                <c:pt idx="20">
                  <c:v>18</c:v>
                </c:pt>
                <c:pt idx="21">
                  <c:v>17</c:v>
                </c:pt>
                <c:pt idx="22">
                  <c:v>23</c:v>
                </c:pt>
                <c:pt idx="23">
                  <c:v>18</c:v>
                </c:pt>
                <c:pt idx="24">
                  <c:v>19</c:v>
                </c:pt>
                <c:pt idx="25">
                  <c:v>19</c:v>
                </c:pt>
                <c:pt idx="26">
                  <c:v>18</c:v>
                </c:pt>
                <c:pt idx="27">
                  <c:v>21</c:v>
                </c:pt>
                <c:pt idx="28">
                  <c:v>18</c:v>
                </c:pt>
                <c:pt idx="29">
                  <c:v>19</c:v>
                </c:pt>
              </c:numCache>
            </c:numRef>
          </c:val>
          <c:smooth val="1"/>
          <c:extLst>
            <c:ext xmlns:c16="http://schemas.microsoft.com/office/drawing/2014/chart" uri="{C3380CC4-5D6E-409C-BE32-E72D297353CC}">
              <c16:uniqueId val="{00000004-434F-4597-B165-11252CD623BA}"/>
            </c:ext>
          </c:extLst>
        </c:ser>
        <c:dLbls>
          <c:showLegendKey val="0"/>
          <c:showVal val="0"/>
          <c:showCatName val="0"/>
          <c:showSerName val="0"/>
          <c:showPercent val="0"/>
          <c:showBubbleSize val="0"/>
        </c:dLbls>
        <c:marker val="1"/>
        <c:smooth val="0"/>
        <c:axId val="97815152"/>
        <c:axId val="97818512"/>
      </c:lineChart>
      <c:catAx>
        <c:axId val="1616905440"/>
        <c:scaling>
          <c:orientation val="minMax"/>
        </c:scaling>
        <c:delete val="0"/>
        <c:axPos val="b"/>
        <c:title>
          <c:tx>
            <c:rich>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fr-FR" dirty="0"/>
                  <a:t>équipes</a:t>
                </a:r>
              </a:p>
            </c:rich>
          </c:tx>
          <c:overlay val="0"/>
          <c:spPr>
            <a:noFill/>
            <a:ln>
              <a:noFill/>
            </a:ln>
            <a:effectLst/>
          </c:spPr>
          <c:txPr>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tx1">
                    <a:lumMod val="65000"/>
                    <a:lumOff val="35000"/>
                  </a:schemeClr>
                </a:solidFill>
                <a:latin typeface="+mn-lt"/>
                <a:ea typeface="+mn-ea"/>
                <a:cs typeface="+mn-cs"/>
              </a:defRPr>
            </a:pPr>
            <a:endParaRPr lang="fr-FR"/>
          </a:p>
        </c:txPr>
        <c:crossAx val="1616905920"/>
        <c:crosses val="autoZero"/>
        <c:auto val="1"/>
        <c:lblAlgn val="ctr"/>
        <c:lblOffset val="100"/>
        <c:noMultiLvlLbl val="0"/>
      </c:catAx>
      <c:valAx>
        <c:axId val="1616905920"/>
        <c:scaling>
          <c:orientation val="minMax"/>
          <c:max val="1250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fr-FR"/>
                  <a:t>Total des points par équipe</a:t>
                </a:r>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616905440"/>
        <c:crosses val="autoZero"/>
        <c:crossBetween val="between"/>
      </c:valAx>
      <c:valAx>
        <c:axId val="97818512"/>
        <c:scaling>
          <c:orientation val="minMax"/>
        </c:scaling>
        <c:delete val="0"/>
        <c:axPos val="r"/>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fr-FR"/>
                  <a:t>nombre de joueurs</a:t>
                </a:r>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97815152"/>
        <c:crosses val="max"/>
        <c:crossBetween val="between"/>
      </c:valAx>
      <c:catAx>
        <c:axId val="97815152"/>
        <c:scaling>
          <c:orientation val="minMax"/>
        </c:scaling>
        <c:delete val="1"/>
        <c:axPos val="b"/>
        <c:numFmt formatCode="General" sourceLinked="1"/>
        <c:majorTickMark val="out"/>
        <c:minorTickMark val="none"/>
        <c:tickLblPos val="nextTo"/>
        <c:crossAx val="97818512"/>
        <c:crosses val="autoZero"/>
        <c:auto val="1"/>
        <c:lblAlgn val="ctr"/>
        <c:lblOffset val="100"/>
        <c:noMultiLvlLbl val="0"/>
      </c:catAx>
      <c:spPr>
        <a:noFill/>
        <a:ln>
          <a:noFill/>
        </a:ln>
        <a:effectLst/>
      </c:spPr>
    </c:plotArea>
    <c:legend>
      <c:legendPos val="t"/>
      <c:layout>
        <c:manualLayout>
          <c:xMode val="edge"/>
          <c:yMode val="edge"/>
          <c:x val="0.24572367079217747"/>
          <c:y val="8.8272863804418844E-2"/>
          <c:w val="0.50855265841564501"/>
          <c:h val="5.2144832369085084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0" i="0" u="none" strike="noStrike" kern="1200" spc="0" baseline="0">
                <a:solidFill>
                  <a:srgbClr val="000000">
                    <a:lumMod val="65000"/>
                    <a:lumOff val="35000"/>
                  </a:srgbClr>
                </a:solidFill>
              </a:rPr>
              <a:t>Analyse des rebonds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barChart>
        <c:barDir val="col"/>
        <c:grouping val="clustered"/>
        <c:varyColors val="0"/>
        <c:ser>
          <c:idx val="0"/>
          <c:order val="0"/>
          <c:tx>
            <c:strRef>
              <c:f>'Visualisation 2 LAL'!$B$6</c:f>
              <c:strCache>
                <c:ptCount val="1"/>
                <c:pt idx="0">
                  <c:v>SUM de OREB</c:v>
                </c:pt>
              </c:strCache>
            </c:strRef>
          </c:tx>
          <c:spPr>
            <a:solidFill>
              <a:schemeClr val="accent1"/>
            </a:solidFill>
            <a:ln>
              <a:noFill/>
            </a:ln>
            <a:effectLst/>
          </c:spPr>
          <c:invertIfNegative val="0"/>
          <c:cat>
            <c:strRef>
              <c:f>'Visualisation 2 LAL'!$A$7:$A$26</c:f>
              <c:strCache>
                <c:ptCount val="20"/>
                <c:pt idx="0">
                  <c:v>Alex Len</c:v>
                </c:pt>
                <c:pt idx="1">
                  <c:v>Armel Traoré</c:v>
                </c:pt>
                <c:pt idx="2">
                  <c:v>Austin Reaves</c:v>
                </c:pt>
                <c:pt idx="3">
                  <c:v>Bronny James</c:v>
                </c:pt>
                <c:pt idx="4">
                  <c:v>Cam Reddish</c:v>
                </c:pt>
                <c:pt idx="5">
                  <c:v>Christian Koloko</c:v>
                </c:pt>
                <c:pt idx="6">
                  <c:v>Dalton Knecht</c:v>
                </c:pt>
                <c:pt idx="7">
                  <c:v>Dorian Finney-Smith</c:v>
                </c:pt>
                <c:pt idx="8">
                  <c:v>Gabe Vincent</c:v>
                </c:pt>
                <c:pt idx="9">
                  <c:v>Jarred Vanderbilt</c:v>
                </c:pt>
                <c:pt idx="10">
                  <c:v>Jaxson Hayes</c:v>
                </c:pt>
                <c:pt idx="11">
                  <c:v>Jordan Goodwin</c:v>
                </c:pt>
                <c:pt idx="12">
                  <c:v>LeBron James</c:v>
                </c:pt>
                <c:pt idx="13">
                  <c:v>Luka Dončić</c:v>
                </c:pt>
                <c:pt idx="14">
                  <c:v>Markieff Morris</c:v>
                </c:pt>
                <c:pt idx="15">
                  <c:v>Maxi Kleber</c:v>
                </c:pt>
                <c:pt idx="16">
                  <c:v>Quincy Olivari</c:v>
                </c:pt>
                <c:pt idx="17">
                  <c:v>Rui Hachimura</c:v>
                </c:pt>
                <c:pt idx="18">
                  <c:v>Shake Milton</c:v>
                </c:pt>
                <c:pt idx="19">
                  <c:v>Trey Jemison III</c:v>
                </c:pt>
              </c:strCache>
            </c:strRef>
          </c:cat>
          <c:val>
            <c:numRef>
              <c:f>'Visualisation 2 LAL'!$B$7:$B$26</c:f>
              <c:numCache>
                <c:formatCode>General</c:formatCode>
                <c:ptCount val="20"/>
                <c:pt idx="0">
                  <c:v>37</c:v>
                </c:pt>
                <c:pt idx="1">
                  <c:v>2</c:v>
                </c:pt>
                <c:pt idx="2">
                  <c:v>58</c:v>
                </c:pt>
                <c:pt idx="3">
                  <c:v>3</c:v>
                </c:pt>
                <c:pt idx="4">
                  <c:v>17</c:v>
                </c:pt>
                <c:pt idx="5">
                  <c:v>33</c:v>
                </c:pt>
                <c:pt idx="6">
                  <c:v>39</c:v>
                </c:pt>
                <c:pt idx="7">
                  <c:v>82</c:v>
                </c:pt>
                <c:pt idx="8">
                  <c:v>22</c:v>
                </c:pt>
                <c:pt idx="9">
                  <c:v>68</c:v>
                </c:pt>
                <c:pt idx="10">
                  <c:v>78</c:v>
                </c:pt>
                <c:pt idx="11">
                  <c:v>38</c:v>
                </c:pt>
                <c:pt idx="12">
                  <c:v>70</c:v>
                </c:pt>
                <c:pt idx="13">
                  <c:v>40</c:v>
                </c:pt>
                <c:pt idx="14">
                  <c:v>3</c:v>
                </c:pt>
                <c:pt idx="15">
                  <c:v>24</c:v>
                </c:pt>
                <c:pt idx="16">
                  <c:v>0</c:v>
                </c:pt>
                <c:pt idx="17">
                  <c:v>77</c:v>
                </c:pt>
                <c:pt idx="18">
                  <c:v>29</c:v>
                </c:pt>
                <c:pt idx="19">
                  <c:v>46</c:v>
                </c:pt>
              </c:numCache>
            </c:numRef>
          </c:val>
          <c:extLst>
            <c:ext xmlns:c16="http://schemas.microsoft.com/office/drawing/2014/chart" uri="{C3380CC4-5D6E-409C-BE32-E72D297353CC}">
              <c16:uniqueId val="{00000000-2E47-4315-B6EC-1B468EC413F5}"/>
            </c:ext>
          </c:extLst>
        </c:ser>
        <c:ser>
          <c:idx val="1"/>
          <c:order val="1"/>
          <c:tx>
            <c:strRef>
              <c:f>'Visualisation 2 LAL'!$C$6</c:f>
              <c:strCache>
                <c:ptCount val="1"/>
                <c:pt idx="0">
                  <c:v>SUM de DREB</c:v>
                </c:pt>
              </c:strCache>
            </c:strRef>
          </c:tx>
          <c:spPr>
            <a:solidFill>
              <a:schemeClr val="accent2"/>
            </a:solidFill>
            <a:ln>
              <a:noFill/>
            </a:ln>
            <a:effectLst/>
          </c:spPr>
          <c:invertIfNegative val="0"/>
          <c:cat>
            <c:strRef>
              <c:f>'Visualisation 2 LAL'!$A$7:$A$26</c:f>
              <c:strCache>
                <c:ptCount val="20"/>
                <c:pt idx="0">
                  <c:v>Alex Len</c:v>
                </c:pt>
                <c:pt idx="1">
                  <c:v>Armel Traoré</c:v>
                </c:pt>
                <c:pt idx="2">
                  <c:v>Austin Reaves</c:v>
                </c:pt>
                <c:pt idx="3">
                  <c:v>Bronny James</c:v>
                </c:pt>
                <c:pt idx="4">
                  <c:v>Cam Reddish</c:v>
                </c:pt>
                <c:pt idx="5">
                  <c:v>Christian Koloko</c:v>
                </c:pt>
                <c:pt idx="6">
                  <c:v>Dalton Knecht</c:v>
                </c:pt>
                <c:pt idx="7">
                  <c:v>Dorian Finney-Smith</c:v>
                </c:pt>
                <c:pt idx="8">
                  <c:v>Gabe Vincent</c:v>
                </c:pt>
                <c:pt idx="9">
                  <c:v>Jarred Vanderbilt</c:v>
                </c:pt>
                <c:pt idx="10">
                  <c:v>Jaxson Hayes</c:v>
                </c:pt>
                <c:pt idx="11">
                  <c:v>Jordan Goodwin</c:v>
                </c:pt>
                <c:pt idx="12">
                  <c:v>LeBron James</c:v>
                </c:pt>
                <c:pt idx="13">
                  <c:v>Luka Dončić</c:v>
                </c:pt>
                <c:pt idx="14">
                  <c:v>Markieff Morris</c:v>
                </c:pt>
                <c:pt idx="15">
                  <c:v>Maxi Kleber</c:v>
                </c:pt>
                <c:pt idx="16">
                  <c:v>Quincy Olivari</c:v>
                </c:pt>
                <c:pt idx="17">
                  <c:v>Rui Hachimura</c:v>
                </c:pt>
                <c:pt idx="18">
                  <c:v>Shake Milton</c:v>
                </c:pt>
                <c:pt idx="19">
                  <c:v>Trey Jemison III</c:v>
                </c:pt>
              </c:strCache>
            </c:strRef>
          </c:cat>
          <c:val>
            <c:numRef>
              <c:f>'Visualisation 2 LAL'!$C$7:$C$26</c:f>
              <c:numCache>
                <c:formatCode>General</c:formatCode>
                <c:ptCount val="20"/>
                <c:pt idx="0">
                  <c:v>55</c:v>
                </c:pt>
                <c:pt idx="1">
                  <c:v>13</c:v>
                </c:pt>
                <c:pt idx="2">
                  <c:v>270</c:v>
                </c:pt>
                <c:pt idx="3">
                  <c:v>14</c:v>
                </c:pt>
                <c:pt idx="4">
                  <c:v>50</c:v>
                </c:pt>
                <c:pt idx="5">
                  <c:v>56</c:v>
                </c:pt>
                <c:pt idx="6">
                  <c:v>179</c:v>
                </c:pt>
                <c:pt idx="7">
                  <c:v>170</c:v>
                </c:pt>
                <c:pt idx="8">
                  <c:v>72</c:v>
                </c:pt>
                <c:pt idx="9">
                  <c:v>115</c:v>
                </c:pt>
                <c:pt idx="10">
                  <c:v>190</c:v>
                </c:pt>
                <c:pt idx="11">
                  <c:v>75</c:v>
                </c:pt>
                <c:pt idx="12">
                  <c:v>476</c:v>
                </c:pt>
                <c:pt idx="13">
                  <c:v>370</c:v>
                </c:pt>
                <c:pt idx="14">
                  <c:v>20</c:v>
                </c:pt>
                <c:pt idx="15">
                  <c:v>71</c:v>
                </c:pt>
                <c:pt idx="16">
                  <c:v>0</c:v>
                </c:pt>
                <c:pt idx="17">
                  <c:v>218</c:v>
                </c:pt>
                <c:pt idx="18">
                  <c:v>74</c:v>
                </c:pt>
                <c:pt idx="19">
                  <c:v>61</c:v>
                </c:pt>
              </c:numCache>
            </c:numRef>
          </c:val>
          <c:extLst>
            <c:ext xmlns:c16="http://schemas.microsoft.com/office/drawing/2014/chart" uri="{C3380CC4-5D6E-409C-BE32-E72D297353CC}">
              <c16:uniqueId val="{00000001-2E47-4315-B6EC-1B468EC413F5}"/>
            </c:ext>
          </c:extLst>
        </c:ser>
        <c:dLbls>
          <c:showLegendKey val="0"/>
          <c:showVal val="0"/>
          <c:showCatName val="0"/>
          <c:showSerName val="0"/>
          <c:showPercent val="0"/>
          <c:showBubbleSize val="0"/>
        </c:dLbls>
        <c:gapWidth val="150"/>
        <c:axId val="1873253824"/>
        <c:axId val="1873254784"/>
      </c:barChart>
      <c:barChart>
        <c:barDir val="col"/>
        <c:grouping val="clustered"/>
        <c:varyColors val="0"/>
        <c:ser>
          <c:idx val="2"/>
          <c:order val="2"/>
          <c:tx>
            <c:strRef>
              <c:f>'Visualisation 2 LAL'!$G$6</c:f>
              <c:strCache>
                <c:ptCount val="1"/>
                <c:pt idx="0">
                  <c:v>SUM de PIE</c:v>
                </c:pt>
              </c:strCache>
            </c:strRef>
          </c:tx>
          <c:spPr>
            <a:solidFill>
              <a:schemeClr val="accent3">
                <a:lumMod val="60000"/>
                <a:lumOff val="40000"/>
                <a:alpha val="35000"/>
              </a:schemeClr>
            </a:solidFill>
            <a:ln>
              <a:noFill/>
            </a:ln>
            <a:effectLst/>
          </c:spPr>
          <c:invertIfNegative val="0"/>
          <c:cat>
            <c:strRef>
              <c:f>'Visualisation 2 LAL'!$A$7:$A$26</c:f>
              <c:strCache>
                <c:ptCount val="20"/>
                <c:pt idx="0">
                  <c:v>Alex Len</c:v>
                </c:pt>
                <c:pt idx="1">
                  <c:v>Armel Traoré</c:v>
                </c:pt>
                <c:pt idx="2">
                  <c:v>Austin Reaves</c:v>
                </c:pt>
                <c:pt idx="3">
                  <c:v>Bronny James</c:v>
                </c:pt>
                <c:pt idx="4">
                  <c:v>Cam Reddish</c:v>
                </c:pt>
                <c:pt idx="5">
                  <c:v>Christian Koloko</c:v>
                </c:pt>
                <c:pt idx="6">
                  <c:v>Dalton Knecht</c:v>
                </c:pt>
                <c:pt idx="7">
                  <c:v>Dorian Finney-Smith</c:v>
                </c:pt>
                <c:pt idx="8">
                  <c:v>Gabe Vincent</c:v>
                </c:pt>
                <c:pt idx="9">
                  <c:v>Jarred Vanderbilt</c:v>
                </c:pt>
                <c:pt idx="10">
                  <c:v>Jaxson Hayes</c:v>
                </c:pt>
                <c:pt idx="11">
                  <c:v>Jordan Goodwin</c:v>
                </c:pt>
                <c:pt idx="12">
                  <c:v>LeBron James</c:v>
                </c:pt>
                <c:pt idx="13">
                  <c:v>Luka Dončić</c:v>
                </c:pt>
                <c:pt idx="14">
                  <c:v>Markieff Morris</c:v>
                </c:pt>
                <c:pt idx="15">
                  <c:v>Maxi Kleber</c:v>
                </c:pt>
                <c:pt idx="16">
                  <c:v>Quincy Olivari</c:v>
                </c:pt>
                <c:pt idx="17">
                  <c:v>Rui Hachimura</c:v>
                </c:pt>
                <c:pt idx="18">
                  <c:v>Shake Milton</c:v>
                </c:pt>
                <c:pt idx="19">
                  <c:v>Trey Jemison III</c:v>
                </c:pt>
              </c:strCache>
            </c:strRef>
          </c:cat>
          <c:val>
            <c:numRef>
              <c:f>'Visualisation 2 LAL'!$G$7:$G$26</c:f>
              <c:numCache>
                <c:formatCode>General</c:formatCode>
                <c:ptCount val="20"/>
                <c:pt idx="0">
                  <c:v>5.7</c:v>
                </c:pt>
                <c:pt idx="1">
                  <c:v>2.7</c:v>
                </c:pt>
                <c:pt idx="2">
                  <c:v>11.8</c:v>
                </c:pt>
                <c:pt idx="3">
                  <c:v>5</c:v>
                </c:pt>
                <c:pt idx="4">
                  <c:v>4</c:v>
                </c:pt>
                <c:pt idx="5">
                  <c:v>8.1999999999999993</c:v>
                </c:pt>
                <c:pt idx="6">
                  <c:v>8.6999999999999993</c:v>
                </c:pt>
                <c:pt idx="7">
                  <c:v>6</c:v>
                </c:pt>
                <c:pt idx="8">
                  <c:v>3.9</c:v>
                </c:pt>
                <c:pt idx="9">
                  <c:v>8.1999999999999993</c:v>
                </c:pt>
                <c:pt idx="10">
                  <c:v>9.6999999999999993</c:v>
                </c:pt>
                <c:pt idx="11">
                  <c:v>8</c:v>
                </c:pt>
                <c:pt idx="12">
                  <c:v>16.899999999999999</c:v>
                </c:pt>
                <c:pt idx="13">
                  <c:v>17</c:v>
                </c:pt>
                <c:pt idx="14">
                  <c:v>4.5</c:v>
                </c:pt>
                <c:pt idx="15">
                  <c:v>3.5</c:v>
                </c:pt>
                <c:pt idx="16">
                  <c:v>0</c:v>
                </c:pt>
                <c:pt idx="17">
                  <c:v>8.6</c:v>
                </c:pt>
                <c:pt idx="18">
                  <c:v>8.1</c:v>
                </c:pt>
                <c:pt idx="19">
                  <c:v>4.4000000000000004</c:v>
                </c:pt>
              </c:numCache>
            </c:numRef>
          </c:val>
          <c:extLst>
            <c:ext xmlns:c16="http://schemas.microsoft.com/office/drawing/2014/chart" uri="{C3380CC4-5D6E-409C-BE32-E72D297353CC}">
              <c16:uniqueId val="{00000002-2E47-4315-B6EC-1B468EC413F5}"/>
            </c:ext>
          </c:extLst>
        </c:ser>
        <c:dLbls>
          <c:showLegendKey val="0"/>
          <c:showVal val="0"/>
          <c:showCatName val="0"/>
          <c:showSerName val="0"/>
          <c:showPercent val="0"/>
          <c:showBubbleSize val="0"/>
        </c:dLbls>
        <c:gapWidth val="0"/>
        <c:axId val="2091598944"/>
        <c:axId val="2091600864"/>
      </c:barChart>
      <c:catAx>
        <c:axId val="187325382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dirty="0"/>
                  <a:t>Noms des Joueurs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873254784"/>
        <c:crosses val="autoZero"/>
        <c:auto val="1"/>
        <c:lblAlgn val="ctr"/>
        <c:lblOffset val="100"/>
        <c:noMultiLvlLbl val="0"/>
      </c:catAx>
      <c:valAx>
        <c:axId val="18732547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Rebonds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873253824"/>
        <c:crosses val="autoZero"/>
        <c:crossBetween val="between"/>
      </c:valAx>
      <c:valAx>
        <c:axId val="2091600864"/>
        <c:scaling>
          <c:orientation val="minMax"/>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PIE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091598944"/>
        <c:crosses val="max"/>
        <c:crossBetween val="between"/>
      </c:valAx>
      <c:catAx>
        <c:axId val="2091598944"/>
        <c:scaling>
          <c:orientation val="minMax"/>
        </c:scaling>
        <c:delete val="1"/>
        <c:axPos val="b"/>
        <c:numFmt formatCode="General" sourceLinked="1"/>
        <c:majorTickMark val="out"/>
        <c:minorTickMark val="none"/>
        <c:tickLblPos val="nextTo"/>
        <c:crossAx val="2091600864"/>
        <c:crosses val="autoZero"/>
        <c:auto val="1"/>
        <c:lblAlgn val="ctr"/>
        <c:lblOffset val="100"/>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0" i="0" u="none" strike="noStrike" kern="1200" spc="0" baseline="0" dirty="0">
                <a:solidFill>
                  <a:srgbClr val="000000">
                    <a:lumMod val="65000"/>
                    <a:lumOff val="35000"/>
                  </a:srgbClr>
                </a:solidFill>
              </a:rPr>
              <a:t>Analyse des Passes décisives, </a:t>
            </a:r>
            <a:r>
              <a:rPr lang="fr-FR" sz="1400" b="0" i="0" u="none" strike="noStrike" kern="1200" spc="0" baseline="0" dirty="0" err="1">
                <a:solidFill>
                  <a:srgbClr val="000000">
                    <a:lumMod val="65000"/>
                    <a:lumOff val="35000"/>
                  </a:srgbClr>
                </a:solidFill>
              </a:rPr>
              <a:t>Intercéptions</a:t>
            </a:r>
            <a:r>
              <a:rPr lang="fr-FR" sz="1400" b="0" i="0" u="none" strike="noStrike" kern="1200" spc="0" baseline="0" dirty="0">
                <a:solidFill>
                  <a:srgbClr val="000000">
                    <a:lumMod val="65000"/>
                    <a:lumOff val="35000"/>
                  </a:srgbClr>
                </a:solidFill>
              </a:rPr>
              <a:t> et Contres  </a:t>
            </a:r>
          </a:p>
        </c:rich>
      </c:tx>
      <c:layout>
        <c:manualLayout>
          <c:xMode val="edge"/>
          <c:yMode val="edge"/>
          <c:x val="1.4631889763779547E-2"/>
          <c:y val="2.196324750702317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barChart>
        <c:barDir val="col"/>
        <c:grouping val="clustered"/>
        <c:varyColors val="0"/>
        <c:ser>
          <c:idx val="0"/>
          <c:order val="0"/>
          <c:tx>
            <c:strRef>
              <c:f>'Visualisation 2 LAL'!$D$6</c:f>
              <c:strCache>
                <c:ptCount val="1"/>
                <c:pt idx="0">
                  <c:v>SUM de AST</c:v>
                </c:pt>
              </c:strCache>
            </c:strRef>
          </c:tx>
          <c:spPr>
            <a:solidFill>
              <a:schemeClr val="accent2">
                <a:lumMod val="75000"/>
              </a:schemeClr>
            </a:solidFill>
            <a:ln>
              <a:noFill/>
            </a:ln>
            <a:effectLst/>
          </c:spPr>
          <c:invertIfNegative val="0"/>
          <c:cat>
            <c:strRef>
              <c:f>'Visualisation 2 LAL'!$A$7:$A$26</c:f>
              <c:strCache>
                <c:ptCount val="20"/>
                <c:pt idx="0">
                  <c:v>Alex Len</c:v>
                </c:pt>
                <c:pt idx="1">
                  <c:v>Armel Traoré</c:v>
                </c:pt>
                <c:pt idx="2">
                  <c:v>Austin Reaves</c:v>
                </c:pt>
                <c:pt idx="3">
                  <c:v>Bronny James</c:v>
                </c:pt>
                <c:pt idx="4">
                  <c:v>Cam Reddish</c:v>
                </c:pt>
                <c:pt idx="5">
                  <c:v>Christian Koloko</c:v>
                </c:pt>
                <c:pt idx="6">
                  <c:v>Dalton Knecht</c:v>
                </c:pt>
                <c:pt idx="7">
                  <c:v>Dorian Finney-Smith</c:v>
                </c:pt>
                <c:pt idx="8">
                  <c:v>Gabe Vincent</c:v>
                </c:pt>
                <c:pt idx="9">
                  <c:v>Jarred Vanderbilt</c:v>
                </c:pt>
                <c:pt idx="10">
                  <c:v>Jaxson Hayes</c:v>
                </c:pt>
                <c:pt idx="11">
                  <c:v>Jordan Goodwin</c:v>
                </c:pt>
                <c:pt idx="12">
                  <c:v>LeBron James</c:v>
                </c:pt>
                <c:pt idx="13">
                  <c:v>Luka Dončić</c:v>
                </c:pt>
                <c:pt idx="14">
                  <c:v>Markieff Morris</c:v>
                </c:pt>
                <c:pt idx="15">
                  <c:v>Maxi Kleber</c:v>
                </c:pt>
                <c:pt idx="16">
                  <c:v>Quincy Olivari</c:v>
                </c:pt>
                <c:pt idx="17">
                  <c:v>Rui Hachimura</c:v>
                </c:pt>
                <c:pt idx="18">
                  <c:v>Shake Milton</c:v>
                </c:pt>
                <c:pt idx="19">
                  <c:v>Trey Jemison III</c:v>
                </c:pt>
              </c:strCache>
            </c:strRef>
          </c:cat>
          <c:val>
            <c:numRef>
              <c:f>'Visualisation 2 LAL'!$D$7:$D$26</c:f>
              <c:numCache>
                <c:formatCode>General</c:formatCode>
                <c:ptCount val="20"/>
                <c:pt idx="0">
                  <c:v>37</c:v>
                </c:pt>
                <c:pt idx="1">
                  <c:v>1</c:v>
                </c:pt>
                <c:pt idx="2">
                  <c:v>423</c:v>
                </c:pt>
                <c:pt idx="3">
                  <c:v>22</c:v>
                </c:pt>
                <c:pt idx="4">
                  <c:v>23</c:v>
                </c:pt>
                <c:pt idx="5">
                  <c:v>15</c:v>
                </c:pt>
                <c:pt idx="6">
                  <c:v>62</c:v>
                </c:pt>
                <c:pt idx="7">
                  <c:v>88</c:v>
                </c:pt>
                <c:pt idx="8">
                  <c:v>101</c:v>
                </c:pt>
                <c:pt idx="9">
                  <c:v>40</c:v>
                </c:pt>
                <c:pt idx="10">
                  <c:v>56</c:v>
                </c:pt>
                <c:pt idx="11">
                  <c:v>41</c:v>
                </c:pt>
                <c:pt idx="12">
                  <c:v>574</c:v>
                </c:pt>
                <c:pt idx="13">
                  <c:v>385</c:v>
                </c:pt>
                <c:pt idx="14">
                  <c:v>21</c:v>
                </c:pt>
                <c:pt idx="15">
                  <c:v>44</c:v>
                </c:pt>
                <c:pt idx="16">
                  <c:v>1</c:v>
                </c:pt>
                <c:pt idx="17">
                  <c:v>83</c:v>
                </c:pt>
                <c:pt idx="18">
                  <c:v>103</c:v>
                </c:pt>
                <c:pt idx="19">
                  <c:v>15</c:v>
                </c:pt>
              </c:numCache>
            </c:numRef>
          </c:val>
          <c:extLst>
            <c:ext xmlns:c16="http://schemas.microsoft.com/office/drawing/2014/chart" uri="{C3380CC4-5D6E-409C-BE32-E72D297353CC}">
              <c16:uniqueId val="{00000000-0634-4273-A6D6-CD8203279CD3}"/>
            </c:ext>
          </c:extLst>
        </c:ser>
        <c:ser>
          <c:idx val="1"/>
          <c:order val="1"/>
          <c:tx>
            <c:strRef>
              <c:f>'Visualisation 2 LAL'!$E$6</c:f>
              <c:strCache>
                <c:ptCount val="1"/>
                <c:pt idx="0">
                  <c:v>SUM de STL</c:v>
                </c:pt>
              </c:strCache>
            </c:strRef>
          </c:tx>
          <c:spPr>
            <a:solidFill>
              <a:srgbClr val="FFC000"/>
            </a:solidFill>
            <a:ln>
              <a:noFill/>
            </a:ln>
            <a:effectLst/>
          </c:spPr>
          <c:invertIfNegative val="0"/>
          <c:cat>
            <c:strRef>
              <c:f>'Visualisation 2 LAL'!$A$7:$A$26</c:f>
              <c:strCache>
                <c:ptCount val="20"/>
                <c:pt idx="0">
                  <c:v>Alex Len</c:v>
                </c:pt>
                <c:pt idx="1">
                  <c:v>Armel Traoré</c:v>
                </c:pt>
                <c:pt idx="2">
                  <c:v>Austin Reaves</c:v>
                </c:pt>
                <c:pt idx="3">
                  <c:v>Bronny James</c:v>
                </c:pt>
                <c:pt idx="4">
                  <c:v>Cam Reddish</c:v>
                </c:pt>
                <c:pt idx="5">
                  <c:v>Christian Koloko</c:v>
                </c:pt>
                <c:pt idx="6">
                  <c:v>Dalton Knecht</c:v>
                </c:pt>
                <c:pt idx="7">
                  <c:v>Dorian Finney-Smith</c:v>
                </c:pt>
                <c:pt idx="8">
                  <c:v>Gabe Vincent</c:v>
                </c:pt>
                <c:pt idx="9">
                  <c:v>Jarred Vanderbilt</c:v>
                </c:pt>
                <c:pt idx="10">
                  <c:v>Jaxson Hayes</c:v>
                </c:pt>
                <c:pt idx="11">
                  <c:v>Jordan Goodwin</c:v>
                </c:pt>
                <c:pt idx="12">
                  <c:v>LeBron James</c:v>
                </c:pt>
                <c:pt idx="13">
                  <c:v>Luka Dončić</c:v>
                </c:pt>
                <c:pt idx="14">
                  <c:v>Markieff Morris</c:v>
                </c:pt>
                <c:pt idx="15">
                  <c:v>Maxi Kleber</c:v>
                </c:pt>
                <c:pt idx="16">
                  <c:v>Quincy Olivari</c:v>
                </c:pt>
                <c:pt idx="17">
                  <c:v>Rui Hachimura</c:v>
                </c:pt>
                <c:pt idx="18">
                  <c:v>Shake Milton</c:v>
                </c:pt>
                <c:pt idx="19">
                  <c:v>Trey Jemison III</c:v>
                </c:pt>
              </c:strCache>
            </c:strRef>
          </c:cat>
          <c:val>
            <c:numRef>
              <c:f>'Visualisation 2 LAL'!$E$7:$E$26</c:f>
              <c:numCache>
                <c:formatCode>General</c:formatCode>
                <c:ptCount val="20"/>
                <c:pt idx="0">
                  <c:v>9</c:v>
                </c:pt>
                <c:pt idx="1">
                  <c:v>4</c:v>
                </c:pt>
                <c:pt idx="2">
                  <c:v>80</c:v>
                </c:pt>
                <c:pt idx="3">
                  <c:v>8</c:v>
                </c:pt>
                <c:pt idx="4">
                  <c:v>33</c:v>
                </c:pt>
                <c:pt idx="5">
                  <c:v>7</c:v>
                </c:pt>
                <c:pt idx="6">
                  <c:v>23</c:v>
                </c:pt>
                <c:pt idx="7">
                  <c:v>57</c:v>
                </c:pt>
                <c:pt idx="8">
                  <c:v>50</c:v>
                </c:pt>
                <c:pt idx="9">
                  <c:v>36</c:v>
                </c:pt>
                <c:pt idx="10">
                  <c:v>34</c:v>
                </c:pt>
                <c:pt idx="11">
                  <c:v>29</c:v>
                </c:pt>
                <c:pt idx="12">
                  <c:v>70</c:v>
                </c:pt>
                <c:pt idx="13">
                  <c:v>90</c:v>
                </c:pt>
                <c:pt idx="14">
                  <c:v>2</c:v>
                </c:pt>
                <c:pt idx="15">
                  <c:v>10</c:v>
                </c:pt>
                <c:pt idx="16">
                  <c:v>0</c:v>
                </c:pt>
                <c:pt idx="17">
                  <c:v>47</c:v>
                </c:pt>
                <c:pt idx="18">
                  <c:v>23</c:v>
                </c:pt>
                <c:pt idx="19">
                  <c:v>8</c:v>
                </c:pt>
              </c:numCache>
            </c:numRef>
          </c:val>
          <c:extLst>
            <c:ext xmlns:c16="http://schemas.microsoft.com/office/drawing/2014/chart" uri="{C3380CC4-5D6E-409C-BE32-E72D297353CC}">
              <c16:uniqueId val="{00000001-0634-4273-A6D6-CD8203279CD3}"/>
            </c:ext>
          </c:extLst>
        </c:ser>
        <c:ser>
          <c:idx val="2"/>
          <c:order val="2"/>
          <c:tx>
            <c:strRef>
              <c:f>'Visualisation 2 LAL'!$F$6</c:f>
              <c:strCache>
                <c:ptCount val="1"/>
                <c:pt idx="0">
                  <c:v>SUM de BLK</c:v>
                </c:pt>
              </c:strCache>
            </c:strRef>
          </c:tx>
          <c:spPr>
            <a:solidFill>
              <a:schemeClr val="accent1"/>
            </a:solidFill>
            <a:ln>
              <a:noFill/>
            </a:ln>
            <a:effectLst/>
          </c:spPr>
          <c:invertIfNegative val="0"/>
          <c:cat>
            <c:strRef>
              <c:f>'Visualisation 2 LAL'!$A$7:$A$26</c:f>
              <c:strCache>
                <c:ptCount val="20"/>
                <c:pt idx="0">
                  <c:v>Alex Len</c:v>
                </c:pt>
                <c:pt idx="1">
                  <c:v>Armel Traoré</c:v>
                </c:pt>
                <c:pt idx="2">
                  <c:v>Austin Reaves</c:v>
                </c:pt>
                <c:pt idx="3">
                  <c:v>Bronny James</c:v>
                </c:pt>
                <c:pt idx="4">
                  <c:v>Cam Reddish</c:v>
                </c:pt>
                <c:pt idx="5">
                  <c:v>Christian Koloko</c:v>
                </c:pt>
                <c:pt idx="6">
                  <c:v>Dalton Knecht</c:v>
                </c:pt>
                <c:pt idx="7">
                  <c:v>Dorian Finney-Smith</c:v>
                </c:pt>
                <c:pt idx="8">
                  <c:v>Gabe Vincent</c:v>
                </c:pt>
                <c:pt idx="9">
                  <c:v>Jarred Vanderbilt</c:v>
                </c:pt>
                <c:pt idx="10">
                  <c:v>Jaxson Hayes</c:v>
                </c:pt>
                <c:pt idx="11">
                  <c:v>Jordan Goodwin</c:v>
                </c:pt>
                <c:pt idx="12">
                  <c:v>LeBron James</c:v>
                </c:pt>
                <c:pt idx="13">
                  <c:v>Luka Dončić</c:v>
                </c:pt>
                <c:pt idx="14">
                  <c:v>Markieff Morris</c:v>
                </c:pt>
                <c:pt idx="15">
                  <c:v>Maxi Kleber</c:v>
                </c:pt>
                <c:pt idx="16">
                  <c:v>Quincy Olivari</c:v>
                </c:pt>
                <c:pt idx="17">
                  <c:v>Rui Hachimura</c:v>
                </c:pt>
                <c:pt idx="18">
                  <c:v>Shake Milton</c:v>
                </c:pt>
                <c:pt idx="19">
                  <c:v>Trey Jemison III</c:v>
                </c:pt>
              </c:strCache>
            </c:strRef>
          </c:cat>
          <c:val>
            <c:numRef>
              <c:f>'Visualisation 2 LAL'!$F$7:$F$26</c:f>
              <c:numCache>
                <c:formatCode>General</c:formatCode>
                <c:ptCount val="20"/>
                <c:pt idx="0">
                  <c:v>23</c:v>
                </c:pt>
                <c:pt idx="1">
                  <c:v>2</c:v>
                </c:pt>
                <c:pt idx="2">
                  <c:v>22</c:v>
                </c:pt>
                <c:pt idx="3">
                  <c:v>3</c:v>
                </c:pt>
                <c:pt idx="4">
                  <c:v>10</c:v>
                </c:pt>
                <c:pt idx="5">
                  <c:v>15</c:v>
                </c:pt>
                <c:pt idx="6">
                  <c:v>8</c:v>
                </c:pt>
                <c:pt idx="7">
                  <c:v>25</c:v>
                </c:pt>
                <c:pt idx="8">
                  <c:v>14</c:v>
                </c:pt>
                <c:pt idx="9">
                  <c:v>11</c:v>
                </c:pt>
                <c:pt idx="10">
                  <c:v>50</c:v>
                </c:pt>
                <c:pt idx="11">
                  <c:v>12</c:v>
                </c:pt>
                <c:pt idx="12">
                  <c:v>42</c:v>
                </c:pt>
                <c:pt idx="13">
                  <c:v>20</c:v>
                </c:pt>
                <c:pt idx="14">
                  <c:v>3</c:v>
                </c:pt>
                <c:pt idx="15">
                  <c:v>17</c:v>
                </c:pt>
                <c:pt idx="16">
                  <c:v>0</c:v>
                </c:pt>
                <c:pt idx="17">
                  <c:v>24</c:v>
                </c:pt>
                <c:pt idx="18">
                  <c:v>6</c:v>
                </c:pt>
                <c:pt idx="19">
                  <c:v>15</c:v>
                </c:pt>
              </c:numCache>
            </c:numRef>
          </c:val>
          <c:extLst>
            <c:ext xmlns:c16="http://schemas.microsoft.com/office/drawing/2014/chart" uri="{C3380CC4-5D6E-409C-BE32-E72D297353CC}">
              <c16:uniqueId val="{00000002-0634-4273-A6D6-CD8203279CD3}"/>
            </c:ext>
          </c:extLst>
        </c:ser>
        <c:dLbls>
          <c:showLegendKey val="0"/>
          <c:showVal val="0"/>
          <c:showCatName val="0"/>
          <c:showSerName val="0"/>
          <c:showPercent val="0"/>
          <c:showBubbleSize val="0"/>
        </c:dLbls>
        <c:gapWidth val="150"/>
        <c:axId val="1790874672"/>
        <c:axId val="1790880432"/>
      </c:barChart>
      <c:barChart>
        <c:barDir val="col"/>
        <c:grouping val="clustered"/>
        <c:varyColors val="0"/>
        <c:ser>
          <c:idx val="3"/>
          <c:order val="3"/>
          <c:tx>
            <c:strRef>
              <c:f>'Visualisation 2 LAL'!$G$6</c:f>
              <c:strCache>
                <c:ptCount val="1"/>
                <c:pt idx="0">
                  <c:v>SUM de PIE</c:v>
                </c:pt>
              </c:strCache>
            </c:strRef>
          </c:tx>
          <c:spPr>
            <a:solidFill>
              <a:srgbClr val="00B050">
                <a:alpha val="23000"/>
              </a:srgbClr>
            </a:solidFill>
            <a:ln>
              <a:noFill/>
            </a:ln>
            <a:effectLst/>
          </c:spPr>
          <c:invertIfNegative val="0"/>
          <c:cat>
            <c:strRef>
              <c:f>'Visualisation 2 LAL'!$A$7:$A$26</c:f>
              <c:strCache>
                <c:ptCount val="20"/>
                <c:pt idx="0">
                  <c:v>Alex Len</c:v>
                </c:pt>
                <c:pt idx="1">
                  <c:v>Armel Traoré</c:v>
                </c:pt>
                <c:pt idx="2">
                  <c:v>Austin Reaves</c:v>
                </c:pt>
                <c:pt idx="3">
                  <c:v>Bronny James</c:v>
                </c:pt>
                <c:pt idx="4">
                  <c:v>Cam Reddish</c:v>
                </c:pt>
                <c:pt idx="5">
                  <c:v>Christian Koloko</c:v>
                </c:pt>
                <c:pt idx="6">
                  <c:v>Dalton Knecht</c:v>
                </c:pt>
                <c:pt idx="7">
                  <c:v>Dorian Finney-Smith</c:v>
                </c:pt>
                <c:pt idx="8">
                  <c:v>Gabe Vincent</c:v>
                </c:pt>
                <c:pt idx="9">
                  <c:v>Jarred Vanderbilt</c:v>
                </c:pt>
                <c:pt idx="10">
                  <c:v>Jaxson Hayes</c:v>
                </c:pt>
                <c:pt idx="11">
                  <c:v>Jordan Goodwin</c:v>
                </c:pt>
                <c:pt idx="12">
                  <c:v>LeBron James</c:v>
                </c:pt>
                <c:pt idx="13">
                  <c:v>Luka Dončić</c:v>
                </c:pt>
                <c:pt idx="14">
                  <c:v>Markieff Morris</c:v>
                </c:pt>
                <c:pt idx="15">
                  <c:v>Maxi Kleber</c:v>
                </c:pt>
                <c:pt idx="16">
                  <c:v>Quincy Olivari</c:v>
                </c:pt>
                <c:pt idx="17">
                  <c:v>Rui Hachimura</c:v>
                </c:pt>
                <c:pt idx="18">
                  <c:v>Shake Milton</c:v>
                </c:pt>
                <c:pt idx="19">
                  <c:v>Trey Jemison III</c:v>
                </c:pt>
              </c:strCache>
            </c:strRef>
          </c:cat>
          <c:val>
            <c:numRef>
              <c:f>'Visualisation 2 LAL'!$G$7:$G$26</c:f>
              <c:numCache>
                <c:formatCode>General</c:formatCode>
                <c:ptCount val="20"/>
                <c:pt idx="0">
                  <c:v>5.7</c:v>
                </c:pt>
                <c:pt idx="1">
                  <c:v>2.7</c:v>
                </c:pt>
                <c:pt idx="2">
                  <c:v>11.8</c:v>
                </c:pt>
                <c:pt idx="3">
                  <c:v>5</c:v>
                </c:pt>
                <c:pt idx="4">
                  <c:v>4</c:v>
                </c:pt>
                <c:pt idx="5">
                  <c:v>8.1999999999999993</c:v>
                </c:pt>
                <c:pt idx="6">
                  <c:v>8.6999999999999993</c:v>
                </c:pt>
                <c:pt idx="7">
                  <c:v>6</c:v>
                </c:pt>
                <c:pt idx="8">
                  <c:v>3.9</c:v>
                </c:pt>
                <c:pt idx="9">
                  <c:v>8.1999999999999993</c:v>
                </c:pt>
                <c:pt idx="10">
                  <c:v>9.6999999999999993</c:v>
                </c:pt>
                <c:pt idx="11">
                  <c:v>8</c:v>
                </c:pt>
                <c:pt idx="12">
                  <c:v>16.899999999999999</c:v>
                </c:pt>
                <c:pt idx="13">
                  <c:v>17</c:v>
                </c:pt>
                <c:pt idx="14">
                  <c:v>4.5</c:v>
                </c:pt>
                <c:pt idx="15">
                  <c:v>3.5</c:v>
                </c:pt>
                <c:pt idx="16">
                  <c:v>0</c:v>
                </c:pt>
                <c:pt idx="17">
                  <c:v>8.6</c:v>
                </c:pt>
                <c:pt idx="18">
                  <c:v>8.1</c:v>
                </c:pt>
                <c:pt idx="19">
                  <c:v>4.4000000000000004</c:v>
                </c:pt>
              </c:numCache>
            </c:numRef>
          </c:val>
          <c:extLst>
            <c:ext xmlns:c16="http://schemas.microsoft.com/office/drawing/2014/chart" uri="{C3380CC4-5D6E-409C-BE32-E72D297353CC}">
              <c16:uniqueId val="{00000003-0634-4273-A6D6-CD8203279CD3}"/>
            </c:ext>
          </c:extLst>
        </c:ser>
        <c:dLbls>
          <c:showLegendKey val="0"/>
          <c:showVal val="0"/>
          <c:showCatName val="0"/>
          <c:showSerName val="0"/>
          <c:showPercent val="0"/>
          <c:showBubbleSize val="0"/>
        </c:dLbls>
        <c:gapWidth val="0"/>
        <c:axId val="1875608912"/>
        <c:axId val="1875599792"/>
      </c:barChart>
      <c:catAx>
        <c:axId val="179087467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sz="1000" b="0" i="0" u="none" strike="noStrike" kern="1200" baseline="0" dirty="0">
                    <a:solidFill>
                      <a:srgbClr val="C0791B">
                        <a:lumMod val="65000"/>
                        <a:lumOff val="35000"/>
                      </a:srgbClr>
                    </a:solidFill>
                  </a:rPr>
                  <a:t>Noms des Joueurs</a:t>
                </a:r>
              </a:p>
            </c:rich>
          </c:tx>
          <c:layout>
            <c:manualLayout>
              <c:xMode val="edge"/>
              <c:yMode val="edge"/>
              <c:x val="0.43864238845144354"/>
              <c:y val="0.9199910269387013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790880432"/>
        <c:crosses val="autoZero"/>
        <c:auto val="1"/>
        <c:lblAlgn val="ctr"/>
        <c:lblOffset val="100"/>
        <c:noMultiLvlLbl val="0"/>
      </c:catAx>
      <c:valAx>
        <c:axId val="179088043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sz="1000" b="0" i="0" u="none" strike="noStrike" kern="1200" baseline="0" dirty="0">
                    <a:solidFill>
                      <a:schemeClr val="tx1">
                        <a:lumMod val="60000"/>
                        <a:lumOff val="40000"/>
                      </a:schemeClr>
                    </a:solidFill>
                  </a:rPr>
                  <a:t>Total AST / STL / BLK</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790874672"/>
        <c:crosses val="autoZero"/>
        <c:crossBetween val="between"/>
      </c:valAx>
      <c:valAx>
        <c:axId val="1875599792"/>
        <c:scaling>
          <c:orientation val="minMax"/>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sz="1000" b="0" i="0" u="none" strike="noStrike" kern="1200" baseline="0" dirty="0">
                    <a:solidFill>
                      <a:schemeClr val="tx1">
                        <a:lumMod val="60000"/>
                        <a:lumOff val="40000"/>
                      </a:schemeClr>
                    </a:solidFill>
                  </a:rPr>
                  <a:t>PIE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875608912"/>
        <c:crosses val="max"/>
        <c:crossBetween val="between"/>
      </c:valAx>
      <c:catAx>
        <c:axId val="1875608912"/>
        <c:scaling>
          <c:orientation val="minMax"/>
        </c:scaling>
        <c:delete val="1"/>
        <c:axPos val="b"/>
        <c:numFmt formatCode="General" sourceLinked="1"/>
        <c:majorTickMark val="out"/>
        <c:minorTickMark val="none"/>
        <c:tickLblPos val="nextTo"/>
        <c:crossAx val="1875599792"/>
        <c:crosses val="autoZero"/>
        <c:auto val="1"/>
        <c:lblAlgn val="ctr"/>
        <c:lblOffset val="100"/>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Nombre</a:t>
            </a:r>
            <a:r>
              <a:rPr lang="fr-FR" baseline="0"/>
              <a:t> de points total et Pourcentage de tirs réussis</a:t>
            </a:r>
          </a:p>
        </c:rich>
      </c:tx>
      <c:layout>
        <c:manualLayout>
          <c:xMode val="edge"/>
          <c:yMode val="edge"/>
          <c:x val="1.668915325773164E-2"/>
          <c:y val="2.7777694681982091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barChart>
        <c:barDir val="col"/>
        <c:grouping val="clustered"/>
        <c:varyColors val="0"/>
        <c:ser>
          <c:idx val="0"/>
          <c:order val="0"/>
          <c:tx>
            <c:strRef>
              <c:f>'Visualisation 3'!$B$6</c:f>
              <c:strCache>
                <c:ptCount val="1"/>
                <c:pt idx="0">
                  <c:v>Nombre de points total</c:v>
                </c:pt>
              </c:strCache>
            </c:strRef>
          </c:tx>
          <c:spPr>
            <a:solidFill>
              <a:schemeClr val="accent1"/>
            </a:solidFill>
            <a:ln>
              <a:noFill/>
            </a:ln>
            <a:effectLst/>
          </c:spPr>
          <c:invertIfNegative val="0"/>
          <c:cat>
            <c:strRef>
              <c:f>'Visualisation 3'!$A$7:$A$21</c:f>
              <c:strCache>
                <c:ptCount val="15"/>
                <c:pt idx="0">
                  <c:v>Shai Gilgeous-Alexander</c:v>
                </c:pt>
                <c:pt idx="1">
                  <c:v>Anthony Edwards</c:v>
                </c:pt>
                <c:pt idx="2">
                  <c:v>Nikola Jokić</c:v>
                </c:pt>
                <c:pt idx="3">
                  <c:v>Giannis Antetokounmpo</c:v>
                </c:pt>
                <c:pt idx="4">
                  <c:v>Jayson Tatum</c:v>
                </c:pt>
                <c:pt idx="5">
                  <c:v>Devin Booker</c:v>
                </c:pt>
                <c:pt idx="6">
                  <c:v>Tyler Herro</c:v>
                </c:pt>
                <c:pt idx="7">
                  <c:v>Trae Young</c:v>
                </c:pt>
                <c:pt idx="8">
                  <c:v>Cade Cunningham</c:v>
                </c:pt>
                <c:pt idx="9">
                  <c:v>James Harden</c:v>
                </c:pt>
                <c:pt idx="10">
                  <c:v>Karl-Anthony Towns</c:v>
                </c:pt>
                <c:pt idx="11">
                  <c:v>Zach LaVine</c:v>
                </c:pt>
                <c:pt idx="12">
                  <c:v>Jalen Green</c:v>
                </c:pt>
                <c:pt idx="13">
                  <c:v>Stephen Curry</c:v>
                </c:pt>
                <c:pt idx="14">
                  <c:v>DeMar DeRozan</c:v>
                </c:pt>
              </c:strCache>
            </c:strRef>
          </c:cat>
          <c:val>
            <c:numRef>
              <c:f>'Visualisation 3'!$B$7:$B$21</c:f>
              <c:numCache>
                <c:formatCode>General</c:formatCode>
                <c:ptCount val="15"/>
                <c:pt idx="0">
                  <c:v>2485</c:v>
                </c:pt>
                <c:pt idx="1">
                  <c:v>2180</c:v>
                </c:pt>
                <c:pt idx="2">
                  <c:v>2072</c:v>
                </c:pt>
                <c:pt idx="3">
                  <c:v>2037</c:v>
                </c:pt>
                <c:pt idx="4">
                  <c:v>1930</c:v>
                </c:pt>
                <c:pt idx="5">
                  <c:v>1920</c:v>
                </c:pt>
                <c:pt idx="6">
                  <c:v>1840</c:v>
                </c:pt>
                <c:pt idx="7">
                  <c:v>1839</c:v>
                </c:pt>
                <c:pt idx="8">
                  <c:v>1827</c:v>
                </c:pt>
                <c:pt idx="9">
                  <c:v>1801</c:v>
                </c:pt>
                <c:pt idx="10">
                  <c:v>1757</c:v>
                </c:pt>
                <c:pt idx="11">
                  <c:v>1724</c:v>
                </c:pt>
                <c:pt idx="12">
                  <c:v>1722</c:v>
                </c:pt>
                <c:pt idx="13">
                  <c:v>1715</c:v>
                </c:pt>
                <c:pt idx="14">
                  <c:v>1709</c:v>
                </c:pt>
              </c:numCache>
            </c:numRef>
          </c:val>
          <c:extLst>
            <c:ext xmlns:c16="http://schemas.microsoft.com/office/drawing/2014/chart" uri="{C3380CC4-5D6E-409C-BE32-E72D297353CC}">
              <c16:uniqueId val="{00000000-A342-4941-874E-777C8D6EA412}"/>
            </c:ext>
          </c:extLst>
        </c:ser>
        <c:dLbls>
          <c:showLegendKey val="0"/>
          <c:showVal val="0"/>
          <c:showCatName val="0"/>
          <c:showSerName val="0"/>
          <c:showPercent val="0"/>
          <c:showBubbleSize val="0"/>
        </c:dLbls>
        <c:gapWidth val="70"/>
        <c:overlap val="-27"/>
        <c:axId val="106605967"/>
        <c:axId val="106597327"/>
      </c:barChart>
      <c:lineChart>
        <c:grouping val="standard"/>
        <c:varyColors val="0"/>
        <c:ser>
          <c:idx val="1"/>
          <c:order val="1"/>
          <c:tx>
            <c:strRef>
              <c:f>'Visualisation 3'!$D$6</c:f>
              <c:strCache>
                <c:ptCount val="1"/>
                <c:pt idx="0">
                  <c:v>Pourcentage de tirs réussis</c:v>
                </c:pt>
              </c:strCache>
            </c:strRef>
          </c:tx>
          <c:spPr>
            <a:ln w="28575" cap="rnd">
              <a:solidFill>
                <a:schemeClr val="accent2"/>
              </a:solidFill>
              <a:round/>
            </a:ln>
            <a:effectLst/>
          </c:spPr>
          <c:marker>
            <c:symbol val="none"/>
          </c:marker>
          <c:cat>
            <c:strRef>
              <c:f>'Visualisation 3'!$A$7:$A$21</c:f>
              <c:strCache>
                <c:ptCount val="15"/>
                <c:pt idx="0">
                  <c:v>Shai Gilgeous-Alexander</c:v>
                </c:pt>
                <c:pt idx="1">
                  <c:v>Anthony Edwards</c:v>
                </c:pt>
                <c:pt idx="2">
                  <c:v>Nikola Jokić</c:v>
                </c:pt>
                <c:pt idx="3">
                  <c:v>Giannis Antetokounmpo</c:v>
                </c:pt>
                <c:pt idx="4">
                  <c:v>Jayson Tatum</c:v>
                </c:pt>
                <c:pt idx="5">
                  <c:v>Devin Booker</c:v>
                </c:pt>
                <c:pt idx="6">
                  <c:v>Tyler Herro</c:v>
                </c:pt>
                <c:pt idx="7">
                  <c:v>Trae Young</c:v>
                </c:pt>
                <c:pt idx="8">
                  <c:v>Cade Cunningham</c:v>
                </c:pt>
                <c:pt idx="9">
                  <c:v>James Harden</c:v>
                </c:pt>
                <c:pt idx="10">
                  <c:v>Karl-Anthony Towns</c:v>
                </c:pt>
                <c:pt idx="11">
                  <c:v>Zach LaVine</c:v>
                </c:pt>
                <c:pt idx="12">
                  <c:v>Jalen Green</c:v>
                </c:pt>
                <c:pt idx="13">
                  <c:v>Stephen Curry</c:v>
                </c:pt>
                <c:pt idx="14">
                  <c:v>DeMar DeRozan</c:v>
                </c:pt>
              </c:strCache>
            </c:strRef>
          </c:cat>
          <c:val>
            <c:numRef>
              <c:f>'Visualisation 3'!$D$7:$D$21</c:f>
              <c:numCache>
                <c:formatCode>General</c:formatCode>
                <c:ptCount val="15"/>
                <c:pt idx="0">
                  <c:v>51.9</c:v>
                </c:pt>
                <c:pt idx="1">
                  <c:v>44.7</c:v>
                </c:pt>
                <c:pt idx="2">
                  <c:v>57.6</c:v>
                </c:pt>
                <c:pt idx="3">
                  <c:v>60.1</c:v>
                </c:pt>
                <c:pt idx="4">
                  <c:v>45.2</c:v>
                </c:pt>
                <c:pt idx="5">
                  <c:v>46.1</c:v>
                </c:pt>
                <c:pt idx="6">
                  <c:v>47.2</c:v>
                </c:pt>
                <c:pt idx="7">
                  <c:v>41.1</c:v>
                </c:pt>
                <c:pt idx="8">
                  <c:v>46.9</c:v>
                </c:pt>
                <c:pt idx="9">
                  <c:v>41</c:v>
                </c:pt>
                <c:pt idx="10">
                  <c:v>52.6</c:v>
                </c:pt>
                <c:pt idx="11">
                  <c:v>51.1</c:v>
                </c:pt>
                <c:pt idx="12">
                  <c:v>42.3</c:v>
                </c:pt>
                <c:pt idx="13">
                  <c:v>44.8</c:v>
                </c:pt>
                <c:pt idx="14">
                  <c:v>47.7</c:v>
                </c:pt>
              </c:numCache>
            </c:numRef>
          </c:val>
          <c:smooth val="0"/>
          <c:extLst>
            <c:ext xmlns:c16="http://schemas.microsoft.com/office/drawing/2014/chart" uri="{C3380CC4-5D6E-409C-BE32-E72D297353CC}">
              <c16:uniqueId val="{00000001-A342-4941-874E-777C8D6EA412}"/>
            </c:ext>
          </c:extLst>
        </c:ser>
        <c:dLbls>
          <c:showLegendKey val="0"/>
          <c:showVal val="0"/>
          <c:showCatName val="0"/>
          <c:showSerName val="0"/>
          <c:showPercent val="0"/>
          <c:showBubbleSize val="0"/>
        </c:dLbls>
        <c:marker val="1"/>
        <c:smooth val="0"/>
        <c:axId val="106606447"/>
        <c:axId val="106609807"/>
      </c:lineChart>
      <c:catAx>
        <c:axId val="10660596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Joueurs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06597327"/>
        <c:crosses val="autoZero"/>
        <c:auto val="1"/>
        <c:lblAlgn val="ctr"/>
        <c:lblOffset val="100"/>
        <c:noMultiLvlLbl val="0"/>
      </c:catAx>
      <c:valAx>
        <c:axId val="106597327"/>
        <c:scaling>
          <c:orientation val="minMax"/>
          <c:max val="25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Total de points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06605967"/>
        <c:crosses val="autoZero"/>
        <c:crossBetween val="between"/>
      </c:valAx>
      <c:valAx>
        <c:axId val="106609807"/>
        <c:scaling>
          <c:orientation val="minMax"/>
          <c:max val="80"/>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FG</a:t>
                </a:r>
                <a:r>
                  <a:rPr lang="fr-FR" baseline="0"/>
                  <a:t> %</a:t>
                </a:r>
                <a:endParaRPr lang="fr-F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06606447"/>
        <c:crosses val="max"/>
        <c:crossBetween val="between"/>
      </c:valAx>
      <c:catAx>
        <c:axId val="106606447"/>
        <c:scaling>
          <c:orientation val="minMax"/>
        </c:scaling>
        <c:delete val="1"/>
        <c:axPos val="b"/>
        <c:numFmt formatCode="General" sourceLinked="1"/>
        <c:majorTickMark val="out"/>
        <c:minorTickMark val="none"/>
        <c:tickLblPos val="nextTo"/>
        <c:crossAx val="106609807"/>
        <c:crosses val="autoZero"/>
        <c:auto val="1"/>
        <c:lblAlgn val="ctr"/>
        <c:lblOffset val="100"/>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dirty="0"/>
              <a:t>Pourcentage de tirs, 3 points et de lancers francs réussis</a:t>
            </a:r>
          </a:p>
        </c:rich>
      </c:tx>
      <c:layout>
        <c:manualLayout>
          <c:xMode val="edge"/>
          <c:yMode val="edge"/>
          <c:x val="3.2727688682232824E-2"/>
          <c:y val="3.0468613878993422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lineChart>
        <c:grouping val="standard"/>
        <c:varyColors val="0"/>
        <c:ser>
          <c:idx val="0"/>
          <c:order val="0"/>
          <c:tx>
            <c:strRef>
              <c:f>'Visualisation 3'!$D$6</c:f>
              <c:strCache>
                <c:ptCount val="1"/>
                <c:pt idx="0">
                  <c:v>Pourcentage de tirs réussis</c:v>
                </c:pt>
              </c:strCache>
            </c:strRef>
          </c:tx>
          <c:spPr>
            <a:ln w="28575" cap="rnd">
              <a:solidFill>
                <a:schemeClr val="accent1"/>
              </a:solidFill>
              <a:round/>
            </a:ln>
            <a:effectLst/>
          </c:spPr>
          <c:marker>
            <c:symbol val="none"/>
          </c:marker>
          <c:cat>
            <c:strRef>
              <c:f>'Visualisation 3'!$A$7:$A$21</c:f>
              <c:strCache>
                <c:ptCount val="15"/>
                <c:pt idx="0">
                  <c:v>Shai Gilgeous-Alexander</c:v>
                </c:pt>
                <c:pt idx="1">
                  <c:v>Anthony Edwards</c:v>
                </c:pt>
                <c:pt idx="2">
                  <c:v>Nikola Jokić</c:v>
                </c:pt>
                <c:pt idx="3">
                  <c:v>Giannis Antetokounmpo</c:v>
                </c:pt>
                <c:pt idx="4">
                  <c:v>Jayson Tatum</c:v>
                </c:pt>
                <c:pt idx="5">
                  <c:v>Devin Booker</c:v>
                </c:pt>
                <c:pt idx="6">
                  <c:v>Tyler Herro</c:v>
                </c:pt>
                <c:pt idx="7">
                  <c:v>Trae Young</c:v>
                </c:pt>
                <c:pt idx="8">
                  <c:v>Cade Cunningham</c:v>
                </c:pt>
                <c:pt idx="9">
                  <c:v>James Harden</c:v>
                </c:pt>
                <c:pt idx="10">
                  <c:v>Karl-Anthony Towns</c:v>
                </c:pt>
                <c:pt idx="11">
                  <c:v>Zach LaVine</c:v>
                </c:pt>
                <c:pt idx="12">
                  <c:v>Jalen Green</c:v>
                </c:pt>
                <c:pt idx="13">
                  <c:v>Stephen Curry</c:v>
                </c:pt>
                <c:pt idx="14">
                  <c:v>DeMar DeRozan</c:v>
                </c:pt>
              </c:strCache>
            </c:strRef>
          </c:cat>
          <c:val>
            <c:numRef>
              <c:f>'Visualisation 3'!$D$7:$D$21</c:f>
              <c:numCache>
                <c:formatCode>General</c:formatCode>
                <c:ptCount val="15"/>
                <c:pt idx="0">
                  <c:v>51.9</c:v>
                </c:pt>
                <c:pt idx="1">
                  <c:v>44.7</c:v>
                </c:pt>
                <c:pt idx="2">
                  <c:v>57.6</c:v>
                </c:pt>
                <c:pt idx="3">
                  <c:v>60.1</c:v>
                </c:pt>
                <c:pt idx="4">
                  <c:v>45.2</c:v>
                </c:pt>
                <c:pt idx="5">
                  <c:v>46.1</c:v>
                </c:pt>
                <c:pt idx="6">
                  <c:v>47.2</c:v>
                </c:pt>
                <c:pt idx="7">
                  <c:v>41.1</c:v>
                </c:pt>
                <c:pt idx="8">
                  <c:v>46.9</c:v>
                </c:pt>
                <c:pt idx="9">
                  <c:v>41</c:v>
                </c:pt>
                <c:pt idx="10">
                  <c:v>52.6</c:v>
                </c:pt>
                <c:pt idx="11">
                  <c:v>51.1</c:v>
                </c:pt>
                <c:pt idx="12">
                  <c:v>42.3</c:v>
                </c:pt>
                <c:pt idx="13">
                  <c:v>44.8</c:v>
                </c:pt>
                <c:pt idx="14">
                  <c:v>47.7</c:v>
                </c:pt>
              </c:numCache>
            </c:numRef>
          </c:val>
          <c:smooth val="0"/>
          <c:extLst>
            <c:ext xmlns:c16="http://schemas.microsoft.com/office/drawing/2014/chart" uri="{C3380CC4-5D6E-409C-BE32-E72D297353CC}">
              <c16:uniqueId val="{00000000-B5CA-44DE-9312-CBD0B85E7208}"/>
            </c:ext>
          </c:extLst>
        </c:ser>
        <c:ser>
          <c:idx val="1"/>
          <c:order val="1"/>
          <c:tx>
            <c:strRef>
              <c:f>'Visualisation 3'!$E$6</c:f>
              <c:strCache>
                <c:ptCount val="1"/>
                <c:pt idx="0">
                  <c:v>Pourcentagte de réussite aux tirs à 3 points</c:v>
                </c:pt>
              </c:strCache>
            </c:strRef>
          </c:tx>
          <c:spPr>
            <a:ln w="28575" cap="rnd">
              <a:solidFill>
                <a:schemeClr val="accent2"/>
              </a:solidFill>
              <a:round/>
            </a:ln>
            <a:effectLst/>
          </c:spPr>
          <c:marker>
            <c:symbol val="none"/>
          </c:marker>
          <c:cat>
            <c:strRef>
              <c:f>'Visualisation 3'!$A$7:$A$21</c:f>
              <c:strCache>
                <c:ptCount val="15"/>
                <c:pt idx="0">
                  <c:v>Shai Gilgeous-Alexander</c:v>
                </c:pt>
                <c:pt idx="1">
                  <c:v>Anthony Edwards</c:v>
                </c:pt>
                <c:pt idx="2">
                  <c:v>Nikola Jokić</c:v>
                </c:pt>
                <c:pt idx="3">
                  <c:v>Giannis Antetokounmpo</c:v>
                </c:pt>
                <c:pt idx="4">
                  <c:v>Jayson Tatum</c:v>
                </c:pt>
                <c:pt idx="5">
                  <c:v>Devin Booker</c:v>
                </c:pt>
                <c:pt idx="6">
                  <c:v>Tyler Herro</c:v>
                </c:pt>
                <c:pt idx="7">
                  <c:v>Trae Young</c:v>
                </c:pt>
                <c:pt idx="8">
                  <c:v>Cade Cunningham</c:v>
                </c:pt>
                <c:pt idx="9">
                  <c:v>James Harden</c:v>
                </c:pt>
                <c:pt idx="10">
                  <c:v>Karl-Anthony Towns</c:v>
                </c:pt>
                <c:pt idx="11">
                  <c:v>Zach LaVine</c:v>
                </c:pt>
                <c:pt idx="12">
                  <c:v>Jalen Green</c:v>
                </c:pt>
                <c:pt idx="13">
                  <c:v>Stephen Curry</c:v>
                </c:pt>
                <c:pt idx="14">
                  <c:v>DeMar DeRozan</c:v>
                </c:pt>
              </c:strCache>
            </c:strRef>
          </c:cat>
          <c:val>
            <c:numRef>
              <c:f>'Visualisation 3'!$E$7:$E$21</c:f>
              <c:numCache>
                <c:formatCode>General</c:formatCode>
                <c:ptCount val="15"/>
                <c:pt idx="0">
                  <c:v>37.5</c:v>
                </c:pt>
                <c:pt idx="1">
                  <c:v>39.5</c:v>
                </c:pt>
                <c:pt idx="2">
                  <c:v>41.7</c:v>
                </c:pt>
                <c:pt idx="3">
                  <c:v>22.2</c:v>
                </c:pt>
                <c:pt idx="4">
                  <c:v>34.299999999999997</c:v>
                </c:pt>
                <c:pt idx="5">
                  <c:v>33.200000000000003</c:v>
                </c:pt>
                <c:pt idx="6">
                  <c:v>37.5</c:v>
                </c:pt>
                <c:pt idx="7">
                  <c:v>34</c:v>
                </c:pt>
                <c:pt idx="8">
                  <c:v>35.6</c:v>
                </c:pt>
                <c:pt idx="9">
                  <c:v>35.200000000000003</c:v>
                </c:pt>
                <c:pt idx="10">
                  <c:v>42</c:v>
                </c:pt>
                <c:pt idx="11">
                  <c:v>44.6</c:v>
                </c:pt>
                <c:pt idx="12">
                  <c:v>35.4</c:v>
                </c:pt>
                <c:pt idx="13">
                  <c:v>39.700000000000003</c:v>
                </c:pt>
                <c:pt idx="14">
                  <c:v>32.799999999999997</c:v>
                </c:pt>
              </c:numCache>
            </c:numRef>
          </c:val>
          <c:smooth val="0"/>
          <c:extLst>
            <c:ext xmlns:c16="http://schemas.microsoft.com/office/drawing/2014/chart" uri="{C3380CC4-5D6E-409C-BE32-E72D297353CC}">
              <c16:uniqueId val="{00000001-B5CA-44DE-9312-CBD0B85E7208}"/>
            </c:ext>
          </c:extLst>
        </c:ser>
        <c:ser>
          <c:idx val="2"/>
          <c:order val="2"/>
          <c:tx>
            <c:strRef>
              <c:f>'Visualisation 3'!$F$6</c:f>
              <c:strCache>
                <c:ptCount val="1"/>
                <c:pt idx="0">
                  <c:v>Pourcentage de réussite aux lancers francs</c:v>
                </c:pt>
              </c:strCache>
            </c:strRef>
          </c:tx>
          <c:spPr>
            <a:ln w="28575" cap="rnd">
              <a:solidFill>
                <a:srgbClr val="FFCF01"/>
              </a:solidFill>
              <a:round/>
            </a:ln>
            <a:effectLst/>
          </c:spPr>
          <c:marker>
            <c:symbol val="none"/>
          </c:marker>
          <c:cat>
            <c:strRef>
              <c:f>'Visualisation 3'!$A$7:$A$21</c:f>
              <c:strCache>
                <c:ptCount val="15"/>
                <c:pt idx="0">
                  <c:v>Shai Gilgeous-Alexander</c:v>
                </c:pt>
                <c:pt idx="1">
                  <c:v>Anthony Edwards</c:v>
                </c:pt>
                <c:pt idx="2">
                  <c:v>Nikola Jokić</c:v>
                </c:pt>
                <c:pt idx="3">
                  <c:v>Giannis Antetokounmpo</c:v>
                </c:pt>
                <c:pt idx="4">
                  <c:v>Jayson Tatum</c:v>
                </c:pt>
                <c:pt idx="5">
                  <c:v>Devin Booker</c:v>
                </c:pt>
                <c:pt idx="6">
                  <c:v>Tyler Herro</c:v>
                </c:pt>
                <c:pt idx="7">
                  <c:v>Trae Young</c:v>
                </c:pt>
                <c:pt idx="8">
                  <c:v>Cade Cunningham</c:v>
                </c:pt>
                <c:pt idx="9">
                  <c:v>James Harden</c:v>
                </c:pt>
                <c:pt idx="10">
                  <c:v>Karl-Anthony Towns</c:v>
                </c:pt>
                <c:pt idx="11">
                  <c:v>Zach LaVine</c:v>
                </c:pt>
                <c:pt idx="12">
                  <c:v>Jalen Green</c:v>
                </c:pt>
                <c:pt idx="13">
                  <c:v>Stephen Curry</c:v>
                </c:pt>
                <c:pt idx="14">
                  <c:v>DeMar DeRozan</c:v>
                </c:pt>
              </c:strCache>
            </c:strRef>
          </c:cat>
          <c:val>
            <c:numRef>
              <c:f>'Visualisation 3'!$F$7:$F$21</c:f>
              <c:numCache>
                <c:formatCode>General</c:formatCode>
                <c:ptCount val="15"/>
                <c:pt idx="0">
                  <c:v>89.8</c:v>
                </c:pt>
                <c:pt idx="1">
                  <c:v>83.7</c:v>
                </c:pt>
                <c:pt idx="2">
                  <c:v>80</c:v>
                </c:pt>
                <c:pt idx="3">
                  <c:v>61.7</c:v>
                </c:pt>
                <c:pt idx="4">
                  <c:v>81.400000000000006</c:v>
                </c:pt>
                <c:pt idx="5">
                  <c:v>89.4</c:v>
                </c:pt>
                <c:pt idx="6">
                  <c:v>87.8</c:v>
                </c:pt>
                <c:pt idx="7">
                  <c:v>87.5</c:v>
                </c:pt>
                <c:pt idx="8">
                  <c:v>84.6</c:v>
                </c:pt>
                <c:pt idx="9">
                  <c:v>87.4</c:v>
                </c:pt>
                <c:pt idx="10">
                  <c:v>82.9</c:v>
                </c:pt>
                <c:pt idx="11">
                  <c:v>82.5</c:v>
                </c:pt>
                <c:pt idx="12">
                  <c:v>81.3</c:v>
                </c:pt>
                <c:pt idx="13">
                  <c:v>93.3</c:v>
                </c:pt>
                <c:pt idx="14">
                  <c:v>85.7</c:v>
                </c:pt>
              </c:numCache>
            </c:numRef>
          </c:val>
          <c:smooth val="0"/>
          <c:extLst>
            <c:ext xmlns:c16="http://schemas.microsoft.com/office/drawing/2014/chart" uri="{C3380CC4-5D6E-409C-BE32-E72D297353CC}">
              <c16:uniqueId val="{00000002-B5CA-44DE-9312-CBD0B85E7208}"/>
            </c:ext>
          </c:extLst>
        </c:ser>
        <c:dLbls>
          <c:showLegendKey val="0"/>
          <c:showVal val="0"/>
          <c:showCatName val="0"/>
          <c:showSerName val="0"/>
          <c:showPercent val="0"/>
          <c:showBubbleSize val="0"/>
        </c:dLbls>
        <c:smooth val="0"/>
        <c:axId val="106595887"/>
        <c:axId val="106606927"/>
      </c:lineChart>
      <c:catAx>
        <c:axId val="10659588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Joueurs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06606927"/>
        <c:crosses val="autoZero"/>
        <c:auto val="1"/>
        <c:lblAlgn val="ctr"/>
        <c:lblOffset val="100"/>
        <c:noMultiLvlLbl val="0"/>
      </c:catAx>
      <c:valAx>
        <c:axId val="10660692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 de réussite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06595887"/>
        <c:crosses val="autoZero"/>
        <c:crossBetween val="between"/>
      </c:valAx>
      <c:spPr>
        <a:noFill/>
        <a:ln>
          <a:noFill/>
        </a:ln>
        <a:effectLst/>
      </c:spPr>
    </c:plotArea>
    <c:legend>
      <c:legendPos val="t"/>
      <c:layout>
        <c:manualLayout>
          <c:xMode val="edge"/>
          <c:yMode val="edge"/>
          <c:x val="0.13436934160060712"/>
          <c:y val="9.7477967072156446E-2"/>
          <c:w val="0.73358027906066281"/>
          <c:h val="4.9991238656528186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cap="none" spc="20" baseline="0" dirty="0" err="1">
                <a:solidFill>
                  <a:srgbClr val="C0791B">
                    <a:lumMod val="50000"/>
                    <a:lumOff val="50000"/>
                  </a:srgbClr>
                </a:solidFill>
              </a:rPr>
              <a:t>Comparaison</a:t>
            </a:r>
            <a:r>
              <a:rPr lang="en-US" sz="1400" b="0" i="0" u="none" strike="noStrike" kern="1200" cap="none" spc="20" baseline="0" dirty="0">
                <a:solidFill>
                  <a:srgbClr val="C0791B">
                    <a:lumMod val="50000"/>
                    <a:lumOff val="50000"/>
                  </a:srgbClr>
                </a:solidFill>
              </a:rPr>
              <a:t> entre le total de </a:t>
            </a:r>
            <a:r>
              <a:rPr lang="en-US" sz="1400" b="0" i="0" u="none" strike="noStrike" kern="1200" cap="none" spc="20" baseline="0" dirty="0" err="1">
                <a:solidFill>
                  <a:srgbClr val="C0791B">
                    <a:lumMod val="50000"/>
                    <a:lumOff val="50000"/>
                  </a:srgbClr>
                </a:solidFill>
              </a:rPr>
              <a:t>rebonds</a:t>
            </a:r>
            <a:r>
              <a:rPr lang="en-US" sz="1400" b="0" i="0" u="none" strike="noStrike" kern="1200" cap="none" spc="20" baseline="0" dirty="0">
                <a:solidFill>
                  <a:srgbClr val="C0791B">
                    <a:lumMod val="50000"/>
                    <a:lumOff val="50000"/>
                  </a:srgbClr>
                </a:solidFill>
              </a:rPr>
              <a:t> et le total de points des équipes sur </a:t>
            </a:r>
            <a:r>
              <a:rPr lang="en-US" sz="1400" b="0" i="0" u="none" strike="noStrike" kern="1200" cap="none" spc="20" baseline="0" dirty="0" err="1">
                <a:solidFill>
                  <a:srgbClr val="C0791B">
                    <a:lumMod val="50000"/>
                    <a:lumOff val="50000"/>
                  </a:srgbClr>
                </a:solidFill>
              </a:rPr>
              <a:t>l’année</a:t>
            </a:r>
            <a:endParaRPr lang="fr-FR" sz="2800" b="0" i="0" u="none" strike="noStrike" kern="1200" cap="none" spc="20" baseline="0" dirty="0">
              <a:solidFill>
                <a:srgbClr val="C0791B">
                  <a:lumMod val="50000"/>
                  <a:lumOff val="50000"/>
                </a:srgbClr>
              </a:solidFill>
            </a:endParaRPr>
          </a:p>
        </c:rich>
      </c:tx>
      <c:layout>
        <c:manualLayout>
          <c:xMode val="edge"/>
          <c:yMode val="edge"/>
          <c:x val="1.5090247000355699E-2"/>
          <c:y val="1.9725857181687571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lineMarker"/>
        <c:varyColors val="0"/>
        <c:ser>
          <c:idx val="0"/>
          <c:order val="0"/>
          <c:tx>
            <c:strRef>
              <c:f>'[Données^Msaison^Mrégulière^MNBA^M2024_2025_modif.xlsx]Tests'!$AA$5</c:f>
              <c:strCache>
                <c:ptCount val="1"/>
                <c:pt idx="0">
                  <c:v>Nombre total de points par équipe</c:v>
                </c:pt>
              </c:strCache>
            </c:strRef>
          </c:tx>
          <c:spPr>
            <a:ln w="1905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olid"/>
              </a:ln>
              <a:effectLst/>
            </c:spPr>
            <c:trendlineType val="linear"/>
            <c:dispRSqr val="1"/>
            <c:dispEq val="1"/>
            <c:trendlineLbl>
              <c:layout>
                <c:manualLayout>
                  <c:x val="0.11560032021004291"/>
                  <c:y val="-0.15655134029692333"/>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trendlineLbl>
          </c:trendline>
          <c:xVal>
            <c:numRef>
              <c:f>'[Données^Msaison^Mrégulière^MNBA^M2024_2025_modif.xlsx]Tests'!$Z$6:$Z$35</c:f>
              <c:numCache>
                <c:formatCode>General</c:formatCode>
                <c:ptCount val="30"/>
                <c:pt idx="0">
                  <c:v>3778</c:v>
                </c:pt>
                <c:pt idx="1">
                  <c:v>3097</c:v>
                </c:pt>
                <c:pt idx="2">
                  <c:v>3709</c:v>
                </c:pt>
                <c:pt idx="3">
                  <c:v>3607</c:v>
                </c:pt>
                <c:pt idx="4">
                  <c:v>3810</c:v>
                </c:pt>
                <c:pt idx="5">
                  <c:v>3793</c:v>
                </c:pt>
                <c:pt idx="6">
                  <c:v>3866</c:v>
                </c:pt>
                <c:pt idx="7">
                  <c:v>3758</c:v>
                </c:pt>
                <c:pt idx="8">
                  <c:v>3848</c:v>
                </c:pt>
                <c:pt idx="9">
                  <c:v>3378</c:v>
                </c:pt>
                <c:pt idx="10">
                  <c:v>4049</c:v>
                </c:pt>
                <c:pt idx="11">
                  <c:v>3457</c:v>
                </c:pt>
                <c:pt idx="12">
                  <c:v>3581</c:v>
                </c:pt>
                <c:pt idx="13">
                  <c:v>3315</c:v>
                </c:pt>
                <c:pt idx="14">
                  <c:v>3674</c:v>
                </c:pt>
                <c:pt idx="15">
                  <c:v>3792</c:v>
                </c:pt>
                <c:pt idx="16">
                  <c:v>3872</c:v>
                </c:pt>
                <c:pt idx="17">
                  <c:v>3689</c:v>
                </c:pt>
                <c:pt idx="18">
                  <c:v>3575</c:v>
                </c:pt>
                <c:pt idx="19">
                  <c:v>3450</c:v>
                </c:pt>
                <c:pt idx="20">
                  <c:v>3685</c:v>
                </c:pt>
                <c:pt idx="21">
                  <c:v>3426</c:v>
                </c:pt>
                <c:pt idx="22">
                  <c:v>3171</c:v>
                </c:pt>
                <c:pt idx="23">
                  <c:v>3618</c:v>
                </c:pt>
                <c:pt idx="24">
                  <c:v>3678</c:v>
                </c:pt>
                <c:pt idx="25">
                  <c:v>3987</c:v>
                </c:pt>
                <c:pt idx="26">
                  <c:v>3670</c:v>
                </c:pt>
                <c:pt idx="27">
                  <c:v>3624</c:v>
                </c:pt>
                <c:pt idx="28">
                  <c:v>3659</c:v>
                </c:pt>
                <c:pt idx="29">
                  <c:v>3051</c:v>
                </c:pt>
              </c:numCache>
            </c:numRef>
          </c:xVal>
          <c:yVal>
            <c:numRef>
              <c:f>'[Données^Msaison^Mrégulière^MNBA^M2024_2025_modif.xlsx]Tests'!$AA$6:$AA$35</c:f>
              <c:numCache>
                <c:formatCode>General</c:formatCode>
                <c:ptCount val="30"/>
                <c:pt idx="0">
                  <c:v>9689</c:v>
                </c:pt>
                <c:pt idx="1">
                  <c:v>7999</c:v>
                </c:pt>
                <c:pt idx="2">
                  <c:v>9551</c:v>
                </c:pt>
                <c:pt idx="3">
                  <c:v>8278</c:v>
                </c:pt>
                <c:pt idx="4">
                  <c:v>9230</c:v>
                </c:pt>
                <c:pt idx="5">
                  <c:v>10180</c:v>
                </c:pt>
                <c:pt idx="6">
                  <c:v>9970</c:v>
                </c:pt>
                <c:pt idx="7">
                  <c:v>9899</c:v>
                </c:pt>
                <c:pt idx="8">
                  <c:v>10292</c:v>
                </c:pt>
                <c:pt idx="9">
                  <c:v>8288</c:v>
                </c:pt>
                <c:pt idx="10">
                  <c:v>9515</c:v>
                </c:pt>
                <c:pt idx="11">
                  <c:v>9630</c:v>
                </c:pt>
                <c:pt idx="12">
                  <c:v>9050</c:v>
                </c:pt>
                <c:pt idx="13">
                  <c:v>8691</c:v>
                </c:pt>
                <c:pt idx="14">
                  <c:v>9552</c:v>
                </c:pt>
                <c:pt idx="15">
                  <c:v>9828</c:v>
                </c:pt>
                <c:pt idx="16">
                  <c:v>10016</c:v>
                </c:pt>
                <c:pt idx="17">
                  <c:v>9523</c:v>
                </c:pt>
                <c:pt idx="18">
                  <c:v>8763</c:v>
                </c:pt>
                <c:pt idx="19">
                  <c:v>9540</c:v>
                </c:pt>
                <c:pt idx="20">
                  <c:v>9880</c:v>
                </c:pt>
                <c:pt idx="21">
                  <c:v>8648</c:v>
                </c:pt>
                <c:pt idx="22">
                  <c:v>9142</c:v>
                </c:pt>
                <c:pt idx="23">
                  <c:v>9719</c:v>
                </c:pt>
                <c:pt idx="24">
                  <c:v>9113</c:v>
                </c:pt>
                <c:pt idx="25">
                  <c:v>9786</c:v>
                </c:pt>
                <c:pt idx="26">
                  <c:v>10198</c:v>
                </c:pt>
                <c:pt idx="27">
                  <c:v>8963</c:v>
                </c:pt>
                <c:pt idx="28">
                  <c:v>9096</c:v>
                </c:pt>
                <c:pt idx="29">
                  <c:v>7986</c:v>
                </c:pt>
              </c:numCache>
            </c:numRef>
          </c:yVal>
          <c:smooth val="0"/>
          <c:extLst>
            <c:ext xmlns:c16="http://schemas.microsoft.com/office/drawing/2014/chart" uri="{C3380CC4-5D6E-409C-BE32-E72D297353CC}">
              <c16:uniqueId val="{00000001-5B55-4EB8-BA81-3149FCC07057}"/>
            </c:ext>
          </c:extLst>
        </c:ser>
        <c:dLbls>
          <c:showLegendKey val="0"/>
          <c:showVal val="0"/>
          <c:showCatName val="0"/>
          <c:showSerName val="0"/>
          <c:showPercent val="0"/>
          <c:showBubbleSize val="0"/>
        </c:dLbls>
        <c:axId val="1419909584"/>
        <c:axId val="1419910064"/>
      </c:scatterChart>
      <c:valAx>
        <c:axId val="1419909584"/>
        <c:scaling>
          <c:orientation val="minMax"/>
          <c:min val="30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Total rebonds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419910064"/>
        <c:crosses val="autoZero"/>
        <c:crossBetween val="midCat"/>
      </c:valAx>
      <c:valAx>
        <c:axId val="1419910064"/>
        <c:scaling>
          <c:orientation val="minMax"/>
          <c:min val="75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dirty="0"/>
                  <a:t>Total </a:t>
                </a:r>
                <a:r>
                  <a:rPr lang="fr-FR" sz="1000" b="0" i="0" u="none" strike="noStrike" kern="1200" baseline="0" dirty="0">
                    <a:solidFill>
                      <a:srgbClr val="C0791B">
                        <a:lumMod val="65000"/>
                        <a:lumOff val="35000"/>
                      </a:srgbClr>
                    </a:solidFill>
                    <a:latin typeface="+mn-lt"/>
                    <a:ea typeface="+mn-ea"/>
                    <a:cs typeface="+mn-cs"/>
                  </a:rPr>
                  <a:t>Points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41990958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baseline="0">
                <a:solidFill>
                  <a:schemeClr val="tx1">
                    <a:lumMod val="65000"/>
                    <a:lumOff val="35000"/>
                  </a:schemeClr>
                </a:solidFill>
                <a:latin typeface="+mn-lt"/>
                <a:ea typeface="+mn-ea"/>
                <a:cs typeface="+mn-cs"/>
              </a:defRPr>
            </a:pPr>
            <a:r>
              <a:rPr lang="fr-FR"/>
              <a:t>Analyse des points sur PIE</a:t>
            </a:r>
          </a:p>
        </c:rich>
      </c:tx>
      <c:layout>
        <c:manualLayout>
          <c:xMode val="edge"/>
          <c:yMode val="edge"/>
          <c:x val="8.9430446194225716E-2"/>
          <c:y val="3.2407407407407406E-2"/>
        </c:manualLayout>
      </c:layout>
      <c:overlay val="0"/>
      <c:spPr>
        <a:noFill/>
        <a:ln>
          <a:noFill/>
        </a:ln>
        <a:effectLst/>
      </c:spPr>
      <c:txPr>
        <a:bodyPr rot="0" spcFirstLastPara="1" vertOverflow="ellipsis" vert="horz" wrap="square" anchor="ctr" anchorCtr="1"/>
        <a:lstStyle/>
        <a:p>
          <a:pPr>
            <a:defRPr sz="1400" b="0" i="0" u="none" strike="noStrike" baseline="0">
              <a:solidFill>
                <a:schemeClr val="tx1">
                  <a:lumMod val="65000"/>
                  <a:lumOff val="35000"/>
                </a:schemeClr>
              </a:solidFill>
              <a:latin typeface="+mn-lt"/>
              <a:ea typeface="+mn-ea"/>
              <a:cs typeface="+mn-cs"/>
            </a:defRPr>
          </a:pPr>
          <a:endParaRPr lang="fr-FR"/>
        </a:p>
      </c:txPr>
    </c:title>
    <c:autoTitleDeleted val="0"/>
    <c:plotArea>
      <c:layout/>
      <c:barChart>
        <c:barDir val="col"/>
        <c:grouping val="clustered"/>
        <c:varyColors val="0"/>
        <c:ser>
          <c:idx val="0"/>
          <c:order val="0"/>
          <c:tx>
            <c:strRef>
              <c:f>'[Données^Msaison^Mrégulière^MNBA^M2024_2025_modif.xlsx]stats joueurs LAL'!$B$27</c:f>
              <c:strCache>
                <c:ptCount val="1"/>
                <c:pt idx="0">
                  <c:v>SUM de Pts</c:v>
                </c:pt>
              </c:strCache>
            </c:strRef>
          </c:tx>
          <c:spPr>
            <a:solidFill>
              <a:schemeClr val="accent1"/>
            </a:solidFill>
            <a:ln>
              <a:noFill/>
            </a:ln>
            <a:effectLst/>
          </c:spPr>
          <c:invertIfNegative val="0"/>
          <c:cat>
            <c:strRef>
              <c:f>'[Données^Msaison^Mrégulière^MNBA^M2024_2025_modif.xlsx]stats joueurs LAL'!$A$28:$A$47</c:f>
              <c:strCache>
                <c:ptCount val="20"/>
                <c:pt idx="0">
                  <c:v>Alex Len</c:v>
                </c:pt>
                <c:pt idx="1">
                  <c:v>Armel Traoré</c:v>
                </c:pt>
                <c:pt idx="2">
                  <c:v>Austin Reaves</c:v>
                </c:pt>
                <c:pt idx="3">
                  <c:v>Bronny James</c:v>
                </c:pt>
                <c:pt idx="4">
                  <c:v>Cam Reddish</c:v>
                </c:pt>
                <c:pt idx="5">
                  <c:v>Christian Koloko</c:v>
                </c:pt>
                <c:pt idx="6">
                  <c:v>Dalton Knecht</c:v>
                </c:pt>
                <c:pt idx="7">
                  <c:v>Dorian Finney-Smith</c:v>
                </c:pt>
                <c:pt idx="8">
                  <c:v>Gabe Vincent</c:v>
                </c:pt>
                <c:pt idx="9">
                  <c:v>Jarred Vanderbilt</c:v>
                </c:pt>
                <c:pt idx="10">
                  <c:v>Jaxson Hayes</c:v>
                </c:pt>
                <c:pt idx="11">
                  <c:v>Jordan Goodwin</c:v>
                </c:pt>
                <c:pt idx="12">
                  <c:v>LeBron James</c:v>
                </c:pt>
                <c:pt idx="13">
                  <c:v>Luka Dončić</c:v>
                </c:pt>
                <c:pt idx="14">
                  <c:v>Markieff Morris</c:v>
                </c:pt>
                <c:pt idx="15">
                  <c:v>Maxi Kleber</c:v>
                </c:pt>
                <c:pt idx="16">
                  <c:v>Quincy Olivari</c:v>
                </c:pt>
                <c:pt idx="17">
                  <c:v>Rui Hachimura</c:v>
                </c:pt>
                <c:pt idx="18">
                  <c:v>Shake Milton</c:v>
                </c:pt>
                <c:pt idx="19">
                  <c:v>Trey Jemison III</c:v>
                </c:pt>
              </c:strCache>
            </c:strRef>
          </c:cat>
          <c:val>
            <c:numRef>
              <c:f>'[Données^Msaison^Mrégulière^MNBA^M2024_2025_modif.xlsx]stats joueurs LAL'!$B$28:$B$47</c:f>
              <c:numCache>
                <c:formatCode>0.0</c:formatCode>
                <c:ptCount val="20"/>
                <c:pt idx="0">
                  <c:v>1.6086956521739131</c:v>
                </c:pt>
                <c:pt idx="1">
                  <c:v>1.5555555555555556</c:v>
                </c:pt>
                <c:pt idx="2">
                  <c:v>20.205479452054796</c:v>
                </c:pt>
                <c:pt idx="3">
                  <c:v>2.2962962962962963</c:v>
                </c:pt>
                <c:pt idx="4">
                  <c:v>3.2121212121212119</c:v>
                </c:pt>
                <c:pt idx="5">
                  <c:v>2.4054054054054053</c:v>
                </c:pt>
                <c:pt idx="6">
                  <c:v>9.1025641025641022</c:v>
                </c:pt>
                <c:pt idx="7">
                  <c:v>8.6984126984126977</c:v>
                </c:pt>
                <c:pt idx="8">
                  <c:v>6.4027777777777777</c:v>
                </c:pt>
                <c:pt idx="9">
                  <c:v>4.1111111111111107</c:v>
                </c:pt>
                <c:pt idx="10">
                  <c:v>6.8035714285714288</c:v>
                </c:pt>
                <c:pt idx="11">
                  <c:v>5.5862068965517242</c:v>
                </c:pt>
                <c:pt idx="12">
                  <c:v>24.4</c:v>
                </c:pt>
                <c:pt idx="13">
                  <c:v>28.2</c:v>
                </c:pt>
                <c:pt idx="14">
                  <c:v>3.7333333333333334</c:v>
                </c:pt>
                <c:pt idx="15">
                  <c:v>3</c:v>
                </c:pt>
                <c:pt idx="16">
                  <c:v>1.5</c:v>
                </c:pt>
                <c:pt idx="17">
                  <c:v>13.101694915254237</c:v>
                </c:pt>
                <c:pt idx="18">
                  <c:v>5.5087719298245617</c:v>
                </c:pt>
                <c:pt idx="19">
                  <c:v>2.5</c:v>
                </c:pt>
              </c:numCache>
            </c:numRef>
          </c:val>
          <c:extLst>
            <c:ext xmlns:c16="http://schemas.microsoft.com/office/drawing/2014/chart" uri="{C3380CC4-5D6E-409C-BE32-E72D297353CC}">
              <c16:uniqueId val="{00000000-7011-43DF-9315-6610A01FF455}"/>
            </c:ext>
          </c:extLst>
        </c:ser>
        <c:dLbls>
          <c:showLegendKey val="0"/>
          <c:showVal val="0"/>
          <c:showCatName val="0"/>
          <c:showSerName val="0"/>
          <c:showPercent val="0"/>
          <c:showBubbleSize val="0"/>
        </c:dLbls>
        <c:gapWidth val="100"/>
        <c:axId val="2084598175"/>
        <c:axId val="2084598655"/>
      </c:barChart>
      <c:barChart>
        <c:barDir val="col"/>
        <c:grouping val="clustered"/>
        <c:varyColors val="0"/>
        <c:ser>
          <c:idx val="1"/>
          <c:order val="1"/>
          <c:tx>
            <c:strRef>
              <c:f>'[Données^Msaison^Mrégulière^MNBA^M2024_2025_modif.xlsx]stats joueurs LAL'!$C$27</c:f>
              <c:strCache>
                <c:ptCount val="1"/>
                <c:pt idx="0">
                  <c:v>SUM de PIE</c:v>
                </c:pt>
              </c:strCache>
            </c:strRef>
          </c:tx>
          <c:spPr>
            <a:solidFill>
              <a:schemeClr val="tx1">
                <a:lumMod val="50000"/>
                <a:alpha val="42000"/>
              </a:schemeClr>
            </a:solidFill>
            <a:ln>
              <a:noFill/>
            </a:ln>
            <a:effectLst/>
          </c:spPr>
          <c:invertIfNegative val="0"/>
          <c:cat>
            <c:strRef>
              <c:f>'[Données^Msaison^Mrégulière^MNBA^M2024_2025_modif.xlsx]stats joueurs LAL'!$A$28:$A$47</c:f>
              <c:strCache>
                <c:ptCount val="20"/>
                <c:pt idx="0">
                  <c:v>Alex Len</c:v>
                </c:pt>
                <c:pt idx="1">
                  <c:v>Armel Traoré</c:v>
                </c:pt>
                <c:pt idx="2">
                  <c:v>Austin Reaves</c:v>
                </c:pt>
                <c:pt idx="3">
                  <c:v>Bronny James</c:v>
                </c:pt>
                <c:pt idx="4">
                  <c:v>Cam Reddish</c:v>
                </c:pt>
                <c:pt idx="5">
                  <c:v>Christian Koloko</c:v>
                </c:pt>
                <c:pt idx="6">
                  <c:v>Dalton Knecht</c:v>
                </c:pt>
                <c:pt idx="7">
                  <c:v>Dorian Finney-Smith</c:v>
                </c:pt>
                <c:pt idx="8">
                  <c:v>Gabe Vincent</c:v>
                </c:pt>
                <c:pt idx="9">
                  <c:v>Jarred Vanderbilt</c:v>
                </c:pt>
                <c:pt idx="10">
                  <c:v>Jaxson Hayes</c:v>
                </c:pt>
                <c:pt idx="11">
                  <c:v>Jordan Goodwin</c:v>
                </c:pt>
                <c:pt idx="12">
                  <c:v>LeBron James</c:v>
                </c:pt>
                <c:pt idx="13">
                  <c:v>Luka Dončić</c:v>
                </c:pt>
                <c:pt idx="14">
                  <c:v>Markieff Morris</c:v>
                </c:pt>
                <c:pt idx="15">
                  <c:v>Maxi Kleber</c:v>
                </c:pt>
                <c:pt idx="16">
                  <c:v>Quincy Olivari</c:v>
                </c:pt>
                <c:pt idx="17">
                  <c:v>Rui Hachimura</c:v>
                </c:pt>
                <c:pt idx="18">
                  <c:v>Shake Milton</c:v>
                </c:pt>
                <c:pt idx="19">
                  <c:v>Trey Jemison III</c:v>
                </c:pt>
              </c:strCache>
            </c:strRef>
          </c:cat>
          <c:val>
            <c:numRef>
              <c:f>'[Données^Msaison^Mrégulière^MNBA^M2024_2025_modif.xlsx]stats joueurs LAL'!$C$28:$C$47</c:f>
              <c:numCache>
                <c:formatCode>General</c:formatCode>
                <c:ptCount val="20"/>
                <c:pt idx="0">
                  <c:v>5.7</c:v>
                </c:pt>
                <c:pt idx="1">
                  <c:v>2.7</c:v>
                </c:pt>
                <c:pt idx="2">
                  <c:v>11.8</c:v>
                </c:pt>
                <c:pt idx="3">
                  <c:v>5</c:v>
                </c:pt>
                <c:pt idx="4">
                  <c:v>4</c:v>
                </c:pt>
                <c:pt idx="5">
                  <c:v>8.1999999999999993</c:v>
                </c:pt>
                <c:pt idx="6">
                  <c:v>8.6999999999999993</c:v>
                </c:pt>
                <c:pt idx="7">
                  <c:v>6</c:v>
                </c:pt>
                <c:pt idx="8">
                  <c:v>3.9</c:v>
                </c:pt>
                <c:pt idx="9">
                  <c:v>8.1999999999999993</c:v>
                </c:pt>
                <c:pt idx="10">
                  <c:v>9.6999999999999993</c:v>
                </c:pt>
                <c:pt idx="11">
                  <c:v>8</c:v>
                </c:pt>
                <c:pt idx="12">
                  <c:v>16.899999999999999</c:v>
                </c:pt>
                <c:pt idx="13">
                  <c:v>17</c:v>
                </c:pt>
                <c:pt idx="14">
                  <c:v>4.5</c:v>
                </c:pt>
                <c:pt idx="15">
                  <c:v>3.5</c:v>
                </c:pt>
                <c:pt idx="16">
                  <c:v>0</c:v>
                </c:pt>
                <c:pt idx="17">
                  <c:v>8.6</c:v>
                </c:pt>
                <c:pt idx="18">
                  <c:v>8.1</c:v>
                </c:pt>
                <c:pt idx="19">
                  <c:v>4.4000000000000004</c:v>
                </c:pt>
              </c:numCache>
            </c:numRef>
          </c:val>
          <c:extLst>
            <c:ext xmlns:c16="http://schemas.microsoft.com/office/drawing/2014/chart" uri="{C3380CC4-5D6E-409C-BE32-E72D297353CC}">
              <c16:uniqueId val="{00000001-7011-43DF-9315-6610A01FF455}"/>
            </c:ext>
          </c:extLst>
        </c:ser>
        <c:dLbls>
          <c:showLegendKey val="0"/>
          <c:showVal val="0"/>
          <c:showCatName val="0"/>
          <c:showSerName val="0"/>
          <c:showPercent val="0"/>
          <c:showBubbleSize val="0"/>
        </c:dLbls>
        <c:gapWidth val="0"/>
        <c:axId val="522937407"/>
        <c:axId val="522939327"/>
      </c:barChart>
      <c:catAx>
        <c:axId val="2084598175"/>
        <c:scaling>
          <c:orientation val="minMax"/>
        </c:scaling>
        <c:delete val="0"/>
        <c:axPos val="b"/>
        <c:title>
          <c:tx>
            <c:rich>
              <a:bodyPr rot="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r>
                  <a:rPr lang="fr-FR"/>
                  <a:t>Joueurs</a:t>
                </a:r>
              </a:p>
            </c:rich>
          </c:tx>
          <c:overlay val="0"/>
          <c:spPr>
            <a:noFill/>
            <a:ln>
              <a:noFill/>
            </a:ln>
            <a:effectLst/>
          </c:spPr>
          <c:txPr>
            <a:bodyPr rot="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fr-FR"/>
          </a:p>
        </c:txPr>
        <c:crossAx val="2084598655"/>
        <c:crosses val="autoZero"/>
        <c:auto val="1"/>
        <c:lblAlgn val="ctr"/>
        <c:lblOffset val="100"/>
        <c:noMultiLvlLbl val="0"/>
      </c:catAx>
      <c:valAx>
        <c:axId val="208459865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r>
                  <a:rPr lang="fr-FR" dirty="0"/>
                  <a:t>Moyenne de Points par</a:t>
                </a:r>
                <a:r>
                  <a:rPr lang="fr-FR" baseline="0" dirty="0"/>
                  <a:t> match</a:t>
                </a:r>
                <a:endParaRPr lang="fr-FR" dirty="0"/>
              </a:p>
            </c:rich>
          </c:tx>
          <c:overlay val="0"/>
          <c:spPr>
            <a:noFill/>
            <a:ln>
              <a:noFill/>
            </a:ln>
            <a:effectLst/>
          </c:spPr>
          <c:txPr>
            <a:bodyPr rot="-54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fr-FR"/>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fr-FR"/>
          </a:p>
        </c:txPr>
        <c:crossAx val="2084598175"/>
        <c:crosses val="autoZero"/>
        <c:crossBetween val="between"/>
      </c:valAx>
      <c:valAx>
        <c:axId val="522939327"/>
        <c:scaling>
          <c:orientation val="minMax"/>
        </c:scaling>
        <c:delete val="0"/>
        <c:axPos val="r"/>
        <c:title>
          <c:tx>
            <c:rich>
              <a:bodyPr rot="-54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r>
                  <a:rPr lang="fr-FR"/>
                  <a:t>PIE</a:t>
                </a:r>
              </a:p>
            </c:rich>
          </c:tx>
          <c:overlay val="0"/>
          <c:spPr>
            <a:noFill/>
            <a:ln>
              <a:noFill/>
            </a:ln>
            <a:effectLst/>
          </c:spPr>
          <c:txPr>
            <a:bodyPr rot="-54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fr-FR"/>
          </a:p>
        </c:txPr>
        <c:crossAx val="522937407"/>
        <c:crosses val="max"/>
        <c:crossBetween val="between"/>
      </c:valAx>
      <c:catAx>
        <c:axId val="522937407"/>
        <c:scaling>
          <c:orientation val="minMax"/>
        </c:scaling>
        <c:delete val="1"/>
        <c:axPos val="b"/>
        <c:numFmt formatCode="General" sourceLinked="1"/>
        <c:majorTickMark val="out"/>
        <c:minorTickMark val="none"/>
        <c:tickLblPos val="nextTo"/>
        <c:crossAx val="522939327"/>
        <c:crosses val="autoZero"/>
        <c:auto val="1"/>
        <c:lblAlgn val="ctr"/>
        <c:lblOffset val="100"/>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000" b="0" i="0" u="none" strike="noStrike" kern="1200" cap="none" spc="20" baseline="0" dirty="0" err="1">
                <a:solidFill>
                  <a:srgbClr val="C0791B">
                    <a:lumMod val="50000"/>
                    <a:lumOff val="50000"/>
                  </a:srgbClr>
                </a:solidFill>
              </a:rPr>
              <a:t>Comparaison</a:t>
            </a:r>
            <a:r>
              <a:rPr lang="en-US" sz="1000" b="0" i="0" u="none" strike="noStrike" kern="1200" cap="none" spc="20" baseline="0" dirty="0">
                <a:solidFill>
                  <a:srgbClr val="C0791B">
                    <a:lumMod val="50000"/>
                    <a:lumOff val="50000"/>
                  </a:srgbClr>
                </a:solidFill>
              </a:rPr>
              <a:t> entre le </a:t>
            </a:r>
            <a:r>
              <a:rPr lang="en-US" sz="1000" b="0" i="0" u="none" strike="noStrike" kern="1200" cap="none" spc="20" baseline="0" dirty="0" err="1">
                <a:solidFill>
                  <a:srgbClr val="C0791B">
                    <a:lumMod val="50000"/>
                    <a:lumOff val="50000"/>
                  </a:srgbClr>
                </a:solidFill>
              </a:rPr>
              <a:t>pourcentage</a:t>
            </a:r>
            <a:r>
              <a:rPr lang="en-US" sz="1000" b="0" i="0" u="none" strike="noStrike" kern="1200" cap="none" spc="20" baseline="0" dirty="0">
                <a:solidFill>
                  <a:srgbClr val="C0791B">
                    <a:lumMod val="50000"/>
                    <a:lumOff val="50000"/>
                  </a:srgbClr>
                </a:solidFill>
              </a:rPr>
              <a:t> de </a:t>
            </a:r>
            <a:r>
              <a:rPr lang="en-US" sz="1000" b="0" i="0" u="none" strike="noStrike" kern="1200" cap="none" spc="20" baseline="0" dirty="0" err="1">
                <a:solidFill>
                  <a:srgbClr val="C0791B">
                    <a:lumMod val="50000"/>
                    <a:lumOff val="50000"/>
                  </a:srgbClr>
                </a:solidFill>
              </a:rPr>
              <a:t>victoire</a:t>
            </a:r>
            <a:r>
              <a:rPr lang="en-US" sz="1000" b="0" i="0" u="none" strike="noStrike" kern="1200" cap="none" spc="20" baseline="0" dirty="0">
                <a:solidFill>
                  <a:srgbClr val="C0791B">
                    <a:lumMod val="50000"/>
                    <a:lumOff val="50000"/>
                  </a:srgbClr>
                </a:solidFill>
              </a:rPr>
              <a:t>  et le </a:t>
            </a:r>
            <a:r>
              <a:rPr lang="fr-FR" sz="1000" b="0" i="0" u="none" strike="noStrike" kern="1200" cap="none" spc="20" baseline="0" dirty="0">
                <a:solidFill>
                  <a:srgbClr val="C0791B">
                    <a:lumMod val="50000"/>
                    <a:lumOff val="50000"/>
                  </a:srgbClr>
                </a:solidFill>
              </a:rPr>
              <a:t>NETRTG (points marqués – points encaissés sur 100 possessions) – Réalisé sur les 100 joueurs ayant le plus joué.</a:t>
            </a:r>
            <a:endParaRPr lang="en-US" sz="1000" b="0" i="0" u="none" strike="noStrike" kern="1200" cap="none" spc="20" baseline="0" dirty="0">
              <a:solidFill>
                <a:srgbClr val="C0791B">
                  <a:lumMod val="50000"/>
                  <a:lumOff val="50000"/>
                </a:srgbClr>
              </a:solidFill>
            </a:endParaRPr>
          </a:p>
        </c:rich>
      </c:tx>
      <c:layout>
        <c:manualLayout>
          <c:xMode val="edge"/>
          <c:yMode val="edge"/>
          <c:x val="1.7776808835627957E-2"/>
          <c:y val="9.7610214998667781E-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manualLayout>
          <c:layoutTarget val="inner"/>
          <c:xMode val="edge"/>
          <c:yMode val="edge"/>
          <c:x val="9.3005986383425068E-2"/>
          <c:y val="0.13990797483142384"/>
          <c:w val="0.88238213591799286"/>
          <c:h val="0.72187596073046256"/>
        </c:manualLayout>
      </c:layout>
      <c:scatterChart>
        <c:scatterStyle val="lineMarker"/>
        <c:varyColors val="0"/>
        <c:ser>
          <c:idx val="0"/>
          <c:order val="0"/>
          <c:tx>
            <c:strRef>
              <c:f>'[Données^Msaison^Mrégulière^MNBA^M2024_2025_modif.xlsx]Tops 200 joués'!$AK$1</c:f>
              <c:strCache>
                <c:ptCount val="1"/>
                <c:pt idx="0">
                  <c:v>%Win</c:v>
                </c:pt>
              </c:strCache>
            </c:strRef>
          </c:tx>
          <c:spPr>
            <a:ln w="1905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olid"/>
              </a:ln>
              <a:effectLst/>
            </c:spPr>
            <c:trendlineType val="linear"/>
            <c:dispRSqr val="1"/>
            <c:dispEq val="1"/>
            <c:trendlineLbl>
              <c:layout>
                <c:manualLayout>
                  <c:x val="9.7907917760279961E-2"/>
                  <c:y val="-0.16250000000000001"/>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trendlineLbl>
          </c:trendline>
          <c:xVal>
            <c:numRef>
              <c:f>'[Données^Msaison^Mrégulière^MNBA^M2024_2025_modif.xlsx]Tops 200 joués'!$AJ$2:$AJ$202</c:f>
              <c:numCache>
                <c:formatCode>General</c:formatCode>
                <c:ptCount val="201"/>
                <c:pt idx="0">
                  <c:v>10.5</c:v>
                </c:pt>
                <c:pt idx="1">
                  <c:v>2.8</c:v>
                </c:pt>
                <c:pt idx="2">
                  <c:v>-0.8</c:v>
                </c:pt>
                <c:pt idx="3">
                  <c:v>-1.2</c:v>
                </c:pt>
                <c:pt idx="4">
                  <c:v>3.1</c:v>
                </c:pt>
                <c:pt idx="5">
                  <c:v>5.6</c:v>
                </c:pt>
                <c:pt idx="6">
                  <c:v>4</c:v>
                </c:pt>
                <c:pt idx="7">
                  <c:v>2.2000000000000002</c:v>
                </c:pt>
                <c:pt idx="8">
                  <c:v>6.6</c:v>
                </c:pt>
                <c:pt idx="9">
                  <c:v>-2.1</c:v>
                </c:pt>
                <c:pt idx="10">
                  <c:v>-15.2</c:v>
                </c:pt>
                <c:pt idx="11">
                  <c:v>-9.6</c:v>
                </c:pt>
                <c:pt idx="12">
                  <c:v>-2.5</c:v>
                </c:pt>
                <c:pt idx="13">
                  <c:v>-4.7</c:v>
                </c:pt>
                <c:pt idx="14">
                  <c:v>-1</c:v>
                </c:pt>
                <c:pt idx="15">
                  <c:v>9.4</c:v>
                </c:pt>
                <c:pt idx="16">
                  <c:v>9.5</c:v>
                </c:pt>
                <c:pt idx="17">
                  <c:v>7.4</c:v>
                </c:pt>
                <c:pt idx="18">
                  <c:v>2.2000000000000002</c:v>
                </c:pt>
                <c:pt idx="19">
                  <c:v>-1.7</c:v>
                </c:pt>
                <c:pt idx="20">
                  <c:v>3</c:v>
                </c:pt>
                <c:pt idx="21">
                  <c:v>-0.4</c:v>
                </c:pt>
                <c:pt idx="22">
                  <c:v>6.2</c:v>
                </c:pt>
                <c:pt idx="23">
                  <c:v>4.8</c:v>
                </c:pt>
                <c:pt idx="24">
                  <c:v>-2.7</c:v>
                </c:pt>
                <c:pt idx="25">
                  <c:v>-2.6</c:v>
                </c:pt>
                <c:pt idx="26">
                  <c:v>1.3</c:v>
                </c:pt>
                <c:pt idx="27">
                  <c:v>8.1999999999999993</c:v>
                </c:pt>
                <c:pt idx="28">
                  <c:v>-5</c:v>
                </c:pt>
                <c:pt idx="29">
                  <c:v>4.7</c:v>
                </c:pt>
                <c:pt idx="30">
                  <c:v>-10.3</c:v>
                </c:pt>
                <c:pt idx="31">
                  <c:v>4.7</c:v>
                </c:pt>
                <c:pt idx="32">
                  <c:v>-6.7</c:v>
                </c:pt>
                <c:pt idx="33">
                  <c:v>1.8</c:v>
                </c:pt>
                <c:pt idx="34">
                  <c:v>1.5</c:v>
                </c:pt>
                <c:pt idx="35">
                  <c:v>0.1</c:v>
                </c:pt>
                <c:pt idx="36">
                  <c:v>5.5</c:v>
                </c:pt>
                <c:pt idx="37">
                  <c:v>-2.8</c:v>
                </c:pt>
                <c:pt idx="38">
                  <c:v>-0.9</c:v>
                </c:pt>
                <c:pt idx="39">
                  <c:v>-1.8</c:v>
                </c:pt>
                <c:pt idx="40">
                  <c:v>5.9</c:v>
                </c:pt>
                <c:pt idx="41">
                  <c:v>-1.7</c:v>
                </c:pt>
                <c:pt idx="42">
                  <c:v>1.3</c:v>
                </c:pt>
                <c:pt idx="43">
                  <c:v>3.6</c:v>
                </c:pt>
                <c:pt idx="44">
                  <c:v>1.5</c:v>
                </c:pt>
                <c:pt idx="45">
                  <c:v>-5.8</c:v>
                </c:pt>
                <c:pt idx="46">
                  <c:v>4.4000000000000004</c:v>
                </c:pt>
                <c:pt idx="47">
                  <c:v>6.7</c:v>
                </c:pt>
                <c:pt idx="48">
                  <c:v>-0.5</c:v>
                </c:pt>
                <c:pt idx="49">
                  <c:v>0.5</c:v>
                </c:pt>
                <c:pt idx="50">
                  <c:v>16.7</c:v>
                </c:pt>
                <c:pt idx="51">
                  <c:v>7.6</c:v>
                </c:pt>
                <c:pt idx="52">
                  <c:v>0.6</c:v>
                </c:pt>
                <c:pt idx="53">
                  <c:v>5.6</c:v>
                </c:pt>
                <c:pt idx="54">
                  <c:v>10.199999999999999</c:v>
                </c:pt>
                <c:pt idx="55">
                  <c:v>14.2</c:v>
                </c:pt>
                <c:pt idx="56">
                  <c:v>-0.9</c:v>
                </c:pt>
                <c:pt idx="57">
                  <c:v>1.5</c:v>
                </c:pt>
                <c:pt idx="58">
                  <c:v>9.9</c:v>
                </c:pt>
                <c:pt idx="59">
                  <c:v>-3.2</c:v>
                </c:pt>
                <c:pt idx="60">
                  <c:v>1.1000000000000001</c:v>
                </c:pt>
                <c:pt idx="61">
                  <c:v>-6.2</c:v>
                </c:pt>
                <c:pt idx="62">
                  <c:v>-0.6</c:v>
                </c:pt>
                <c:pt idx="63">
                  <c:v>-0.9</c:v>
                </c:pt>
                <c:pt idx="64">
                  <c:v>-5</c:v>
                </c:pt>
                <c:pt idx="65">
                  <c:v>-4.2</c:v>
                </c:pt>
                <c:pt idx="66">
                  <c:v>-2.7</c:v>
                </c:pt>
                <c:pt idx="67">
                  <c:v>-7.8</c:v>
                </c:pt>
                <c:pt idx="68">
                  <c:v>1.2</c:v>
                </c:pt>
                <c:pt idx="69">
                  <c:v>4.7</c:v>
                </c:pt>
                <c:pt idx="70">
                  <c:v>6.4</c:v>
                </c:pt>
                <c:pt idx="71">
                  <c:v>1.1000000000000001</c:v>
                </c:pt>
                <c:pt idx="72">
                  <c:v>-1.4</c:v>
                </c:pt>
                <c:pt idx="73">
                  <c:v>-2.5</c:v>
                </c:pt>
                <c:pt idx="74">
                  <c:v>0.2</c:v>
                </c:pt>
                <c:pt idx="75">
                  <c:v>5.4</c:v>
                </c:pt>
                <c:pt idx="76">
                  <c:v>15.8</c:v>
                </c:pt>
                <c:pt idx="77">
                  <c:v>0.2</c:v>
                </c:pt>
                <c:pt idx="78">
                  <c:v>4.3</c:v>
                </c:pt>
                <c:pt idx="79">
                  <c:v>-4.2</c:v>
                </c:pt>
                <c:pt idx="80">
                  <c:v>7.8</c:v>
                </c:pt>
                <c:pt idx="81">
                  <c:v>1.9</c:v>
                </c:pt>
                <c:pt idx="82">
                  <c:v>0.3</c:v>
                </c:pt>
                <c:pt idx="83">
                  <c:v>-4.7</c:v>
                </c:pt>
                <c:pt idx="84">
                  <c:v>1.4</c:v>
                </c:pt>
                <c:pt idx="85">
                  <c:v>3.5</c:v>
                </c:pt>
                <c:pt idx="86">
                  <c:v>-2.4</c:v>
                </c:pt>
                <c:pt idx="87">
                  <c:v>3.8</c:v>
                </c:pt>
                <c:pt idx="88">
                  <c:v>14.9</c:v>
                </c:pt>
                <c:pt idx="89">
                  <c:v>3.9</c:v>
                </c:pt>
                <c:pt idx="90">
                  <c:v>-12.7</c:v>
                </c:pt>
                <c:pt idx="91">
                  <c:v>-6.1</c:v>
                </c:pt>
                <c:pt idx="92">
                  <c:v>6.4</c:v>
                </c:pt>
                <c:pt idx="93">
                  <c:v>-7.6</c:v>
                </c:pt>
                <c:pt idx="94">
                  <c:v>6.8</c:v>
                </c:pt>
                <c:pt idx="95">
                  <c:v>9.8000000000000007</c:v>
                </c:pt>
                <c:pt idx="96">
                  <c:v>6.7</c:v>
                </c:pt>
                <c:pt idx="97">
                  <c:v>-0.9</c:v>
                </c:pt>
                <c:pt idx="98">
                  <c:v>4.7</c:v>
                </c:pt>
                <c:pt idx="99">
                  <c:v>-11.3</c:v>
                </c:pt>
                <c:pt idx="100">
                  <c:v>0.77589521555403818</c:v>
                </c:pt>
              </c:numCache>
            </c:numRef>
          </c:xVal>
          <c:yVal>
            <c:numRef>
              <c:f>'[Données^Msaison^Mrégulière^MNBA^M2024_2025_modif.xlsx]Tops 200 joués'!$AK$2:$AK$202</c:f>
              <c:numCache>
                <c:formatCode>0.00%</c:formatCode>
                <c:ptCount val="201"/>
                <c:pt idx="0">
                  <c:v>0.78048780487804881</c:v>
                </c:pt>
                <c:pt idx="1">
                  <c:v>0.63414634146341464</c:v>
                </c:pt>
                <c:pt idx="2">
                  <c:v>0.41463414634146339</c:v>
                </c:pt>
                <c:pt idx="3">
                  <c:v>0.41463414634146339</c:v>
                </c:pt>
                <c:pt idx="4">
                  <c:v>0.53658536585365857</c:v>
                </c:pt>
                <c:pt idx="5">
                  <c:v>0.62195121951219512</c:v>
                </c:pt>
                <c:pt idx="6">
                  <c:v>0.59756097560975607</c:v>
                </c:pt>
                <c:pt idx="7">
                  <c:v>0.58536585365853655</c:v>
                </c:pt>
                <c:pt idx="8">
                  <c:v>0.59756097560975607</c:v>
                </c:pt>
                <c:pt idx="9">
                  <c:v>0.41463414634146339</c:v>
                </c:pt>
                <c:pt idx="10">
                  <c:v>0.21951219512195122</c:v>
                </c:pt>
                <c:pt idx="11">
                  <c:v>0.2839506172839506</c:v>
                </c:pt>
                <c:pt idx="12">
                  <c:v>0.44444444444444442</c:v>
                </c:pt>
                <c:pt idx="13">
                  <c:v>0.40740740740740738</c:v>
                </c:pt>
                <c:pt idx="14">
                  <c:v>0.54320987654320985</c:v>
                </c:pt>
                <c:pt idx="15">
                  <c:v>0.625</c:v>
                </c:pt>
                <c:pt idx="16">
                  <c:v>0.73750000000000004</c:v>
                </c:pt>
                <c:pt idx="17">
                  <c:v>0.58750000000000002</c:v>
                </c:pt>
                <c:pt idx="18">
                  <c:v>0.58750000000000002</c:v>
                </c:pt>
                <c:pt idx="19">
                  <c:v>0.48749999999999999</c:v>
                </c:pt>
                <c:pt idx="20">
                  <c:v>0.48749999999999999</c:v>
                </c:pt>
                <c:pt idx="21">
                  <c:v>0.57499999999999996</c:v>
                </c:pt>
                <c:pt idx="22">
                  <c:v>0.63291139240506333</c:v>
                </c:pt>
                <c:pt idx="23">
                  <c:v>0.60759493670886078</c:v>
                </c:pt>
                <c:pt idx="24">
                  <c:v>0.620253164556962</c:v>
                </c:pt>
                <c:pt idx="25">
                  <c:v>0.60759493670886078</c:v>
                </c:pt>
                <c:pt idx="26">
                  <c:v>0.58227848101265822</c:v>
                </c:pt>
                <c:pt idx="27">
                  <c:v>0.60759493670886078</c:v>
                </c:pt>
                <c:pt idx="28">
                  <c:v>0.46835443037974683</c:v>
                </c:pt>
                <c:pt idx="29">
                  <c:v>0.69620253164556967</c:v>
                </c:pt>
                <c:pt idx="30">
                  <c:v>0.31645569620253167</c:v>
                </c:pt>
                <c:pt idx="31">
                  <c:v>0.59493670886075944</c:v>
                </c:pt>
                <c:pt idx="32">
                  <c:v>0.31645569620253167</c:v>
                </c:pt>
                <c:pt idx="33">
                  <c:v>0.46835443037974683</c:v>
                </c:pt>
                <c:pt idx="34">
                  <c:v>0.55128205128205132</c:v>
                </c:pt>
                <c:pt idx="35">
                  <c:v>0.46153846153846156</c:v>
                </c:pt>
                <c:pt idx="36">
                  <c:v>0.60256410256410253</c:v>
                </c:pt>
                <c:pt idx="37">
                  <c:v>0.60256410256410253</c:v>
                </c:pt>
                <c:pt idx="38">
                  <c:v>0.5</c:v>
                </c:pt>
                <c:pt idx="39">
                  <c:v>0.42307692307692307</c:v>
                </c:pt>
                <c:pt idx="40">
                  <c:v>0.60256410256410253</c:v>
                </c:pt>
                <c:pt idx="41">
                  <c:v>0.51282051282051277</c:v>
                </c:pt>
                <c:pt idx="42">
                  <c:v>0.48051948051948051</c:v>
                </c:pt>
                <c:pt idx="43">
                  <c:v>0.62337662337662336</c:v>
                </c:pt>
                <c:pt idx="44">
                  <c:v>0.4935064935064935</c:v>
                </c:pt>
                <c:pt idx="45">
                  <c:v>0.40259740259740262</c:v>
                </c:pt>
                <c:pt idx="46">
                  <c:v>0.61038961038961037</c:v>
                </c:pt>
                <c:pt idx="47">
                  <c:v>0.62337662337662336</c:v>
                </c:pt>
                <c:pt idx="48">
                  <c:v>0.53246753246753242</c:v>
                </c:pt>
                <c:pt idx="49">
                  <c:v>0.4935064935064935</c:v>
                </c:pt>
                <c:pt idx="50">
                  <c:v>0.82894736842105265</c:v>
                </c:pt>
                <c:pt idx="51">
                  <c:v>0.68421052631578949</c:v>
                </c:pt>
                <c:pt idx="52">
                  <c:v>0.47368421052631576</c:v>
                </c:pt>
                <c:pt idx="53">
                  <c:v>0.59210526315789469</c:v>
                </c:pt>
                <c:pt idx="54">
                  <c:v>0.76315789473684215</c:v>
                </c:pt>
                <c:pt idx="55">
                  <c:v>0.81578947368421051</c:v>
                </c:pt>
                <c:pt idx="56">
                  <c:v>0.48684210526315791</c:v>
                </c:pt>
                <c:pt idx="57">
                  <c:v>0.47368421052631576</c:v>
                </c:pt>
                <c:pt idx="58">
                  <c:v>0.8</c:v>
                </c:pt>
                <c:pt idx="59">
                  <c:v>0.46666666666666667</c:v>
                </c:pt>
                <c:pt idx="60">
                  <c:v>0.57333333333333336</c:v>
                </c:pt>
                <c:pt idx="61">
                  <c:v>0.38666666666666666</c:v>
                </c:pt>
                <c:pt idx="62">
                  <c:v>0.57333333333333336</c:v>
                </c:pt>
                <c:pt idx="63">
                  <c:v>0.49333333333333335</c:v>
                </c:pt>
                <c:pt idx="64">
                  <c:v>0.6</c:v>
                </c:pt>
                <c:pt idx="65">
                  <c:v>0.44</c:v>
                </c:pt>
                <c:pt idx="66">
                  <c:v>0.50666666666666671</c:v>
                </c:pt>
                <c:pt idx="67">
                  <c:v>0.37333333333333335</c:v>
                </c:pt>
                <c:pt idx="68">
                  <c:v>0.50666666666666671</c:v>
                </c:pt>
                <c:pt idx="69">
                  <c:v>0.65333333333333332</c:v>
                </c:pt>
                <c:pt idx="70">
                  <c:v>0.56756756756756754</c:v>
                </c:pt>
                <c:pt idx="71">
                  <c:v>0.47297297297297297</c:v>
                </c:pt>
                <c:pt idx="72">
                  <c:v>0.43243243243243246</c:v>
                </c:pt>
                <c:pt idx="73">
                  <c:v>0.47297297297297297</c:v>
                </c:pt>
                <c:pt idx="74">
                  <c:v>0.44594594594594594</c:v>
                </c:pt>
                <c:pt idx="75">
                  <c:v>0.60810810810810811</c:v>
                </c:pt>
                <c:pt idx="76">
                  <c:v>0.85135135135135132</c:v>
                </c:pt>
                <c:pt idx="77">
                  <c:v>0.40540540540540543</c:v>
                </c:pt>
                <c:pt idx="78">
                  <c:v>0.60810810810810811</c:v>
                </c:pt>
                <c:pt idx="79">
                  <c:v>0.47297297297297297</c:v>
                </c:pt>
                <c:pt idx="80">
                  <c:v>0.60810810810810811</c:v>
                </c:pt>
                <c:pt idx="81">
                  <c:v>0.59459459459459463</c:v>
                </c:pt>
                <c:pt idx="82">
                  <c:v>0.33783783783783783</c:v>
                </c:pt>
                <c:pt idx="83">
                  <c:v>0.43243243243243246</c:v>
                </c:pt>
                <c:pt idx="84">
                  <c:v>0.47297297297297297</c:v>
                </c:pt>
                <c:pt idx="85">
                  <c:v>0.63013698630136983</c:v>
                </c:pt>
                <c:pt idx="86">
                  <c:v>0.46575342465753422</c:v>
                </c:pt>
                <c:pt idx="87">
                  <c:v>0.63013698630136983</c:v>
                </c:pt>
                <c:pt idx="88">
                  <c:v>0.72602739726027399</c:v>
                </c:pt>
                <c:pt idx="89">
                  <c:v>0.54794520547945202</c:v>
                </c:pt>
                <c:pt idx="90">
                  <c:v>0.26027397260273971</c:v>
                </c:pt>
                <c:pt idx="91">
                  <c:v>0.21917808219178081</c:v>
                </c:pt>
                <c:pt idx="92">
                  <c:v>0.60273972602739723</c:v>
                </c:pt>
                <c:pt idx="93">
                  <c:v>0.45205479452054792</c:v>
                </c:pt>
                <c:pt idx="94">
                  <c:v>0.63888888888888884</c:v>
                </c:pt>
                <c:pt idx="95">
                  <c:v>0.73611111111111116</c:v>
                </c:pt>
                <c:pt idx="96">
                  <c:v>0.59722222222222221</c:v>
                </c:pt>
                <c:pt idx="97">
                  <c:v>0.45833333333333331</c:v>
                </c:pt>
                <c:pt idx="98">
                  <c:v>0.61111111111111116</c:v>
                </c:pt>
                <c:pt idx="99">
                  <c:v>0.18055555555555555</c:v>
                </c:pt>
              </c:numCache>
            </c:numRef>
          </c:yVal>
          <c:smooth val="0"/>
          <c:extLst>
            <c:ext xmlns:c16="http://schemas.microsoft.com/office/drawing/2014/chart" uri="{C3380CC4-5D6E-409C-BE32-E72D297353CC}">
              <c16:uniqueId val="{00000001-4668-479C-B5CD-673516F99CCB}"/>
            </c:ext>
          </c:extLst>
        </c:ser>
        <c:dLbls>
          <c:showLegendKey val="0"/>
          <c:showVal val="0"/>
          <c:showCatName val="0"/>
          <c:showSerName val="0"/>
          <c:showPercent val="0"/>
          <c:showBubbleSize val="0"/>
        </c:dLbls>
        <c:axId val="515986672"/>
        <c:axId val="515981872"/>
      </c:scatterChart>
      <c:valAx>
        <c:axId val="51598667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sz="1000" b="0" i="0" u="none" strike="noStrike" baseline="0" dirty="0">
                    <a:effectLst/>
                  </a:rPr>
                  <a:t>NETRTG</a:t>
                </a:r>
                <a:endParaRPr lang="fr-FR" sz="1000" b="0" i="0" u="none" strike="noStrike" kern="1200" baseline="0" dirty="0">
                  <a:solidFill>
                    <a:srgbClr val="C0791B">
                      <a:lumMod val="65000"/>
                      <a:lumOff val="35000"/>
                    </a:srgbClr>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5981872"/>
        <c:crosses val="autoZero"/>
        <c:crossBetween val="midCat"/>
      </c:valAx>
      <c:valAx>
        <c:axId val="5159818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sz="1000" b="0" i="0" u="none" strike="noStrike" kern="1200" baseline="0" dirty="0">
                    <a:solidFill>
                      <a:srgbClr val="C0791B">
                        <a:lumMod val="65000"/>
                        <a:lumOff val="35000"/>
                      </a:srgbClr>
                    </a:solidFill>
                  </a:rPr>
                  <a:t>% de victoire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5986672"/>
        <c:crossesAt val="-20"/>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omments/modernComment_10F_277180FC.xml><?xml version="1.0" encoding="utf-8"?>
<p188:cmLst xmlns:a="http://schemas.openxmlformats.org/drawingml/2006/main" xmlns:r="http://schemas.openxmlformats.org/officeDocument/2006/relationships" xmlns:p188="http://schemas.microsoft.com/office/powerpoint/2018/8/main">
  <p188:cm id="{E9FD2AB9-CC9E-4D33-8881-F1A0047B3A33}" authorId="{318D156F-5E08-802C-3708-173A42C7959F}" created="2025-10-09T07:13:36.774">
    <pc:sldMkLst xmlns:pc="http://schemas.microsoft.com/office/powerpoint/2013/main/command">
      <pc:docMk/>
      <pc:sldMk cId="661750012" sldId="271"/>
    </pc:sldMkLst>
    <p188:txBody>
      <a:bodyPr/>
      <a:lstStyle/>
      <a:p>
        <a:r>
          <a:rPr lang="fr-FR"/>
          <a:t>Rappel PIE et rebonds.
Il y a plus de DREB que de OREB;
3 joueurs se démarquent : Reaves, Doncic et James.
Les joueurs qui prennent beaucoup de rebonds ont un PIE élevé.</a:t>
        </a:r>
      </a:p>
    </p188:txBody>
  </p188:cm>
</p188:cmLst>
</file>

<file path=ppt/comments/modernComment_108_D5A02896.xml><?xml version="1.0" encoding="utf-8"?>
<p188:cmLst xmlns:a="http://schemas.openxmlformats.org/drawingml/2006/main" xmlns:r="http://schemas.openxmlformats.org/officeDocument/2006/relationships" xmlns:p188="http://schemas.microsoft.com/office/powerpoint/2018/8/main">
  <p188:cm id="{579E1001-42E9-4C05-8571-A93DCD5885F9}" authorId="{318D156F-5E08-802C-3708-173A42C7959F}" created="2025-10-09T07:15:50.631">
    <pc:sldMkLst xmlns:pc="http://schemas.microsoft.com/office/powerpoint/2013/main/command">
      <pc:docMk/>
      <pc:sldMk cId="3584043158" sldId="264"/>
    </pc:sldMkLst>
    <p188:txBody>
      <a:bodyPr/>
      <a:lstStyle/>
      <a:p>
        <a:r>
          <a:rPr lang="fr-FR"/>
          <a:t>Les équipes ayant le plus grand effectif sont celles qui marquent le moins.
Hypothèse : elles misent moins sur des stars qui vont beaucoup marquer et ont donc plus de joueurs.
Inutile de recruter beaucoup de joueurs, il suffit de miser sur des joueurs performants.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67d0a8579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67d0a8579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67d0a8579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67d0a8579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9690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67d0a8579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67d0a8579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Segoe UI" panose="020B0502040204020203" pitchFamily="34" charset="0"/>
              </a:rPr>
              <a:t>Les équipes ayant le plus grand effectif sont celles qui marquent le moins.</a:t>
            </a:r>
            <a:br>
              <a:rPr lang="fr-FR" sz="1800" dirty="0">
                <a:effectLst/>
                <a:latin typeface="Segoe UI" panose="020B0502040204020203" pitchFamily="34" charset="0"/>
              </a:rPr>
            </a:br>
            <a:r>
              <a:rPr lang="fr-FR" sz="1800" dirty="0">
                <a:effectLst/>
                <a:latin typeface="Segoe UI" panose="020B0502040204020203" pitchFamily="34" charset="0"/>
              </a:rPr>
              <a:t>Hypothèse : elles misent moins sur des stars qui vont beaucoup marquer et ont donc plus de joueurs.</a:t>
            </a:r>
            <a:br>
              <a:rPr lang="fr-FR" sz="1800" dirty="0">
                <a:effectLst/>
                <a:latin typeface="Segoe UI" panose="020B0502040204020203" pitchFamily="34" charset="0"/>
              </a:rPr>
            </a:br>
            <a:r>
              <a:rPr lang="fr-FR" sz="1800" dirty="0">
                <a:effectLst/>
                <a:latin typeface="Segoe UI" panose="020B0502040204020203" pitchFamily="34" charset="0"/>
              </a:rPr>
              <a:t>Inutile de recruter beaucoup de joueurs, il suffit de miser sur des joueurs performants.</a:t>
            </a:r>
            <a:endParaRPr lang="fr-FR" sz="1800" dirty="0">
              <a:effectLst/>
              <a:latin typeface="Arial" panose="020B0604020202020204" pitchFamily="34" charset="0"/>
            </a:endParaRPr>
          </a:p>
        </p:txBody>
      </p:sp>
    </p:spTree>
    <p:extLst>
      <p:ext uri="{BB962C8B-B14F-4D97-AF65-F5344CB8AC3E}">
        <p14:creationId xmlns:p14="http://schemas.microsoft.com/office/powerpoint/2010/main" val="2196886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67d0a8579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67d0a8579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Segoe UI" panose="020B0502040204020203" pitchFamily="34" charset="0"/>
              </a:rPr>
              <a:t>Rappel PIE et rebonds.</a:t>
            </a:r>
            <a:br>
              <a:rPr lang="fr-FR" sz="1800" dirty="0">
                <a:effectLst/>
                <a:latin typeface="Segoe UI" panose="020B0502040204020203" pitchFamily="34" charset="0"/>
              </a:rPr>
            </a:br>
            <a:r>
              <a:rPr lang="fr-FR" sz="1800" dirty="0">
                <a:effectLst/>
                <a:latin typeface="Segoe UI" panose="020B0502040204020203" pitchFamily="34" charset="0"/>
              </a:rPr>
              <a:t>Il y a plus de DREB que de OREB;</a:t>
            </a:r>
            <a:br>
              <a:rPr lang="fr-FR" sz="1800" dirty="0">
                <a:effectLst/>
                <a:latin typeface="Segoe UI" panose="020B0502040204020203" pitchFamily="34" charset="0"/>
              </a:rPr>
            </a:br>
            <a:r>
              <a:rPr lang="fr-FR" sz="1800" dirty="0">
                <a:effectLst/>
                <a:latin typeface="Segoe UI" panose="020B0502040204020203" pitchFamily="34" charset="0"/>
              </a:rPr>
              <a:t>3 joueurs se démarquent : </a:t>
            </a:r>
            <a:r>
              <a:rPr lang="fr-FR" sz="1800" dirty="0" err="1">
                <a:effectLst/>
                <a:latin typeface="Segoe UI" panose="020B0502040204020203" pitchFamily="34" charset="0"/>
              </a:rPr>
              <a:t>Reaves</a:t>
            </a:r>
            <a:r>
              <a:rPr lang="fr-FR" sz="1800" dirty="0">
                <a:effectLst/>
                <a:latin typeface="Segoe UI" panose="020B0502040204020203" pitchFamily="34" charset="0"/>
              </a:rPr>
              <a:t>, </a:t>
            </a:r>
            <a:r>
              <a:rPr lang="fr-FR" sz="1800" dirty="0" err="1">
                <a:effectLst/>
                <a:latin typeface="Segoe UI" panose="020B0502040204020203" pitchFamily="34" charset="0"/>
              </a:rPr>
              <a:t>Doncic</a:t>
            </a:r>
            <a:r>
              <a:rPr lang="fr-FR" sz="1800" dirty="0">
                <a:effectLst/>
                <a:latin typeface="Segoe UI" panose="020B0502040204020203" pitchFamily="34" charset="0"/>
              </a:rPr>
              <a:t> et James.</a:t>
            </a:r>
            <a:br>
              <a:rPr lang="fr-FR" sz="1800" dirty="0">
                <a:effectLst/>
                <a:latin typeface="Segoe UI" panose="020B0502040204020203" pitchFamily="34" charset="0"/>
              </a:rPr>
            </a:br>
            <a:r>
              <a:rPr lang="fr-FR" sz="1800" dirty="0">
                <a:effectLst/>
                <a:latin typeface="Segoe UI" panose="020B0502040204020203" pitchFamily="34" charset="0"/>
              </a:rPr>
              <a:t>Les joueurs qui prennent beaucoup de rebonds ont un PIE élevé.</a:t>
            </a:r>
            <a:endParaRPr lang="fr-FR" sz="1800" dirty="0">
              <a:effectLst/>
              <a:latin typeface="Arial" panose="020B0604020202020204" pitchFamily="34" charset="0"/>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0472081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67d0a8579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67d0a8579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b="0" i="0" u="none" strike="noStrike" cap="none" dirty="0">
                <a:solidFill>
                  <a:srgbClr val="000000"/>
                </a:solidFill>
                <a:effectLst/>
                <a:latin typeface="Segoe UI" panose="020B0502040204020203" pitchFamily="34" charset="0"/>
                <a:cs typeface="Arial"/>
                <a:sym typeface="Arial"/>
              </a:rPr>
              <a:t>Les 3 mêmes joueurs se démarquent. Ils sont les principaux créateurs (AST les plus élevées).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b="0" i="0" u="none" strike="noStrike" cap="none" dirty="0">
                <a:solidFill>
                  <a:srgbClr val="000000"/>
                </a:solidFill>
                <a:effectLst/>
                <a:latin typeface="Segoe UI" panose="020B0502040204020203" pitchFamily="34" charset="0"/>
                <a:cs typeface="Arial"/>
                <a:sym typeface="Arial"/>
              </a:rPr>
              <a:t>Ils sont les joueurs avec le plus grand impact global (PIE les plus élevés).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b="0" i="0" u="none" strike="noStrike" cap="none" dirty="0">
                <a:solidFill>
                  <a:srgbClr val="000000"/>
                </a:solidFill>
                <a:effectLst/>
                <a:latin typeface="Segoe UI" panose="020B0502040204020203" pitchFamily="34" charset="0"/>
                <a:cs typeface="Arial"/>
                <a:sym typeface="Arial"/>
              </a:rPr>
              <a:t>L'équipe repose donc sur l'impact de ces trois joueurs pour dominer dans la quasi-totalité des catégories du jeu. Les autres joueurs fournissent un soutien ciblé. Ex </a:t>
            </a:r>
            <a:r>
              <a:rPr lang="fr-FR" sz="1800" b="0" i="0" u="none" strike="noStrike" cap="none" dirty="0" err="1">
                <a:solidFill>
                  <a:srgbClr val="000000"/>
                </a:solidFill>
                <a:effectLst/>
                <a:latin typeface="Segoe UI" panose="020B0502040204020203" pitchFamily="34" charset="0"/>
                <a:cs typeface="Arial"/>
                <a:sym typeface="Arial"/>
              </a:rPr>
              <a:t>christian</a:t>
            </a:r>
            <a:r>
              <a:rPr lang="fr-FR" sz="1800" b="0" i="0" u="none" strike="noStrike" cap="none" dirty="0">
                <a:solidFill>
                  <a:srgbClr val="000000"/>
                </a:solidFill>
                <a:effectLst/>
                <a:latin typeface="Segoe UI" panose="020B0502040204020203" pitchFamily="34" charset="0"/>
                <a:cs typeface="Arial"/>
                <a:sym typeface="Arial"/>
              </a:rPr>
              <a:t> </a:t>
            </a:r>
            <a:r>
              <a:rPr lang="fr-FR" sz="1800" b="0" i="0" u="none" strike="noStrike" cap="none" dirty="0" err="1">
                <a:solidFill>
                  <a:srgbClr val="000000"/>
                </a:solidFill>
                <a:effectLst/>
                <a:latin typeface="Segoe UI" panose="020B0502040204020203" pitchFamily="34" charset="0"/>
                <a:cs typeface="Arial"/>
                <a:sym typeface="Arial"/>
              </a:rPr>
              <a:t>koloko</a:t>
            </a:r>
            <a:endParaRPr lang="fr-FR" sz="1800" b="0" i="0" u="none" strike="noStrike" cap="none" dirty="0">
              <a:solidFill>
                <a:srgbClr val="000000"/>
              </a:solidFill>
              <a:effectLst/>
              <a:latin typeface="Segoe UI" panose="020B0502040204020203" pitchFamily="34" charset="0"/>
              <a:cs typeface="Arial"/>
              <a:sym typeface="Arial"/>
            </a:endParaRPr>
          </a:p>
        </p:txBody>
      </p:sp>
    </p:spTree>
    <p:extLst>
      <p:ext uri="{BB962C8B-B14F-4D97-AF65-F5344CB8AC3E}">
        <p14:creationId xmlns:p14="http://schemas.microsoft.com/office/powerpoint/2010/main" val="4129100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67d0a8579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67d0a8579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b="0" i="0" u="none" strike="noStrike" cap="none" dirty="0">
                <a:solidFill>
                  <a:srgbClr val="000000"/>
                </a:solidFill>
                <a:effectLst/>
                <a:latin typeface="Segoe UI" panose="020B0502040204020203" pitchFamily="34" charset="0"/>
                <a:cs typeface="Arial"/>
                <a:sym typeface="Arial"/>
              </a:rPr>
              <a:t>Les joueurs </a:t>
            </a:r>
            <a:r>
              <a:rPr lang="fr-FR" sz="1800" b="0" i="0" u="none" strike="noStrike" cap="none" dirty="0" err="1">
                <a:solidFill>
                  <a:srgbClr val="000000"/>
                </a:solidFill>
                <a:effectLst/>
                <a:latin typeface="Segoe UI" panose="020B0502040204020203" pitchFamily="34" charset="0"/>
                <a:cs typeface="Arial"/>
                <a:sym typeface="Arial"/>
              </a:rPr>
              <a:t>impactants</a:t>
            </a:r>
            <a:r>
              <a:rPr lang="fr-FR" sz="1800" b="0" i="0" u="none" strike="noStrike" cap="none" dirty="0">
                <a:solidFill>
                  <a:srgbClr val="000000"/>
                </a:solidFill>
                <a:effectLst/>
                <a:latin typeface="Segoe UI" panose="020B0502040204020203" pitchFamily="34" charset="0"/>
                <a:cs typeface="Arial"/>
                <a:sym typeface="Arial"/>
              </a:rPr>
              <a:t> comme </a:t>
            </a:r>
            <a:r>
              <a:rPr lang="fr-FR" sz="1800" b="0" i="0" u="none" strike="noStrike" cap="none" dirty="0" err="1">
                <a:solidFill>
                  <a:srgbClr val="000000"/>
                </a:solidFill>
                <a:effectLst/>
                <a:latin typeface="Segoe UI" panose="020B0502040204020203" pitchFamily="34" charset="0"/>
                <a:cs typeface="Arial"/>
                <a:sym typeface="Arial"/>
              </a:rPr>
              <a:t>Shai</a:t>
            </a:r>
            <a:r>
              <a:rPr lang="fr-FR" sz="1800" b="0" i="0" u="none" strike="noStrike" cap="none" dirty="0">
                <a:solidFill>
                  <a:srgbClr val="000000"/>
                </a:solidFill>
                <a:effectLst/>
                <a:latin typeface="Segoe UI" panose="020B0502040204020203" pitchFamily="34" charset="0"/>
                <a:cs typeface="Arial"/>
                <a:sym typeface="Arial"/>
              </a:rPr>
              <a:t> </a:t>
            </a:r>
            <a:r>
              <a:rPr lang="fr-FR" sz="1800" b="0" i="0" u="none" strike="noStrike" cap="none" dirty="0" err="1">
                <a:solidFill>
                  <a:srgbClr val="000000"/>
                </a:solidFill>
                <a:effectLst/>
                <a:latin typeface="Segoe UI" panose="020B0502040204020203" pitchFamily="34" charset="0"/>
                <a:cs typeface="Arial"/>
                <a:sym typeface="Arial"/>
              </a:rPr>
              <a:t>Gilgeous</a:t>
            </a:r>
            <a:r>
              <a:rPr lang="fr-FR" sz="1800" b="0" i="0" u="none" strike="noStrike" cap="none" dirty="0">
                <a:solidFill>
                  <a:srgbClr val="000000"/>
                </a:solidFill>
                <a:effectLst/>
                <a:latin typeface="Segoe UI" panose="020B0502040204020203" pitchFamily="34" charset="0"/>
                <a:cs typeface="Arial"/>
                <a:sym typeface="Arial"/>
              </a:rPr>
              <a:t>-Alexander et Nikola </a:t>
            </a:r>
            <a:r>
              <a:rPr lang="fr-FR" sz="1800" b="0" i="0" u="none" strike="noStrike" cap="none" dirty="0" err="1">
                <a:solidFill>
                  <a:srgbClr val="000000"/>
                </a:solidFill>
                <a:effectLst/>
                <a:latin typeface="Segoe UI" panose="020B0502040204020203" pitchFamily="34" charset="0"/>
                <a:cs typeface="Arial"/>
                <a:sym typeface="Arial"/>
              </a:rPr>
              <a:t>Jokić</a:t>
            </a:r>
            <a:r>
              <a:rPr lang="fr-FR" sz="1800" b="0" i="0" u="none" strike="noStrike" cap="none" dirty="0">
                <a:solidFill>
                  <a:srgbClr val="000000"/>
                </a:solidFill>
                <a:effectLst/>
                <a:latin typeface="Segoe UI" panose="020B0502040204020203" pitchFamily="34" charset="0"/>
                <a:cs typeface="Arial"/>
                <a:sym typeface="Arial"/>
              </a:rPr>
              <a:t> combinent un volume de points très élevé avec une excellente efficacité au tir, ce dernier étant également performant au rebond. </a:t>
            </a:r>
            <a:r>
              <a:rPr lang="fr-FR" sz="1800" b="0" i="0" u="none" strike="noStrike" cap="none" dirty="0" err="1">
                <a:solidFill>
                  <a:srgbClr val="000000"/>
                </a:solidFill>
                <a:effectLst/>
                <a:latin typeface="Segoe UI" panose="020B0502040204020203" pitchFamily="34" charset="0"/>
                <a:cs typeface="Arial"/>
                <a:sym typeface="Arial"/>
              </a:rPr>
              <a:t>Giannis</a:t>
            </a:r>
            <a:r>
              <a:rPr lang="fr-FR" sz="1800" b="0" i="0" u="none" strike="noStrike" cap="none" dirty="0">
                <a:solidFill>
                  <a:srgbClr val="000000"/>
                </a:solidFill>
                <a:effectLst/>
                <a:latin typeface="Segoe UI" panose="020B0502040204020203" pitchFamily="34" charset="0"/>
                <a:cs typeface="Arial"/>
                <a:sym typeface="Arial"/>
              </a:rPr>
              <a:t> </a:t>
            </a:r>
            <a:r>
              <a:rPr lang="fr-FR" sz="1800" b="0" i="0" u="none" strike="noStrike" cap="none" dirty="0" err="1">
                <a:solidFill>
                  <a:srgbClr val="000000"/>
                </a:solidFill>
                <a:effectLst/>
                <a:latin typeface="Segoe UI" panose="020B0502040204020203" pitchFamily="34" charset="0"/>
                <a:cs typeface="Arial"/>
                <a:sym typeface="Arial"/>
              </a:rPr>
              <a:t>Antetokounmpo</a:t>
            </a:r>
            <a:r>
              <a:rPr lang="fr-FR" sz="1800" b="0" i="0" u="none" strike="noStrike" cap="none" dirty="0">
                <a:solidFill>
                  <a:srgbClr val="000000"/>
                </a:solidFill>
                <a:effectLst/>
                <a:latin typeface="Segoe UI" panose="020B0502040204020203" pitchFamily="34" charset="0"/>
                <a:cs typeface="Arial"/>
                <a:sym typeface="Arial"/>
              </a:rPr>
              <a:t> se distingue par une efficacité record près du panier (60,1% FGM), tandis que Stephen Curry excelle avec une fiabilité exceptionnelle aux lancers francs (93,3%). L'impact global (PIE) est maximisé par les joueurs polyvalents tels que </a:t>
            </a:r>
            <a:r>
              <a:rPr lang="fr-FR" sz="1800" b="0" i="0" u="none" strike="noStrike" cap="none" dirty="0" err="1">
                <a:solidFill>
                  <a:srgbClr val="000000"/>
                </a:solidFill>
                <a:effectLst/>
                <a:latin typeface="Segoe UI" panose="020B0502040204020203" pitchFamily="34" charset="0"/>
                <a:cs typeface="Arial"/>
                <a:sym typeface="Arial"/>
              </a:rPr>
              <a:t>Giannis</a:t>
            </a:r>
            <a:r>
              <a:rPr lang="fr-FR" sz="1800" b="0" i="0" u="none" strike="noStrike" cap="none" dirty="0">
                <a:solidFill>
                  <a:srgbClr val="000000"/>
                </a:solidFill>
                <a:effectLst/>
                <a:latin typeface="Segoe UI" panose="020B0502040204020203" pitchFamily="34" charset="0"/>
                <a:cs typeface="Arial"/>
                <a:sym typeface="Arial"/>
              </a:rPr>
              <a:t> (21,0) et </a:t>
            </a:r>
            <a:r>
              <a:rPr lang="fr-FR" sz="1800" b="0" i="0" u="none" strike="noStrike" cap="none" dirty="0" err="1">
                <a:solidFill>
                  <a:srgbClr val="000000"/>
                </a:solidFill>
                <a:effectLst/>
                <a:latin typeface="Segoe UI" panose="020B0502040204020203" pitchFamily="34" charset="0"/>
                <a:cs typeface="Arial"/>
                <a:sym typeface="Arial"/>
              </a:rPr>
              <a:t>Jokić</a:t>
            </a:r>
            <a:r>
              <a:rPr lang="fr-FR" sz="1800" b="0" i="0" u="none" strike="noStrike" cap="none" dirty="0">
                <a:solidFill>
                  <a:srgbClr val="000000"/>
                </a:solidFill>
                <a:effectLst/>
                <a:latin typeface="Segoe UI" panose="020B0502040204020203" pitchFamily="34" charset="0"/>
                <a:cs typeface="Arial"/>
                <a:sym typeface="Arial"/>
              </a:rPr>
              <a:t> (20,6), surpassant la plupart des marqueurs purs.</a:t>
            </a:r>
            <a:endParaRPr sz="1800" b="0" i="0" u="none" strike="noStrike" cap="none" dirty="0">
              <a:solidFill>
                <a:srgbClr val="000000"/>
              </a:solidFill>
              <a:effectLst/>
              <a:latin typeface="Segoe UI" panose="020B0502040204020203" pitchFamily="34" charset="0"/>
              <a:cs typeface="Arial"/>
              <a:sym typeface="Arial"/>
            </a:endParaRPr>
          </a:p>
        </p:txBody>
      </p:sp>
    </p:spTree>
    <p:extLst>
      <p:ext uri="{BB962C8B-B14F-4D97-AF65-F5344CB8AC3E}">
        <p14:creationId xmlns:p14="http://schemas.microsoft.com/office/powerpoint/2010/main" val="11635379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67d0a8579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67d0a8579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Comparer ½ avec 3/4 . L'analyse du Top 15 des marqueurs montre que les joueurs comme </a:t>
            </a:r>
            <a:r>
              <a:rPr lang="fr-FR" dirty="0" err="1"/>
              <a:t>Giannis</a:t>
            </a:r>
            <a:r>
              <a:rPr lang="fr-FR" dirty="0"/>
              <a:t> </a:t>
            </a:r>
            <a:r>
              <a:rPr lang="fr-FR" dirty="0" err="1"/>
              <a:t>Antetokounmpo</a:t>
            </a:r>
            <a:r>
              <a:rPr lang="fr-FR" dirty="0"/>
              <a:t> et Nikola </a:t>
            </a:r>
            <a:r>
              <a:rPr lang="fr-FR" dirty="0" err="1"/>
              <a:t>Jokić</a:t>
            </a:r>
            <a:r>
              <a:rPr lang="fr-FR" dirty="0"/>
              <a:t> sont les plus efficaces au tir, leur jeu leur permettant d'atteindre les pics de FG%. Tandis que des joueurs comme </a:t>
            </a:r>
            <a:r>
              <a:rPr lang="fr-FR" dirty="0" err="1"/>
              <a:t>Shai</a:t>
            </a:r>
            <a:r>
              <a:rPr lang="fr-FR" dirty="0"/>
              <a:t> </a:t>
            </a:r>
            <a:r>
              <a:rPr lang="fr-FR" dirty="0" err="1"/>
              <a:t>Gilgeous</a:t>
            </a:r>
            <a:r>
              <a:rPr lang="fr-FR" dirty="0"/>
              <a:t>-Alexander et Anthony Edwards dominent le classement par le volume total de points. Comparer ½ avec 3/4</a:t>
            </a:r>
            <a:endParaRPr dirty="0"/>
          </a:p>
        </p:txBody>
      </p:sp>
    </p:spTree>
    <p:extLst>
      <p:ext uri="{BB962C8B-B14F-4D97-AF65-F5344CB8AC3E}">
        <p14:creationId xmlns:p14="http://schemas.microsoft.com/office/powerpoint/2010/main" val="2143838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67d0a8579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67d0a8579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Ce graphique montre que les meilleurs marqueurs de la ligue ont une efficacité comparable dans les 3 domaines du shoot :</a:t>
            </a:r>
          </a:p>
          <a:p>
            <a:pPr marL="0" lvl="0" indent="0" algn="l" rtl="0">
              <a:spcBef>
                <a:spcPts val="0"/>
              </a:spcBef>
              <a:spcAft>
                <a:spcPts val="0"/>
              </a:spcAft>
              <a:buNone/>
            </a:pPr>
            <a:r>
              <a:rPr lang="fr-FR" dirty="0"/>
              <a:t>-entre 80 et 90% pour les lancers-francs</a:t>
            </a:r>
          </a:p>
          <a:p>
            <a:pPr marL="0" lvl="0" indent="0" algn="l" rtl="0">
              <a:spcBef>
                <a:spcPts val="0"/>
              </a:spcBef>
              <a:spcAft>
                <a:spcPts val="0"/>
              </a:spcAft>
              <a:buNone/>
            </a:pPr>
            <a:r>
              <a:rPr lang="fr-FR" dirty="0"/>
              <a:t>-entre 40 et 55 % au FG pour la plupart</a:t>
            </a:r>
          </a:p>
          <a:p>
            <a:pPr marL="0" lvl="0" indent="0" algn="l" rtl="0">
              <a:spcBef>
                <a:spcPts val="0"/>
              </a:spcBef>
              <a:spcAft>
                <a:spcPts val="0"/>
              </a:spcAft>
              <a:buNone/>
            </a:pPr>
            <a:r>
              <a:rPr lang="fr-FR" dirty="0"/>
              <a:t>-entre 30 et 40% au 3pts.</a:t>
            </a:r>
          </a:p>
          <a:p>
            <a:pPr marL="0" lvl="0" indent="0" algn="l" rtl="0">
              <a:spcBef>
                <a:spcPts val="0"/>
              </a:spcBef>
              <a:spcAft>
                <a:spcPts val="0"/>
              </a:spcAft>
              <a:buNone/>
            </a:pPr>
            <a:r>
              <a:rPr lang="fr-FR" dirty="0"/>
              <a:t>Seul </a:t>
            </a:r>
            <a:r>
              <a:rPr lang="fr-FR" dirty="0" err="1"/>
              <a:t>Giannis</a:t>
            </a:r>
            <a:r>
              <a:rPr lang="fr-FR" dirty="0"/>
              <a:t> </a:t>
            </a:r>
            <a:r>
              <a:rPr lang="fr-FR" dirty="0" err="1"/>
              <a:t>Antetokounmpo</a:t>
            </a:r>
            <a:r>
              <a:rPr lang="fr-FR" dirty="0"/>
              <a:t> se distingue par des stats médiocres au 3pts et lancers francs qu’il compense par une efficacité record au FG.</a:t>
            </a:r>
          </a:p>
        </p:txBody>
      </p:sp>
    </p:spTree>
    <p:extLst>
      <p:ext uri="{BB962C8B-B14F-4D97-AF65-F5344CB8AC3E}">
        <p14:creationId xmlns:p14="http://schemas.microsoft.com/office/powerpoint/2010/main" val="7470548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67d0a8579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67d0a8579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On peut voir une corrélation modérée entre le total de rebonds et le nombre de points marqués par une équipe sur la dernière saison. Celui qui domine le rebond domine le jeu.</a:t>
            </a:r>
          </a:p>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25994314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67d0a8579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67d0a8579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err="1"/>
              <a:t>LeBron</a:t>
            </a:r>
            <a:r>
              <a:rPr lang="fr-FR" dirty="0"/>
              <a:t> James, Luka </a:t>
            </a:r>
            <a:r>
              <a:rPr lang="fr-FR" dirty="0" err="1"/>
              <a:t>Dončić</a:t>
            </a:r>
            <a:r>
              <a:rPr lang="fr-FR" dirty="0"/>
              <a:t>, et Austin </a:t>
            </a:r>
            <a:r>
              <a:rPr lang="fr-FR" dirty="0" err="1"/>
              <a:t>Reaves</a:t>
            </a:r>
            <a:r>
              <a:rPr lang="fr-FR" dirty="0"/>
              <a:t>  dominent largement à la fois en Points et en PIE, ce sont les . Les autres joueurs affichent un impact (PIE) relativement stable et plus élevé que leur production de points, ils sont utiles dans d’autres compartiment du jeu comme vu précédemment.</a:t>
            </a:r>
            <a:endParaRPr dirty="0"/>
          </a:p>
        </p:txBody>
      </p:sp>
    </p:spTree>
    <p:extLst>
      <p:ext uri="{BB962C8B-B14F-4D97-AF65-F5344CB8AC3E}">
        <p14:creationId xmlns:p14="http://schemas.microsoft.com/office/powerpoint/2010/main" val="36080915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67d0a8579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67d0a8579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Ce nuage de points démontre une forte corrélation </a:t>
            </a:r>
            <a:r>
              <a:rPr lang="fr-FR" dirty="0" err="1"/>
              <a:t>positiveforte</a:t>
            </a:r>
            <a:r>
              <a:rPr lang="fr-FR" dirty="0"/>
              <a:t> entre le pourcentage de victoire d'une équipe et le NETRTG lorsque le joueur est sur le terrain. À mesure que le NETRTG des joueurs augmente, le % de victoire des joueurs tend également à s'améliorer de manière linéaire et significative.</a:t>
            </a:r>
          </a:p>
          <a:p>
            <a:pPr marL="0" lvl="0" indent="0" algn="l" rtl="0">
              <a:spcBef>
                <a:spcPts val="0"/>
              </a:spcBef>
              <a:spcAft>
                <a:spcPts val="0"/>
              </a:spcAft>
              <a:buNone/>
            </a:pPr>
            <a:r>
              <a:rPr lang="fr-FR" dirty="0"/>
              <a:t>Il faut donc des joueurs capables de faire des différences des deux côtés du terrain donc forts en attaque ET en défense.</a:t>
            </a:r>
          </a:p>
        </p:txBody>
      </p:sp>
    </p:spTree>
    <p:extLst>
      <p:ext uri="{BB962C8B-B14F-4D97-AF65-F5344CB8AC3E}">
        <p14:creationId xmlns:p14="http://schemas.microsoft.com/office/powerpoint/2010/main" val="27393530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67d0a8579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67d0a8579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5171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8_D5A02896.xml"/><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chart" Target="../charts/char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0F_277180FC.xml"/><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chart" Target="../charts/char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chart" Target="../charts/char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chart" Target="../charts/chart8.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516325"/>
            <a:ext cx="3234600" cy="1872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fr" dirty="0"/>
              <a:t>Exemple d’analyse NBA</a:t>
            </a:r>
            <a:endParaRPr dirty="0"/>
          </a:p>
        </p:txBody>
      </p:sp>
      <p:pic>
        <p:nvPicPr>
          <p:cNvPr id="278" name="Google Shape;278;p13"/>
          <p:cNvPicPr preferRelativeResize="0"/>
          <p:nvPr/>
        </p:nvPicPr>
        <p:blipFill>
          <a:blip r:embed="rId3">
            <a:alphaModFix/>
          </a:blip>
          <a:stretch>
            <a:fillRect/>
          </a:stretch>
        </p:blipFill>
        <p:spPr>
          <a:xfrm>
            <a:off x="1287200" y="2389225"/>
            <a:ext cx="2308200" cy="2308200"/>
          </a:xfrm>
          <a:prstGeom prst="rect">
            <a:avLst/>
          </a:prstGeom>
          <a:noFill/>
          <a:ln>
            <a:noFill/>
          </a:ln>
        </p:spPr>
      </p:pic>
      <p:sp>
        <p:nvSpPr>
          <p:cNvPr id="4" name="ZoneTexte 3">
            <a:extLst>
              <a:ext uri="{FF2B5EF4-FFF2-40B4-BE49-F238E27FC236}">
                <a16:creationId xmlns:a16="http://schemas.microsoft.com/office/drawing/2014/main" id="{C9A98618-FC87-D936-14AD-F2B4679D5188}"/>
              </a:ext>
            </a:extLst>
          </p:cNvPr>
          <p:cNvSpPr txBox="1"/>
          <p:nvPr/>
        </p:nvSpPr>
        <p:spPr>
          <a:xfrm>
            <a:off x="6026728" y="4435815"/>
            <a:ext cx="2993127" cy="523220"/>
          </a:xfrm>
          <a:prstGeom prst="rect">
            <a:avLst/>
          </a:prstGeom>
          <a:noFill/>
        </p:spPr>
        <p:txBody>
          <a:bodyPr wrap="none" rtlCol="0">
            <a:spAutoFit/>
          </a:bodyPr>
          <a:lstStyle/>
          <a:p>
            <a:r>
              <a:rPr lang="fr-FR" dirty="0">
                <a:solidFill>
                  <a:schemeClr val="bg1"/>
                </a:solidFill>
              </a:rPr>
              <a:t>Zied Belhocine</a:t>
            </a:r>
          </a:p>
          <a:p>
            <a:r>
              <a:rPr lang="fr-FR" dirty="0">
                <a:solidFill>
                  <a:schemeClr val="bg1"/>
                </a:solidFill>
              </a:rPr>
              <a:t>Consultant Business </a:t>
            </a:r>
            <a:r>
              <a:rPr lang="fr-FR" dirty="0" err="1">
                <a:solidFill>
                  <a:schemeClr val="bg1"/>
                </a:solidFill>
              </a:rPr>
              <a:t>Analyst</a:t>
            </a:r>
            <a:r>
              <a:rPr lang="fr-FR" dirty="0">
                <a:solidFill>
                  <a:schemeClr val="bg1"/>
                </a:solidFill>
              </a:rPr>
              <a:t> Junior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t>Données les plus importantes dans le fichier NBA</a:t>
            </a:r>
            <a:endParaRPr dirty="0"/>
          </a:p>
        </p:txBody>
      </p:sp>
      <p:sp>
        <p:nvSpPr>
          <p:cNvPr id="284" name="Google Shape;284;p1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 name="Google Shape;278;p13">
            <a:extLst>
              <a:ext uri="{FF2B5EF4-FFF2-40B4-BE49-F238E27FC236}">
                <a16:creationId xmlns:a16="http://schemas.microsoft.com/office/drawing/2014/main" id="{8B96A690-B28F-0811-6095-6A472C341280}"/>
              </a:ext>
            </a:extLst>
          </p:cNvPr>
          <p:cNvPicPr preferRelativeResize="0"/>
          <p:nvPr/>
        </p:nvPicPr>
        <p:blipFill>
          <a:blip r:embed="rId3">
            <a:alphaModFix/>
          </a:blip>
          <a:stretch>
            <a:fillRect/>
          </a:stretch>
        </p:blipFill>
        <p:spPr>
          <a:xfrm>
            <a:off x="8774747" y="4802092"/>
            <a:ext cx="268716" cy="253439"/>
          </a:xfrm>
          <a:prstGeom prst="rect">
            <a:avLst/>
          </a:prstGeom>
          <a:noFill/>
          <a:ln>
            <a:noFill/>
          </a:ln>
        </p:spPr>
      </p:pic>
      <p:graphicFrame>
        <p:nvGraphicFramePr>
          <p:cNvPr id="2" name="Tableau 1">
            <a:extLst>
              <a:ext uri="{FF2B5EF4-FFF2-40B4-BE49-F238E27FC236}">
                <a16:creationId xmlns:a16="http://schemas.microsoft.com/office/drawing/2014/main" id="{E41F5552-BCA8-93D4-6592-F370CF9804BA}"/>
              </a:ext>
            </a:extLst>
          </p:cNvPr>
          <p:cNvGraphicFramePr>
            <a:graphicFrameLocks noGrp="1"/>
          </p:cNvGraphicFramePr>
          <p:nvPr>
            <p:extLst>
              <p:ext uri="{D42A27DB-BD31-4B8C-83A1-F6EECF244321}">
                <p14:modId xmlns:p14="http://schemas.microsoft.com/office/powerpoint/2010/main" val="3932291718"/>
              </p:ext>
            </p:extLst>
          </p:nvPr>
        </p:nvGraphicFramePr>
        <p:xfrm>
          <a:off x="950653" y="1484733"/>
          <a:ext cx="7736794" cy="3317359"/>
        </p:xfrm>
        <a:graphic>
          <a:graphicData uri="http://schemas.openxmlformats.org/drawingml/2006/table">
            <a:tbl>
              <a:tblPr>
                <a:tableStyleId>{5C22544A-7EE6-4342-B048-85BDC9FD1C3A}</a:tableStyleId>
              </a:tblPr>
              <a:tblGrid>
                <a:gridCol w="774559">
                  <a:extLst>
                    <a:ext uri="{9D8B030D-6E8A-4147-A177-3AD203B41FA5}">
                      <a16:colId xmlns:a16="http://schemas.microsoft.com/office/drawing/2014/main" val="3255998495"/>
                    </a:ext>
                  </a:extLst>
                </a:gridCol>
                <a:gridCol w="2878194">
                  <a:extLst>
                    <a:ext uri="{9D8B030D-6E8A-4147-A177-3AD203B41FA5}">
                      <a16:colId xmlns:a16="http://schemas.microsoft.com/office/drawing/2014/main" val="2254406608"/>
                    </a:ext>
                  </a:extLst>
                </a:gridCol>
                <a:gridCol w="774559">
                  <a:extLst>
                    <a:ext uri="{9D8B030D-6E8A-4147-A177-3AD203B41FA5}">
                      <a16:colId xmlns:a16="http://schemas.microsoft.com/office/drawing/2014/main" val="1225241860"/>
                    </a:ext>
                  </a:extLst>
                </a:gridCol>
                <a:gridCol w="3309482">
                  <a:extLst>
                    <a:ext uri="{9D8B030D-6E8A-4147-A177-3AD203B41FA5}">
                      <a16:colId xmlns:a16="http://schemas.microsoft.com/office/drawing/2014/main" val="471308609"/>
                    </a:ext>
                  </a:extLst>
                </a:gridCol>
              </a:tblGrid>
              <a:tr h="141041">
                <a:tc gridSpan="2">
                  <a:txBody>
                    <a:bodyPr/>
                    <a:lstStyle/>
                    <a:p>
                      <a:pPr algn="ctr" fontAlgn="ctr"/>
                      <a:r>
                        <a:rPr lang="fr-FR" sz="900" b="1" u="none" strike="noStrike" dirty="0">
                          <a:effectLst/>
                        </a:rPr>
                        <a:t>Dictionnaire des données</a:t>
                      </a:r>
                      <a:endParaRPr lang="fr-FR" sz="900" b="1" i="0" u="none" strike="noStrike" dirty="0">
                        <a:solidFill>
                          <a:srgbClr val="FFFFFF"/>
                        </a:solidFill>
                        <a:effectLst/>
                        <a:latin typeface="Arial" panose="020B0604020202020204" pitchFamily="34" charset="0"/>
                      </a:endParaRPr>
                    </a:p>
                  </a:txBody>
                  <a:tcPr marL="7073" marR="7073" marT="7073" marB="0" anchor="ctr"/>
                </a:tc>
                <a:tc hMerge="1">
                  <a:txBody>
                    <a:bodyPr/>
                    <a:lstStyle/>
                    <a:p>
                      <a:endParaRPr lang="fr-FR"/>
                    </a:p>
                  </a:txBody>
                  <a:tcPr/>
                </a:tc>
                <a:tc>
                  <a:txBody>
                    <a:bodyPr/>
                    <a:lstStyle/>
                    <a:p>
                      <a:pPr algn="l" fontAlgn="b"/>
                      <a:r>
                        <a:rPr lang="fr-FR" sz="900" b="0" u="none" strike="noStrike">
                          <a:effectLst/>
                          <a:highlight>
                            <a:srgbClr val="00FFFF"/>
                          </a:highlight>
                        </a:rPr>
                        <a:t>STL</a:t>
                      </a:r>
                      <a:endParaRPr lang="fr-FR" sz="900" b="0" i="0" u="none" strike="noStrike">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dirty="0">
                          <a:effectLst/>
                          <a:highlight>
                            <a:srgbClr val="00FFFF"/>
                          </a:highlight>
                        </a:rPr>
                        <a:t>Interceptions (</a:t>
                      </a:r>
                      <a:r>
                        <a:rPr lang="fr-FR" sz="900" b="0" u="none" strike="noStrike" dirty="0" err="1">
                          <a:effectLst/>
                          <a:highlight>
                            <a:srgbClr val="00FFFF"/>
                          </a:highlight>
                        </a:rPr>
                        <a:t>Steals</a:t>
                      </a:r>
                      <a:r>
                        <a:rPr lang="fr-FR" sz="900" b="0" u="none" strike="noStrike" dirty="0">
                          <a:effectLst/>
                          <a:highlight>
                            <a:srgbClr val="00FFFF"/>
                          </a:highlight>
                        </a:rPr>
                        <a:t>)</a:t>
                      </a:r>
                      <a:endParaRPr lang="fr-FR" sz="900" b="0" i="0" u="none" strike="noStrike" dirty="0">
                        <a:solidFill>
                          <a:srgbClr val="000000"/>
                        </a:solidFill>
                        <a:effectLst/>
                        <a:highlight>
                          <a:srgbClr val="00FFFF"/>
                        </a:highlight>
                        <a:latin typeface="Arial" panose="020B0604020202020204" pitchFamily="34" charset="0"/>
                      </a:endParaRPr>
                    </a:p>
                  </a:txBody>
                  <a:tcPr marL="7073" marR="7073" marT="7073" marB="0" anchor="b"/>
                </a:tc>
                <a:extLst>
                  <a:ext uri="{0D108BD9-81ED-4DB2-BD59-A6C34878D82A}">
                    <a16:rowId xmlns:a16="http://schemas.microsoft.com/office/drawing/2014/main" val="181075674"/>
                  </a:ext>
                </a:extLst>
              </a:tr>
              <a:tr h="141041">
                <a:tc>
                  <a:txBody>
                    <a:bodyPr/>
                    <a:lstStyle/>
                    <a:p>
                      <a:pPr algn="l" fontAlgn="b"/>
                      <a:r>
                        <a:rPr lang="fr-FR" sz="900" b="0" u="none" strike="noStrike">
                          <a:effectLst/>
                        </a:rPr>
                        <a:t>Player</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dirty="0">
                          <a:effectLst/>
                        </a:rPr>
                        <a:t>Nom du joueur</a:t>
                      </a:r>
                      <a:endParaRPr lang="fr-FR" sz="900" b="0" i="0" u="none" strike="noStrike" dirty="0">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highlight>
                            <a:srgbClr val="00FFFF"/>
                          </a:highlight>
                        </a:rPr>
                        <a:t>BLK</a:t>
                      </a:r>
                      <a:endParaRPr lang="fr-FR" sz="900" b="0" i="0" u="none" strike="noStrike">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dirty="0">
                          <a:effectLst/>
                          <a:highlight>
                            <a:srgbClr val="00FFFF"/>
                          </a:highlight>
                        </a:rPr>
                        <a:t>Contres (Blocks)</a:t>
                      </a:r>
                      <a:endParaRPr lang="fr-FR" sz="900" b="0" i="0" u="none" strike="noStrike" dirty="0">
                        <a:solidFill>
                          <a:srgbClr val="000000"/>
                        </a:solidFill>
                        <a:effectLst/>
                        <a:highlight>
                          <a:srgbClr val="00FFFF"/>
                        </a:highlight>
                        <a:latin typeface="Arial" panose="020B0604020202020204" pitchFamily="34" charset="0"/>
                      </a:endParaRPr>
                    </a:p>
                  </a:txBody>
                  <a:tcPr marL="7073" marR="7073" marT="7073" marB="0" anchor="b"/>
                </a:tc>
                <a:extLst>
                  <a:ext uri="{0D108BD9-81ED-4DB2-BD59-A6C34878D82A}">
                    <a16:rowId xmlns:a16="http://schemas.microsoft.com/office/drawing/2014/main" val="2205504674"/>
                  </a:ext>
                </a:extLst>
              </a:tr>
              <a:tr h="141041">
                <a:tc>
                  <a:txBody>
                    <a:bodyPr/>
                    <a:lstStyle/>
                    <a:p>
                      <a:pPr algn="l" fontAlgn="b"/>
                      <a:r>
                        <a:rPr lang="fr-FR" sz="900" b="0" u="none" strike="noStrike">
                          <a:effectLst/>
                        </a:rPr>
                        <a:t>Team</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dirty="0">
                          <a:effectLst/>
                        </a:rPr>
                        <a:t>Équipe du joueur (code à 3 lettres)</a:t>
                      </a:r>
                      <a:endParaRPr lang="fr-FR" sz="900" b="0" i="0" u="none" strike="noStrike" dirty="0">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PF</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Fautes personnelles</a:t>
                      </a:r>
                      <a:endParaRPr lang="fr-FR" sz="900" b="0" i="0" u="none" strike="noStrike">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3615587342"/>
                  </a:ext>
                </a:extLst>
              </a:tr>
              <a:tr h="141041">
                <a:tc>
                  <a:txBody>
                    <a:bodyPr/>
                    <a:lstStyle/>
                    <a:p>
                      <a:pPr algn="l" fontAlgn="b"/>
                      <a:r>
                        <a:rPr lang="fr-FR" sz="900" b="0" u="none" strike="noStrike">
                          <a:effectLst/>
                        </a:rPr>
                        <a:t>Age</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Âge du joueur</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FP</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dirty="0">
                          <a:effectLst/>
                        </a:rPr>
                        <a:t>Fantasy Points</a:t>
                      </a:r>
                      <a:endParaRPr lang="fr-FR" sz="900" b="0" i="0" u="none" strike="noStrike" dirty="0">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3588489692"/>
                  </a:ext>
                </a:extLst>
              </a:tr>
              <a:tr h="141041">
                <a:tc>
                  <a:txBody>
                    <a:bodyPr/>
                    <a:lstStyle/>
                    <a:p>
                      <a:pPr algn="l" fontAlgn="b"/>
                      <a:r>
                        <a:rPr lang="fr-FR" sz="900" b="0" u="none" strike="noStrike">
                          <a:effectLst/>
                        </a:rPr>
                        <a:t>GP</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Nombre de matchs joués (Games Played)</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DD2</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Double-doubles (≥10 dans deux catégories principales)</a:t>
                      </a:r>
                      <a:endParaRPr lang="fr-FR" sz="900" b="0" i="0" u="none" strike="noStrike">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3009702265"/>
                  </a:ext>
                </a:extLst>
              </a:tr>
              <a:tr h="141041">
                <a:tc>
                  <a:txBody>
                    <a:bodyPr/>
                    <a:lstStyle/>
                    <a:p>
                      <a:pPr algn="l" fontAlgn="b"/>
                      <a:r>
                        <a:rPr lang="fr-FR" sz="900" b="0" u="none" strike="noStrike">
                          <a:effectLst/>
                          <a:highlight>
                            <a:srgbClr val="00FFFF"/>
                          </a:highlight>
                        </a:rPr>
                        <a:t>W</a:t>
                      </a:r>
                      <a:endParaRPr lang="fr-FR" sz="900" b="0" i="0" u="none" strike="noStrike">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dirty="0">
                          <a:effectLst/>
                          <a:highlight>
                            <a:srgbClr val="00FFFF"/>
                          </a:highlight>
                        </a:rPr>
                        <a:t>Nombre de victoires de l'équipe lors des matchs joués</a:t>
                      </a:r>
                      <a:endParaRPr lang="fr-FR" sz="900" b="0" i="0" u="none" strike="noStrike" dirty="0">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a:effectLst/>
                        </a:rPr>
                        <a:t>TD3</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dirty="0">
                          <a:effectLst/>
                        </a:rPr>
                        <a:t>Triple-doubles (≥10 dans trois catégories principales)</a:t>
                      </a:r>
                      <a:endParaRPr lang="fr-FR" sz="900" b="0" i="0" u="none" strike="noStrike" dirty="0">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531405578"/>
                  </a:ext>
                </a:extLst>
              </a:tr>
              <a:tr h="141041">
                <a:tc>
                  <a:txBody>
                    <a:bodyPr/>
                    <a:lstStyle/>
                    <a:p>
                      <a:pPr algn="l" fontAlgn="b"/>
                      <a:r>
                        <a:rPr lang="fr-FR" sz="900" b="0" u="none" strike="noStrike">
                          <a:effectLst/>
                        </a:rPr>
                        <a:t>L</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Nombre de défaites</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dirty="0">
                          <a:effectLst/>
                        </a:rPr>
                        <a:t>+ / -</a:t>
                      </a:r>
                      <a:endParaRPr lang="fr-FR" sz="900" b="0" i="0" u="none" strike="noStrike" dirty="0">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dirty="0">
                          <a:effectLst/>
                        </a:rPr>
                        <a:t>Plus-Minus (écart de score lorsque le joueur est sur le terrain)</a:t>
                      </a:r>
                      <a:endParaRPr lang="fr-FR" sz="900" b="0" i="0" u="none" strike="noStrike" dirty="0">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1850057205"/>
                  </a:ext>
                </a:extLst>
              </a:tr>
              <a:tr h="141041">
                <a:tc>
                  <a:txBody>
                    <a:bodyPr/>
                    <a:lstStyle/>
                    <a:p>
                      <a:pPr algn="l" fontAlgn="b"/>
                      <a:r>
                        <a:rPr lang="fr-FR" sz="900" b="0" u="none" strike="noStrike">
                          <a:effectLst/>
                        </a:rPr>
                        <a:t>Min</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Minutes moyennes jouées par match</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OFFRTG</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Offensive Rating (points marqués par 100 possessions)</a:t>
                      </a:r>
                      <a:endParaRPr lang="fr-FR" sz="900" b="0" i="0" u="none" strike="noStrike">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446598390"/>
                  </a:ext>
                </a:extLst>
              </a:tr>
              <a:tr h="133664">
                <a:tc>
                  <a:txBody>
                    <a:bodyPr/>
                    <a:lstStyle/>
                    <a:p>
                      <a:pPr algn="l" fontAlgn="b"/>
                      <a:r>
                        <a:rPr lang="fr-FR" sz="900" b="0" u="none" strike="noStrike">
                          <a:effectLst/>
                          <a:highlight>
                            <a:srgbClr val="00FFFF"/>
                          </a:highlight>
                        </a:rPr>
                        <a:t>PTS</a:t>
                      </a:r>
                      <a:endParaRPr lang="fr-FR" sz="900" b="0" i="0" u="none" strike="noStrike">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dirty="0">
                          <a:effectLst/>
                          <a:highlight>
                            <a:srgbClr val="00FFFF"/>
                          </a:highlight>
                        </a:rPr>
                        <a:t>Points marqués sur la saison</a:t>
                      </a:r>
                      <a:endParaRPr lang="fr-FR" sz="900" b="0" i="0" u="none" strike="noStrike" dirty="0">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dirty="0">
                          <a:effectLst/>
                        </a:rPr>
                        <a:t>DEFRTG</a:t>
                      </a:r>
                      <a:endParaRPr lang="fr-FR" sz="900" b="0" i="0" u="none" strike="noStrike" dirty="0">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Defensive Rating (points encaissés par 100 possessions)</a:t>
                      </a:r>
                      <a:endParaRPr lang="fr-FR" sz="900" b="0" i="0" u="none" strike="noStrike">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283001691"/>
                  </a:ext>
                </a:extLst>
              </a:tr>
              <a:tr h="141041">
                <a:tc>
                  <a:txBody>
                    <a:bodyPr/>
                    <a:lstStyle/>
                    <a:p>
                      <a:pPr algn="l" fontAlgn="b"/>
                      <a:r>
                        <a:rPr lang="fr-FR" sz="900" b="0" u="none" strike="noStrike">
                          <a:effectLst/>
                        </a:rPr>
                        <a:t>FGM</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en-US" sz="900" b="0" u="none" strike="noStrike">
                          <a:effectLst/>
                        </a:rPr>
                        <a:t>Tirs réussis par match (Field Goals Made)</a:t>
                      </a:r>
                      <a:endParaRPr lang="en-US"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highlight>
                            <a:srgbClr val="00FFFF"/>
                          </a:highlight>
                        </a:rPr>
                        <a:t>NETRTG</a:t>
                      </a:r>
                      <a:endParaRPr lang="fr-FR" sz="900" b="0" i="0" u="none" strike="noStrike">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dirty="0">
                          <a:effectLst/>
                          <a:highlight>
                            <a:srgbClr val="00FFFF"/>
                          </a:highlight>
                        </a:rPr>
                        <a:t>Net Rating = OFFRTG - DEFRTG</a:t>
                      </a:r>
                      <a:endParaRPr lang="fr-FR" sz="900" b="0" i="0" u="none" strike="noStrike" dirty="0">
                        <a:solidFill>
                          <a:srgbClr val="000000"/>
                        </a:solidFill>
                        <a:effectLst/>
                        <a:highlight>
                          <a:srgbClr val="00FFFF"/>
                        </a:highlight>
                        <a:latin typeface="Arial" panose="020B0604020202020204" pitchFamily="34" charset="0"/>
                      </a:endParaRPr>
                    </a:p>
                  </a:txBody>
                  <a:tcPr marL="7073" marR="7073" marT="7073" marB="0" anchor="b"/>
                </a:tc>
                <a:extLst>
                  <a:ext uri="{0D108BD9-81ED-4DB2-BD59-A6C34878D82A}">
                    <a16:rowId xmlns:a16="http://schemas.microsoft.com/office/drawing/2014/main" val="773241637"/>
                  </a:ext>
                </a:extLst>
              </a:tr>
              <a:tr h="141041">
                <a:tc>
                  <a:txBody>
                    <a:bodyPr/>
                    <a:lstStyle/>
                    <a:p>
                      <a:pPr algn="l" fontAlgn="b"/>
                      <a:r>
                        <a:rPr lang="fr-FR" sz="900" b="0" u="none" strike="noStrike">
                          <a:effectLst/>
                        </a:rPr>
                        <a:t>FGA</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en-US" sz="900" b="0" u="none" strike="noStrike" dirty="0" err="1">
                          <a:effectLst/>
                        </a:rPr>
                        <a:t>Tirs</a:t>
                      </a:r>
                      <a:r>
                        <a:rPr lang="en-US" sz="900" b="0" u="none" strike="noStrike" dirty="0">
                          <a:effectLst/>
                        </a:rPr>
                        <a:t> </a:t>
                      </a:r>
                      <a:r>
                        <a:rPr lang="en-US" sz="900" b="0" u="none" strike="noStrike" dirty="0" err="1">
                          <a:effectLst/>
                        </a:rPr>
                        <a:t>tentés</a:t>
                      </a:r>
                      <a:r>
                        <a:rPr lang="en-US" sz="900" b="0" u="none" strike="noStrike" dirty="0">
                          <a:effectLst/>
                        </a:rPr>
                        <a:t> par match (Field Goals Attempted)</a:t>
                      </a:r>
                      <a:endParaRPr lang="en-US" sz="900" b="0" i="0" u="none" strike="noStrike" dirty="0">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AST%</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Pourcentage d'assists – implication dans les passes décisives</a:t>
                      </a:r>
                      <a:endParaRPr lang="fr-FR" sz="900" b="0" i="0" u="none" strike="noStrike">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1547922410"/>
                  </a:ext>
                </a:extLst>
              </a:tr>
              <a:tr h="141041">
                <a:tc>
                  <a:txBody>
                    <a:bodyPr/>
                    <a:lstStyle/>
                    <a:p>
                      <a:pPr algn="l" fontAlgn="b"/>
                      <a:r>
                        <a:rPr lang="fr-FR" sz="900" b="0" u="none" strike="noStrike">
                          <a:effectLst/>
                          <a:highlight>
                            <a:srgbClr val="00FFFF"/>
                          </a:highlight>
                        </a:rPr>
                        <a:t>FG%</a:t>
                      </a:r>
                      <a:endParaRPr lang="fr-FR" sz="900" b="0" i="0" u="none" strike="noStrike">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dirty="0">
                          <a:effectLst/>
                          <a:highlight>
                            <a:srgbClr val="00FFFF"/>
                          </a:highlight>
                        </a:rPr>
                        <a:t>Pourcentage de réussite aux tirs</a:t>
                      </a:r>
                      <a:endParaRPr lang="fr-FR" sz="900" b="0" i="0" u="none" strike="noStrike" dirty="0">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a:effectLst/>
                        </a:rPr>
                        <a:t>AST/TO</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Ratio passes / pertes de balle</a:t>
                      </a:r>
                      <a:endParaRPr lang="fr-FR" sz="900" b="0" i="0" u="none" strike="noStrike">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1973840200"/>
                  </a:ext>
                </a:extLst>
              </a:tr>
              <a:tr h="141041">
                <a:tc>
                  <a:txBody>
                    <a:bodyPr/>
                    <a:lstStyle/>
                    <a:p>
                      <a:pPr algn="l" fontAlgn="b"/>
                      <a:r>
                        <a:rPr lang="fr-FR" sz="900" b="0" u="none" strike="noStrike">
                          <a:effectLst/>
                        </a:rPr>
                        <a:t>15:00</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Minutes jouées après 15:00 de jeu</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AST RATIO</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dirty="0">
                          <a:effectLst/>
                        </a:rPr>
                        <a:t>Ratio d’assists pour 100 possessions</a:t>
                      </a:r>
                      <a:endParaRPr lang="fr-FR" sz="900" b="0" i="0" u="none" strike="noStrike" dirty="0">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1876737175"/>
                  </a:ext>
                </a:extLst>
              </a:tr>
              <a:tr h="141041">
                <a:tc>
                  <a:txBody>
                    <a:bodyPr/>
                    <a:lstStyle/>
                    <a:p>
                      <a:pPr algn="l" fontAlgn="b"/>
                      <a:r>
                        <a:rPr lang="fr-FR" sz="900" b="0" u="none" strike="noStrike">
                          <a:effectLst/>
                        </a:rPr>
                        <a:t>3PA</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dirty="0">
                          <a:effectLst/>
                        </a:rPr>
                        <a:t>Tirs à 3 points tentés par match</a:t>
                      </a:r>
                      <a:endParaRPr lang="fr-FR" sz="900" b="0" i="0" u="none" strike="noStrike" dirty="0">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OREB%</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Pourcentage de rebonds offensifs parmi ceux disponibles</a:t>
                      </a:r>
                      <a:endParaRPr lang="fr-FR" sz="900" b="0" i="0" u="none" strike="noStrike">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3234818735"/>
                  </a:ext>
                </a:extLst>
              </a:tr>
              <a:tr h="141041">
                <a:tc>
                  <a:txBody>
                    <a:bodyPr/>
                    <a:lstStyle/>
                    <a:p>
                      <a:pPr algn="l" fontAlgn="b"/>
                      <a:r>
                        <a:rPr lang="fr-FR" sz="900" b="0" u="none" strike="noStrike">
                          <a:effectLst/>
                          <a:highlight>
                            <a:srgbClr val="00FFFF"/>
                          </a:highlight>
                        </a:rPr>
                        <a:t>3P%</a:t>
                      </a:r>
                      <a:endParaRPr lang="fr-FR" sz="900" b="0" i="0" u="none" strike="noStrike">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dirty="0">
                          <a:effectLst/>
                          <a:highlight>
                            <a:srgbClr val="00FFFF"/>
                          </a:highlight>
                        </a:rPr>
                        <a:t>Pourcentage de réussite à 3 points</a:t>
                      </a:r>
                      <a:endParaRPr lang="fr-FR" sz="900" b="0" i="0" u="none" strike="noStrike" dirty="0">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a:effectLst/>
                        </a:rPr>
                        <a:t>DREB%</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Idem en défensif</a:t>
                      </a:r>
                      <a:endParaRPr lang="fr-FR" sz="900" b="0" i="0" u="none" strike="noStrike">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3357467616"/>
                  </a:ext>
                </a:extLst>
              </a:tr>
              <a:tr h="141041">
                <a:tc>
                  <a:txBody>
                    <a:bodyPr/>
                    <a:lstStyle/>
                    <a:p>
                      <a:pPr algn="l" fontAlgn="b"/>
                      <a:r>
                        <a:rPr lang="fr-FR" sz="900" b="0" u="none" strike="noStrike">
                          <a:effectLst/>
                        </a:rPr>
                        <a:t>FTM</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en-US" sz="900" b="0" u="none" strike="noStrike">
                          <a:effectLst/>
                        </a:rPr>
                        <a:t>Lancers francs réussis (Free Throws Made)</a:t>
                      </a:r>
                      <a:endParaRPr lang="en-US"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REB%</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dirty="0">
                          <a:effectLst/>
                        </a:rPr>
                        <a:t>Pourcentage de rebonds totaux parmi ceux disponibles</a:t>
                      </a:r>
                      <a:endParaRPr lang="fr-FR" sz="900" b="0" i="0" u="none" strike="noStrike" dirty="0">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1261024892"/>
                  </a:ext>
                </a:extLst>
              </a:tr>
              <a:tr h="141041">
                <a:tc>
                  <a:txBody>
                    <a:bodyPr/>
                    <a:lstStyle/>
                    <a:p>
                      <a:pPr algn="l" fontAlgn="b"/>
                      <a:r>
                        <a:rPr lang="fr-FR" sz="900" b="0" u="none" strike="noStrike">
                          <a:effectLst/>
                        </a:rPr>
                        <a:t>FTA</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Lancers francs tentés</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TO RATIO</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Turnover Ratio – pertes de balle par 100 possessions</a:t>
                      </a:r>
                      <a:endParaRPr lang="fr-FR" sz="900" b="0" i="0" u="none" strike="noStrike">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3145815321"/>
                  </a:ext>
                </a:extLst>
              </a:tr>
              <a:tr h="141041">
                <a:tc>
                  <a:txBody>
                    <a:bodyPr/>
                    <a:lstStyle/>
                    <a:p>
                      <a:pPr algn="l" fontAlgn="b"/>
                      <a:r>
                        <a:rPr lang="fr-FR" sz="900" b="0" u="none" strike="noStrike">
                          <a:effectLst/>
                          <a:highlight>
                            <a:srgbClr val="00FFFF"/>
                          </a:highlight>
                        </a:rPr>
                        <a:t>FT%</a:t>
                      </a:r>
                      <a:endParaRPr lang="fr-FR" sz="900" b="0" i="0" u="none" strike="noStrike">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dirty="0">
                          <a:effectLst/>
                          <a:highlight>
                            <a:srgbClr val="00FFFF"/>
                          </a:highlight>
                        </a:rPr>
                        <a:t>Pourcentage de réussite aux lancers francs</a:t>
                      </a:r>
                      <a:endParaRPr lang="fr-FR" sz="900" b="0" i="0" u="none" strike="noStrike" dirty="0">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a:effectLst/>
                        </a:rPr>
                        <a:t>EFG%</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Effective Field Goal % (pondère les 3 points)</a:t>
                      </a:r>
                      <a:endParaRPr lang="fr-FR" sz="900" b="0" i="0" u="none" strike="noStrike">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4139212771"/>
                  </a:ext>
                </a:extLst>
              </a:tr>
              <a:tr h="141041">
                <a:tc>
                  <a:txBody>
                    <a:bodyPr/>
                    <a:lstStyle/>
                    <a:p>
                      <a:pPr algn="l" fontAlgn="b"/>
                      <a:r>
                        <a:rPr lang="fr-FR" sz="900" b="0" u="none" strike="noStrike">
                          <a:effectLst/>
                          <a:highlight>
                            <a:srgbClr val="00FFFF"/>
                          </a:highlight>
                        </a:rPr>
                        <a:t>OREB</a:t>
                      </a:r>
                      <a:endParaRPr lang="fr-FR" sz="900" b="0" i="0" u="none" strike="noStrike">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dirty="0">
                          <a:effectLst/>
                          <a:highlight>
                            <a:srgbClr val="00FFFF"/>
                          </a:highlight>
                        </a:rPr>
                        <a:t>Rebonds offensifs</a:t>
                      </a:r>
                      <a:endParaRPr lang="fr-FR" sz="900" b="0" i="0" u="none" strike="noStrike" dirty="0">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a:effectLst/>
                        </a:rPr>
                        <a:t>TS%</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True Shooting % (inclut FG et FT dans l'efficacité)</a:t>
                      </a:r>
                      <a:endParaRPr lang="fr-FR" sz="900" b="0" i="0" u="none" strike="noStrike">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806483206"/>
                  </a:ext>
                </a:extLst>
              </a:tr>
              <a:tr h="141041">
                <a:tc>
                  <a:txBody>
                    <a:bodyPr/>
                    <a:lstStyle/>
                    <a:p>
                      <a:pPr algn="l" fontAlgn="b"/>
                      <a:r>
                        <a:rPr lang="fr-FR" sz="900" b="0" u="none" strike="noStrike">
                          <a:effectLst/>
                          <a:highlight>
                            <a:srgbClr val="00FFFF"/>
                          </a:highlight>
                        </a:rPr>
                        <a:t>DREB</a:t>
                      </a:r>
                      <a:endParaRPr lang="fr-FR" sz="900" b="0" i="0" u="none" strike="noStrike">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a:effectLst/>
                          <a:highlight>
                            <a:srgbClr val="00FFFF"/>
                          </a:highlight>
                        </a:rPr>
                        <a:t>Rebonds défensifs</a:t>
                      </a:r>
                      <a:endParaRPr lang="fr-FR" sz="900" b="0" i="0" u="none" strike="noStrike">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a:effectLst/>
                        </a:rPr>
                        <a:t>USG%</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Usage Rate – % des actions utilisées par le joueur</a:t>
                      </a:r>
                      <a:endParaRPr lang="fr-FR" sz="900" b="0" i="0" u="none" strike="noStrike">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2399058837"/>
                  </a:ext>
                </a:extLst>
              </a:tr>
              <a:tr h="141041">
                <a:tc>
                  <a:txBody>
                    <a:bodyPr/>
                    <a:lstStyle/>
                    <a:p>
                      <a:pPr algn="l" fontAlgn="b"/>
                      <a:r>
                        <a:rPr lang="fr-FR" sz="900" b="0" u="none" strike="noStrike">
                          <a:effectLst/>
                          <a:highlight>
                            <a:srgbClr val="00FFFF"/>
                          </a:highlight>
                        </a:rPr>
                        <a:t>REB</a:t>
                      </a:r>
                      <a:endParaRPr lang="fr-FR" sz="900" b="0" i="0" u="none" strike="noStrike">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dirty="0">
                          <a:effectLst/>
                          <a:highlight>
                            <a:srgbClr val="00FFFF"/>
                          </a:highlight>
                        </a:rPr>
                        <a:t>Rebonds totaux</a:t>
                      </a:r>
                      <a:endParaRPr lang="fr-FR" sz="900" b="0" i="0" u="none" strike="noStrike" dirty="0">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a:effectLst/>
                        </a:rPr>
                        <a:t>PACE</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Rythme de jeu (possessions par 48 minutes)</a:t>
                      </a:r>
                      <a:endParaRPr lang="fr-FR" sz="900" b="0" i="0" u="none" strike="noStrike">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2924416983"/>
                  </a:ext>
                </a:extLst>
              </a:tr>
              <a:tr h="141041">
                <a:tc>
                  <a:txBody>
                    <a:bodyPr/>
                    <a:lstStyle/>
                    <a:p>
                      <a:pPr algn="l" fontAlgn="b"/>
                      <a:r>
                        <a:rPr lang="fr-FR" sz="900" b="0" u="none" strike="noStrike">
                          <a:effectLst/>
                          <a:highlight>
                            <a:srgbClr val="00FFFF"/>
                          </a:highlight>
                        </a:rPr>
                        <a:t>AST</a:t>
                      </a:r>
                      <a:endParaRPr lang="fr-FR" sz="900" b="0" i="0" u="none" strike="noStrike">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dirty="0">
                          <a:effectLst/>
                          <a:highlight>
                            <a:srgbClr val="00FFFF"/>
                          </a:highlight>
                        </a:rPr>
                        <a:t>Passes décisives (Assists)</a:t>
                      </a:r>
                      <a:endParaRPr lang="fr-FR" sz="900" b="0" i="0" u="none" strike="noStrike" dirty="0">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a:effectLst/>
                          <a:highlight>
                            <a:srgbClr val="00FFFF"/>
                          </a:highlight>
                        </a:rPr>
                        <a:t>PIE</a:t>
                      </a:r>
                      <a:endParaRPr lang="fr-FR" sz="900" b="0" i="0" u="none" strike="noStrike">
                        <a:solidFill>
                          <a:srgbClr val="000000"/>
                        </a:solidFill>
                        <a:effectLst/>
                        <a:highlight>
                          <a:srgbClr val="00FFFF"/>
                        </a:highlight>
                        <a:latin typeface="Arial" panose="020B0604020202020204" pitchFamily="34" charset="0"/>
                      </a:endParaRPr>
                    </a:p>
                  </a:txBody>
                  <a:tcPr marL="7073" marR="7073" marT="7073" marB="0" anchor="b"/>
                </a:tc>
                <a:tc>
                  <a:txBody>
                    <a:bodyPr/>
                    <a:lstStyle/>
                    <a:p>
                      <a:pPr algn="l" fontAlgn="b"/>
                      <a:r>
                        <a:rPr lang="fr-FR" sz="900" b="0" u="none" strike="noStrike" dirty="0">
                          <a:effectLst/>
                          <a:highlight>
                            <a:srgbClr val="00FFFF"/>
                          </a:highlight>
                        </a:rPr>
                        <a:t>Player Impact </a:t>
                      </a:r>
                      <a:r>
                        <a:rPr lang="fr-FR" sz="900" b="0" u="none" strike="noStrike" dirty="0" err="1">
                          <a:effectLst/>
                          <a:highlight>
                            <a:srgbClr val="00FFFF"/>
                          </a:highlight>
                        </a:rPr>
                        <a:t>Estimate</a:t>
                      </a:r>
                      <a:r>
                        <a:rPr lang="fr-FR" sz="900" b="0" u="none" strike="noStrike" dirty="0">
                          <a:effectLst/>
                          <a:highlight>
                            <a:srgbClr val="00FFFF"/>
                          </a:highlight>
                        </a:rPr>
                        <a:t> – évaluation globale de l’impact</a:t>
                      </a:r>
                      <a:endParaRPr lang="fr-FR" sz="900" b="0" i="0" u="none" strike="noStrike" dirty="0">
                        <a:solidFill>
                          <a:srgbClr val="000000"/>
                        </a:solidFill>
                        <a:effectLst/>
                        <a:highlight>
                          <a:srgbClr val="00FFFF"/>
                        </a:highlight>
                        <a:latin typeface="Arial" panose="020B0604020202020204" pitchFamily="34" charset="0"/>
                      </a:endParaRPr>
                    </a:p>
                  </a:txBody>
                  <a:tcPr marL="7073" marR="7073" marT="7073" marB="0" anchor="b"/>
                </a:tc>
                <a:extLst>
                  <a:ext uri="{0D108BD9-81ED-4DB2-BD59-A6C34878D82A}">
                    <a16:rowId xmlns:a16="http://schemas.microsoft.com/office/drawing/2014/main" val="715144537"/>
                  </a:ext>
                </a:extLst>
              </a:tr>
              <a:tr h="141041">
                <a:tc>
                  <a:txBody>
                    <a:bodyPr/>
                    <a:lstStyle/>
                    <a:p>
                      <a:pPr algn="l" fontAlgn="b"/>
                      <a:r>
                        <a:rPr lang="fr-FR" sz="900" b="0" u="none" strike="noStrike">
                          <a:effectLst/>
                        </a:rPr>
                        <a:t>TOV</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Balles perdues (Turnovers)</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a:effectLst/>
                        </a:rPr>
                        <a:t>POSS</a:t>
                      </a:r>
                      <a:endParaRPr lang="fr-FR" sz="900" b="0" i="0" u="none" strike="noStrike">
                        <a:solidFill>
                          <a:srgbClr val="000000"/>
                        </a:solidFill>
                        <a:effectLst/>
                        <a:latin typeface="Arial" panose="020B0604020202020204" pitchFamily="34" charset="0"/>
                      </a:endParaRPr>
                    </a:p>
                  </a:txBody>
                  <a:tcPr marL="7073" marR="7073" marT="7073" marB="0" anchor="b"/>
                </a:tc>
                <a:tc>
                  <a:txBody>
                    <a:bodyPr/>
                    <a:lstStyle/>
                    <a:p>
                      <a:pPr algn="l" fontAlgn="b"/>
                      <a:r>
                        <a:rPr lang="fr-FR" sz="900" b="0" u="none" strike="noStrike" dirty="0">
                          <a:effectLst/>
                        </a:rPr>
                        <a:t>Nombre total de possessions jouées</a:t>
                      </a:r>
                      <a:endParaRPr lang="fr-FR" sz="900" b="0" i="0" u="none" strike="noStrike" dirty="0">
                        <a:solidFill>
                          <a:srgbClr val="000000"/>
                        </a:solidFill>
                        <a:effectLst/>
                        <a:latin typeface="Arial" panose="020B0604020202020204" pitchFamily="34" charset="0"/>
                      </a:endParaRPr>
                    </a:p>
                  </a:txBody>
                  <a:tcPr marL="7073" marR="7073" marT="7073" marB="0" anchor="b"/>
                </a:tc>
                <a:extLst>
                  <a:ext uri="{0D108BD9-81ED-4DB2-BD59-A6C34878D82A}">
                    <a16:rowId xmlns:a16="http://schemas.microsoft.com/office/drawing/2014/main" val="83849651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Méthodologie d’analyse</a:t>
            </a:r>
            <a:endParaRPr dirty="0"/>
          </a:p>
        </p:txBody>
      </p:sp>
      <p:sp>
        <p:nvSpPr>
          <p:cNvPr id="284" name="Google Shape;284;p1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rtl="0">
              <a:buFont typeface="Arial" panose="020B0604020202020204" pitchFamily="34" charset="0"/>
              <a:buChar char="•"/>
            </a:pPr>
            <a:r>
              <a:rPr lang="fr-FR" sz="1800" dirty="0"/>
              <a:t>Identifier les facteurs clés de performance (KPIs) des joueurs NBA.</a:t>
            </a:r>
          </a:p>
          <a:p>
            <a:pPr rtl="0">
              <a:buFont typeface="Arial" panose="020B0604020202020204" pitchFamily="34" charset="0"/>
              <a:buChar char="•"/>
            </a:pPr>
            <a:r>
              <a:rPr lang="fr-FR" sz="1800" dirty="0"/>
              <a:t>Procéder en entonnoir en partant de performances globales des équipes puis en allant plus spécifiquement vers les statistiques des joueurs.</a:t>
            </a:r>
          </a:p>
          <a:p>
            <a:pPr rtl="0">
              <a:buFont typeface="Arial" panose="020B0604020202020204" pitchFamily="34" charset="0"/>
              <a:buChar char="•"/>
            </a:pPr>
            <a:r>
              <a:rPr lang="fr-FR" sz="1800" dirty="0"/>
              <a:t>Comprendre ce que le club peut adapter localement (entraînement, recrutement, style de jeu).</a:t>
            </a:r>
          </a:p>
        </p:txBody>
      </p:sp>
      <p:pic>
        <p:nvPicPr>
          <p:cNvPr id="3" name="Google Shape;278;p13">
            <a:extLst>
              <a:ext uri="{FF2B5EF4-FFF2-40B4-BE49-F238E27FC236}">
                <a16:creationId xmlns:a16="http://schemas.microsoft.com/office/drawing/2014/main" id="{8B96A690-B28F-0811-6095-6A472C341280}"/>
              </a:ext>
            </a:extLst>
          </p:cNvPr>
          <p:cNvPicPr preferRelativeResize="0"/>
          <p:nvPr/>
        </p:nvPicPr>
        <p:blipFill>
          <a:blip r:embed="rId3">
            <a:alphaModFix/>
          </a:blip>
          <a:stretch>
            <a:fillRect/>
          </a:stretch>
        </p:blipFill>
        <p:spPr>
          <a:xfrm>
            <a:off x="8774747" y="4802092"/>
            <a:ext cx="268716" cy="253439"/>
          </a:xfrm>
          <a:prstGeom prst="rect">
            <a:avLst/>
          </a:prstGeom>
          <a:noFill/>
          <a:ln>
            <a:noFill/>
          </a:ln>
        </p:spPr>
      </p:pic>
    </p:spTree>
    <p:extLst>
      <p:ext uri="{BB962C8B-B14F-4D97-AF65-F5344CB8AC3E}">
        <p14:creationId xmlns:p14="http://schemas.microsoft.com/office/powerpoint/2010/main" val="2970488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Saison 2024/2025</a:t>
            </a:r>
            <a:endParaRPr dirty="0"/>
          </a:p>
        </p:txBody>
      </p:sp>
      <p:pic>
        <p:nvPicPr>
          <p:cNvPr id="3" name="Google Shape;278;p13">
            <a:extLst>
              <a:ext uri="{FF2B5EF4-FFF2-40B4-BE49-F238E27FC236}">
                <a16:creationId xmlns:a16="http://schemas.microsoft.com/office/drawing/2014/main" id="{8B96A690-B28F-0811-6095-6A472C341280}"/>
              </a:ext>
            </a:extLst>
          </p:cNvPr>
          <p:cNvPicPr preferRelativeResize="0"/>
          <p:nvPr/>
        </p:nvPicPr>
        <p:blipFill>
          <a:blip r:embed="rId4">
            <a:alphaModFix/>
          </a:blip>
          <a:stretch>
            <a:fillRect/>
          </a:stretch>
        </p:blipFill>
        <p:spPr>
          <a:xfrm>
            <a:off x="8774747" y="4802092"/>
            <a:ext cx="268716" cy="253439"/>
          </a:xfrm>
          <a:prstGeom prst="rect">
            <a:avLst/>
          </a:prstGeom>
          <a:noFill/>
          <a:ln>
            <a:noFill/>
          </a:ln>
        </p:spPr>
      </p:pic>
      <p:graphicFrame>
        <p:nvGraphicFramePr>
          <p:cNvPr id="4" name="Graphique 3">
            <a:extLst>
              <a:ext uri="{FF2B5EF4-FFF2-40B4-BE49-F238E27FC236}">
                <a16:creationId xmlns:a16="http://schemas.microsoft.com/office/drawing/2014/main" id="{CBA28111-8194-42F8-A969-40EEEBFC0556}"/>
              </a:ext>
            </a:extLst>
          </p:cNvPr>
          <p:cNvGraphicFramePr>
            <a:graphicFrameLocks/>
          </p:cNvGraphicFramePr>
          <p:nvPr>
            <p:extLst>
              <p:ext uri="{D42A27DB-BD31-4B8C-83A1-F6EECF244321}">
                <p14:modId xmlns:p14="http://schemas.microsoft.com/office/powerpoint/2010/main" val="4281801629"/>
              </p:ext>
            </p:extLst>
          </p:nvPr>
        </p:nvGraphicFramePr>
        <p:xfrm>
          <a:off x="0" y="1319049"/>
          <a:ext cx="9143999" cy="388454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584043158"/>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Analyse d’une équipe</a:t>
            </a:r>
            <a:endParaRPr dirty="0"/>
          </a:p>
        </p:txBody>
      </p:sp>
      <p:pic>
        <p:nvPicPr>
          <p:cNvPr id="3" name="Google Shape;278;p13">
            <a:extLst>
              <a:ext uri="{FF2B5EF4-FFF2-40B4-BE49-F238E27FC236}">
                <a16:creationId xmlns:a16="http://schemas.microsoft.com/office/drawing/2014/main" id="{8B96A690-B28F-0811-6095-6A472C341280}"/>
              </a:ext>
            </a:extLst>
          </p:cNvPr>
          <p:cNvPicPr preferRelativeResize="0"/>
          <p:nvPr/>
        </p:nvPicPr>
        <p:blipFill>
          <a:blip r:embed="rId4">
            <a:alphaModFix/>
          </a:blip>
          <a:stretch>
            <a:fillRect/>
          </a:stretch>
        </p:blipFill>
        <p:spPr>
          <a:xfrm>
            <a:off x="8774747" y="4802092"/>
            <a:ext cx="268716" cy="253439"/>
          </a:xfrm>
          <a:prstGeom prst="rect">
            <a:avLst/>
          </a:prstGeom>
          <a:noFill/>
          <a:ln>
            <a:noFill/>
          </a:ln>
        </p:spPr>
      </p:pic>
      <p:graphicFrame>
        <p:nvGraphicFramePr>
          <p:cNvPr id="5" name="Graphique 4">
            <a:extLst>
              <a:ext uri="{FF2B5EF4-FFF2-40B4-BE49-F238E27FC236}">
                <a16:creationId xmlns:a16="http://schemas.microsoft.com/office/drawing/2014/main" id="{3F084FD9-AAE4-37F6-B5AA-117DEE3F0798}"/>
              </a:ext>
            </a:extLst>
          </p:cNvPr>
          <p:cNvGraphicFramePr>
            <a:graphicFrameLocks/>
          </p:cNvGraphicFramePr>
          <p:nvPr>
            <p:extLst>
              <p:ext uri="{D42A27DB-BD31-4B8C-83A1-F6EECF244321}">
                <p14:modId xmlns:p14="http://schemas.microsoft.com/office/powerpoint/2010/main" val="1369669212"/>
              </p:ext>
            </p:extLst>
          </p:nvPr>
        </p:nvGraphicFramePr>
        <p:xfrm>
          <a:off x="-1" y="1204686"/>
          <a:ext cx="9144001" cy="393881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661750012"/>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Analyse d’une équipe</a:t>
            </a:r>
            <a:endParaRPr dirty="0"/>
          </a:p>
        </p:txBody>
      </p:sp>
      <p:pic>
        <p:nvPicPr>
          <p:cNvPr id="3" name="Google Shape;278;p13">
            <a:extLst>
              <a:ext uri="{FF2B5EF4-FFF2-40B4-BE49-F238E27FC236}">
                <a16:creationId xmlns:a16="http://schemas.microsoft.com/office/drawing/2014/main" id="{8B96A690-B28F-0811-6095-6A472C341280}"/>
              </a:ext>
            </a:extLst>
          </p:cNvPr>
          <p:cNvPicPr preferRelativeResize="0"/>
          <p:nvPr/>
        </p:nvPicPr>
        <p:blipFill>
          <a:blip r:embed="rId3">
            <a:alphaModFix/>
          </a:blip>
          <a:stretch>
            <a:fillRect/>
          </a:stretch>
        </p:blipFill>
        <p:spPr>
          <a:xfrm>
            <a:off x="8774747" y="4802092"/>
            <a:ext cx="268716" cy="253439"/>
          </a:xfrm>
          <a:prstGeom prst="rect">
            <a:avLst/>
          </a:prstGeom>
          <a:noFill/>
          <a:ln>
            <a:noFill/>
          </a:ln>
        </p:spPr>
      </p:pic>
      <p:graphicFrame>
        <p:nvGraphicFramePr>
          <p:cNvPr id="6" name="Graphique 5">
            <a:extLst>
              <a:ext uri="{FF2B5EF4-FFF2-40B4-BE49-F238E27FC236}">
                <a16:creationId xmlns:a16="http://schemas.microsoft.com/office/drawing/2014/main" id="{794F9553-4A22-1F91-A366-53FE48AAEC53}"/>
              </a:ext>
            </a:extLst>
          </p:cNvPr>
          <p:cNvGraphicFramePr>
            <a:graphicFrameLocks/>
          </p:cNvGraphicFramePr>
          <p:nvPr>
            <p:extLst>
              <p:ext uri="{D42A27DB-BD31-4B8C-83A1-F6EECF244321}">
                <p14:modId xmlns:p14="http://schemas.microsoft.com/office/powerpoint/2010/main" val="3524245446"/>
              </p:ext>
            </p:extLst>
          </p:nvPr>
        </p:nvGraphicFramePr>
        <p:xfrm>
          <a:off x="0" y="1095829"/>
          <a:ext cx="9144000" cy="404767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99577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Analyse du top 15 (points)</a:t>
            </a:r>
            <a:endParaRPr dirty="0"/>
          </a:p>
        </p:txBody>
      </p:sp>
      <p:pic>
        <p:nvPicPr>
          <p:cNvPr id="3" name="Google Shape;278;p13">
            <a:extLst>
              <a:ext uri="{FF2B5EF4-FFF2-40B4-BE49-F238E27FC236}">
                <a16:creationId xmlns:a16="http://schemas.microsoft.com/office/drawing/2014/main" id="{8B96A690-B28F-0811-6095-6A472C341280}"/>
              </a:ext>
            </a:extLst>
          </p:cNvPr>
          <p:cNvPicPr preferRelativeResize="0"/>
          <p:nvPr/>
        </p:nvPicPr>
        <p:blipFill>
          <a:blip r:embed="rId3">
            <a:alphaModFix/>
          </a:blip>
          <a:stretch>
            <a:fillRect/>
          </a:stretch>
        </p:blipFill>
        <p:spPr>
          <a:xfrm>
            <a:off x="8774747" y="4802092"/>
            <a:ext cx="268716" cy="253439"/>
          </a:xfrm>
          <a:prstGeom prst="rect">
            <a:avLst/>
          </a:prstGeom>
          <a:noFill/>
          <a:ln>
            <a:noFill/>
          </a:ln>
        </p:spPr>
      </p:pic>
      <p:graphicFrame>
        <p:nvGraphicFramePr>
          <p:cNvPr id="5" name="Tableau 4">
            <a:extLst>
              <a:ext uri="{FF2B5EF4-FFF2-40B4-BE49-F238E27FC236}">
                <a16:creationId xmlns:a16="http://schemas.microsoft.com/office/drawing/2014/main" id="{BDDBD8CE-6527-19E5-4526-549F887A710F}"/>
              </a:ext>
            </a:extLst>
          </p:cNvPr>
          <p:cNvGraphicFramePr>
            <a:graphicFrameLocks noGrp="1"/>
          </p:cNvGraphicFramePr>
          <p:nvPr>
            <p:extLst>
              <p:ext uri="{D42A27DB-BD31-4B8C-83A1-F6EECF244321}">
                <p14:modId xmlns:p14="http://schemas.microsoft.com/office/powerpoint/2010/main" val="2922331841"/>
              </p:ext>
            </p:extLst>
          </p:nvPr>
        </p:nvGraphicFramePr>
        <p:xfrm>
          <a:off x="362426" y="1328060"/>
          <a:ext cx="8419147" cy="3459307"/>
        </p:xfrm>
        <a:graphic>
          <a:graphicData uri="http://schemas.openxmlformats.org/drawingml/2006/table">
            <a:tbl>
              <a:tblPr/>
              <a:tblGrid>
                <a:gridCol w="836230">
                  <a:extLst>
                    <a:ext uri="{9D8B030D-6E8A-4147-A177-3AD203B41FA5}">
                      <a16:colId xmlns:a16="http://schemas.microsoft.com/office/drawing/2014/main" val="2804060167"/>
                    </a:ext>
                  </a:extLst>
                </a:gridCol>
                <a:gridCol w="808722">
                  <a:extLst>
                    <a:ext uri="{9D8B030D-6E8A-4147-A177-3AD203B41FA5}">
                      <a16:colId xmlns:a16="http://schemas.microsoft.com/office/drawing/2014/main" val="19931413"/>
                    </a:ext>
                  </a:extLst>
                </a:gridCol>
                <a:gridCol w="610668">
                  <a:extLst>
                    <a:ext uri="{9D8B030D-6E8A-4147-A177-3AD203B41FA5}">
                      <a16:colId xmlns:a16="http://schemas.microsoft.com/office/drawing/2014/main" val="1504113765"/>
                    </a:ext>
                  </a:extLst>
                </a:gridCol>
                <a:gridCol w="1335033">
                  <a:extLst>
                    <a:ext uri="{9D8B030D-6E8A-4147-A177-3AD203B41FA5}">
                      <a16:colId xmlns:a16="http://schemas.microsoft.com/office/drawing/2014/main" val="487402030"/>
                    </a:ext>
                  </a:extLst>
                </a:gridCol>
                <a:gridCol w="1525753">
                  <a:extLst>
                    <a:ext uri="{9D8B030D-6E8A-4147-A177-3AD203B41FA5}">
                      <a16:colId xmlns:a16="http://schemas.microsoft.com/office/drawing/2014/main" val="2317181481"/>
                    </a:ext>
                  </a:extLst>
                </a:gridCol>
                <a:gridCol w="1525753">
                  <a:extLst>
                    <a:ext uri="{9D8B030D-6E8A-4147-A177-3AD203B41FA5}">
                      <a16:colId xmlns:a16="http://schemas.microsoft.com/office/drawing/2014/main" val="1023685430"/>
                    </a:ext>
                  </a:extLst>
                </a:gridCol>
                <a:gridCol w="654679">
                  <a:extLst>
                    <a:ext uri="{9D8B030D-6E8A-4147-A177-3AD203B41FA5}">
                      <a16:colId xmlns:a16="http://schemas.microsoft.com/office/drawing/2014/main" val="2831983925"/>
                    </a:ext>
                  </a:extLst>
                </a:gridCol>
                <a:gridCol w="1122309">
                  <a:extLst>
                    <a:ext uri="{9D8B030D-6E8A-4147-A177-3AD203B41FA5}">
                      <a16:colId xmlns:a16="http://schemas.microsoft.com/office/drawing/2014/main" val="4059554888"/>
                    </a:ext>
                  </a:extLst>
                </a:gridCol>
              </a:tblGrid>
              <a:tr h="222180">
                <a:tc>
                  <a:txBody>
                    <a:bodyPr/>
                    <a:lstStyle/>
                    <a:p>
                      <a:pPr algn="ctr" fontAlgn="ctr"/>
                      <a:r>
                        <a:rPr lang="fr-FR" sz="800" b="0" i="1" u="none" strike="noStrike" dirty="0">
                          <a:solidFill>
                            <a:srgbClr val="000000"/>
                          </a:solidFill>
                          <a:effectLst/>
                          <a:latin typeface="Arial" panose="020B0604020202020204" pitchFamily="34" charset="0"/>
                        </a:rPr>
                        <a:t>Player</a:t>
                      </a:r>
                    </a:p>
                  </a:txBody>
                  <a:tcPr marL="5572" marR="5572" marT="5572" marB="0" anchor="ctr">
                    <a:lnL>
                      <a:noFill/>
                    </a:lnL>
                    <a:lnR>
                      <a:noFill/>
                    </a:lnR>
                    <a:lnT>
                      <a:noFill/>
                    </a:lnT>
                    <a:lnB>
                      <a:noFill/>
                    </a:lnB>
                    <a:solidFill>
                      <a:srgbClr val="F8F8F8"/>
                    </a:solidFill>
                  </a:tcPr>
                </a:tc>
                <a:tc>
                  <a:txBody>
                    <a:bodyPr/>
                    <a:lstStyle/>
                    <a:p>
                      <a:pPr algn="ctr" fontAlgn="ctr"/>
                      <a:r>
                        <a:rPr lang="fr-FR" sz="700" b="1" i="0" u="none" strike="noStrike" dirty="0">
                          <a:solidFill>
                            <a:srgbClr val="FFFFFF"/>
                          </a:solidFill>
                          <a:effectLst/>
                          <a:latin typeface="Arial" panose="020B0604020202020204" pitchFamily="34" charset="0"/>
                        </a:rPr>
                        <a:t>Nombre de points total</a:t>
                      </a:r>
                    </a:p>
                  </a:txBody>
                  <a:tcPr marL="5572" marR="5572" marT="5572" marB="0" anchor="ctr">
                    <a:lnL>
                      <a:noFill/>
                    </a:lnL>
                    <a:lnR>
                      <a:noFill/>
                    </a:lnR>
                    <a:lnT>
                      <a:noFill/>
                    </a:lnT>
                    <a:lnB>
                      <a:noFill/>
                    </a:lnB>
                    <a:solidFill>
                      <a:srgbClr val="7D8CA3"/>
                    </a:solidFill>
                  </a:tcPr>
                </a:tc>
                <a:tc>
                  <a:txBody>
                    <a:bodyPr/>
                    <a:lstStyle/>
                    <a:p>
                      <a:pPr algn="ctr" fontAlgn="ctr"/>
                      <a:r>
                        <a:rPr lang="fr-FR" sz="700" b="1" i="0" u="none" strike="noStrike" dirty="0">
                          <a:solidFill>
                            <a:srgbClr val="FFFFFF"/>
                          </a:solidFill>
                          <a:effectLst/>
                          <a:latin typeface="Arial" panose="020B0604020202020204" pitchFamily="34" charset="0"/>
                        </a:rPr>
                        <a:t>FGM</a:t>
                      </a:r>
                    </a:p>
                  </a:txBody>
                  <a:tcPr marL="5572" marR="5572" marT="5572" marB="0" anchor="ctr">
                    <a:lnL>
                      <a:noFill/>
                    </a:lnL>
                    <a:lnR>
                      <a:noFill/>
                    </a:lnR>
                    <a:lnT>
                      <a:noFill/>
                    </a:lnT>
                    <a:lnB>
                      <a:noFill/>
                    </a:lnB>
                    <a:solidFill>
                      <a:srgbClr val="7D8CA3"/>
                    </a:solidFill>
                  </a:tcPr>
                </a:tc>
                <a:tc>
                  <a:txBody>
                    <a:bodyPr/>
                    <a:lstStyle/>
                    <a:p>
                      <a:pPr algn="ctr" fontAlgn="ctr"/>
                      <a:r>
                        <a:rPr lang="fr-FR" sz="700" b="1" i="0" u="none" strike="noStrike" dirty="0">
                          <a:solidFill>
                            <a:srgbClr val="FFFFFF"/>
                          </a:solidFill>
                          <a:effectLst/>
                          <a:latin typeface="Arial" panose="020B0604020202020204" pitchFamily="34" charset="0"/>
                        </a:rPr>
                        <a:t>Pourcentage de tirs réussis</a:t>
                      </a:r>
                    </a:p>
                  </a:txBody>
                  <a:tcPr marL="5572" marR="5572" marT="5572" marB="0" anchor="ctr">
                    <a:lnL>
                      <a:noFill/>
                    </a:lnL>
                    <a:lnR>
                      <a:noFill/>
                    </a:lnR>
                    <a:lnT>
                      <a:noFill/>
                    </a:lnT>
                    <a:lnB>
                      <a:noFill/>
                    </a:lnB>
                    <a:solidFill>
                      <a:srgbClr val="7D8CA3"/>
                    </a:solidFill>
                  </a:tcPr>
                </a:tc>
                <a:tc>
                  <a:txBody>
                    <a:bodyPr/>
                    <a:lstStyle/>
                    <a:p>
                      <a:pPr algn="ctr" fontAlgn="ctr"/>
                      <a:r>
                        <a:rPr lang="fr-FR" sz="700" b="1" i="0" u="none" strike="noStrike" dirty="0" err="1">
                          <a:solidFill>
                            <a:srgbClr val="FFFFFF"/>
                          </a:solidFill>
                          <a:effectLst/>
                          <a:latin typeface="Arial" panose="020B0604020202020204" pitchFamily="34" charset="0"/>
                        </a:rPr>
                        <a:t>Pourcentagte</a:t>
                      </a:r>
                      <a:r>
                        <a:rPr lang="fr-FR" sz="700" b="1" i="0" u="none" strike="noStrike" dirty="0">
                          <a:solidFill>
                            <a:srgbClr val="FFFFFF"/>
                          </a:solidFill>
                          <a:effectLst/>
                          <a:latin typeface="Arial" panose="020B0604020202020204" pitchFamily="34" charset="0"/>
                        </a:rPr>
                        <a:t> de réussite aux tirs à 3 points</a:t>
                      </a:r>
                    </a:p>
                  </a:txBody>
                  <a:tcPr marL="5572" marR="5572" marT="5572" marB="0" anchor="ctr">
                    <a:lnL>
                      <a:noFill/>
                    </a:lnL>
                    <a:lnR>
                      <a:noFill/>
                    </a:lnR>
                    <a:lnT>
                      <a:noFill/>
                    </a:lnT>
                    <a:lnB>
                      <a:noFill/>
                    </a:lnB>
                    <a:solidFill>
                      <a:srgbClr val="7D8CA3"/>
                    </a:solidFill>
                  </a:tcPr>
                </a:tc>
                <a:tc>
                  <a:txBody>
                    <a:bodyPr/>
                    <a:lstStyle/>
                    <a:p>
                      <a:pPr algn="ctr" fontAlgn="ctr"/>
                      <a:r>
                        <a:rPr lang="fr-FR" sz="700" b="1" i="0" u="none" strike="noStrike" dirty="0">
                          <a:solidFill>
                            <a:srgbClr val="FFFFFF"/>
                          </a:solidFill>
                          <a:effectLst/>
                          <a:latin typeface="Arial" panose="020B0604020202020204" pitchFamily="34" charset="0"/>
                        </a:rPr>
                        <a:t>Pourcentage de réussite aux lancers francs</a:t>
                      </a:r>
                    </a:p>
                  </a:txBody>
                  <a:tcPr marL="5572" marR="5572" marT="5572" marB="0" anchor="ctr">
                    <a:lnL>
                      <a:noFill/>
                    </a:lnL>
                    <a:lnR>
                      <a:noFill/>
                    </a:lnR>
                    <a:lnT>
                      <a:noFill/>
                    </a:lnT>
                    <a:lnB>
                      <a:noFill/>
                    </a:lnB>
                    <a:solidFill>
                      <a:srgbClr val="7D8CA3"/>
                    </a:solidFill>
                  </a:tcPr>
                </a:tc>
                <a:tc>
                  <a:txBody>
                    <a:bodyPr/>
                    <a:lstStyle/>
                    <a:p>
                      <a:pPr algn="ctr" fontAlgn="ctr"/>
                      <a:r>
                        <a:rPr lang="fr-FR" sz="700" b="1" i="0" u="none" strike="noStrike" dirty="0">
                          <a:solidFill>
                            <a:srgbClr val="FFFFFF"/>
                          </a:solidFill>
                          <a:effectLst/>
                          <a:latin typeface="Arial" panose="020B0604020202020204" pitchFamily="34" charset="0"/>
                        </a:rPr>
                        <a:t>Rebonds offensifs</a:t>
                      </a:r>
                    </a:p>
                  </a:txBody>
                  <a:tcPr marL="5572" marR="5572" marT="5572" marB="0" anchor="ctr">
                    <a:lnL>
                      <a:noFill/>
                    </a:lnL>
                    <a:lnR>
                      <a:noFill/>
                    </a:lnR>
                    <a:lnT>
                      <a:noFill/>
                    </a:lnT>
                    <a:lnB>
                      <a:noFill/>
                    </a:lnB>
                    <a:solidFill>
                      <a:srgbClr val="7D8CA3"/>
                    </a:solidFill>
                  </a:tcPr>
                </a:tc>
                <a:tc>
                  <a:txBody>
                    <a:bodyPr/>
                    <a:lstStyle/>
                    <a:p>
                      <a:pPr algn="ctr" fontAlgn="ctr"/>
                      <a:r>
                        <a:rPr lang="fr-FR" sz="700" b="1" i="0" u="none" strike="noStrike" dirty="0">
                          <a:solidFill>
                            <a:srgbClr val="FFFFFF"/>
                          </a:solidFill>
                          <a:effectLst/>
                          <a:latin typeface="Arial" panose="020B0604020202020204" pitchFamily="34" charset="0"/>
                        </a:rPr>
                        <a:t>Estimation de l'impact du joueur</a:t>
                      </a:r>
                    </a:p>
                  </a:txBody>
                  <a:tcPr marL="5572" marR="5572" marT="5572" marB="0" anchor="ctr">
                    <a:lnL>
                      <a:noFill/>
                    </a:lnL>
                    <a:lnR>
                      <a:noFill/>
                    </a:lnR>
                    <a:lnT>
                      <a:noFill/>
                    </a:lnT>
                    <a:lnB>
                      <a:noFill/>
                    </a:lnB>
                    <a:solidFill>
                      <a:srgbClr val="7D8CA3"/>
                    </a:solidFill>
                  </a:tcPr>
                </a:tc>
                <a:extLst>
                  <a:ext uri="{0D108BD9-81ED-4DB2-BD59-A6C34878D82A}">
                    <a16:rowId xmlns:a16="http://schemas.microsoft.com/office/drawing/2014/main" val="3653976312"/>
                  </a:ext>
                </a:extLst>
              </a:tr>
              <a:tr h="243174">
                <a:tc>
                  <a:txBody>
                    <a:bodyPr/>
                    <a:lstStyle/>
                    <a:p>
                      <a:pPr algn="l" fontAlgn="ctr"/>
                      <a:r>
                        <a:rPr lang="fr-FR" sz="800" b="0" i="0" u="sng" strike="noStrike">
                          <a:solidFill>
                            <a:srgbClr val="000000"/>
                          </a:solidFill>
                          <a:effectLst/>
                          <a:latin typeface="+mn-lt"/>
                        </a:rPr>
                        <a:t>Shai Gilgeous-Alexander</a:t>
                      </a:r>
                    </a:p>
                  </a:txBody>
                  <a:tcPr marL="5572" marR="5572" marT="5572" marB="0" anchor="ctr">
                    <a:lnL>
                      <a:noFill/>
                    </a:lnL>
                    <a:lnR>
                      <a:noFill/>
                    </a:lnR>
                    <a:lnT>
                      <a:noFill/>
                    </a:lnT>
                    <a:lnB>
                      <a:noFill/>
                    </a:lnB>
                    <a:solidFill>
                      <a:srgbClr val="F8F8F8"/>
                    </a:solidFill>
                  </a:tcPr>
                </a:tc>
                <a:tc>
                  <a:txBody>
                    <a:bodyPr/>
                    <a:lstStyle/>
                    <a:p>
                      <a:pPr algn="ctr" fontAlgn="ctr"/>
                      <a:r>
                        <a:rPr lang="fr-FR" sz="600" b="0" i="0" u="none" strike="noStrike">
                          <a:solidFill>
                            <a:srgbClr val="000000"/>
                          </a:solidFill>
                          <a:effectLst/>
                          <a:latin typeface="Arial" panose="020B0604020202020204" pitchFamily="34" charset="0"/>
                        </a:rPr>
                        <a:t>2485</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859</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dirty="0">
                          <a:solidFill>
                            <a:srgbClr val="000000"/>
                          </a:solidFill>
                          <a:effectLst/>
                          <a:latin typeface="Arial" panose="020B0604020202020204" pitchFamily="34" charset="0"/>
                        </a:rPr>
                        <a:t>51,9</a:t>
                      </a:r>
                    </a:p>
                  </a:txBody>
                  <a:tcPr marL="5572" marR="5572" marT="5572" marB="0" anchor="ctr">
                    <a:lnL>
                      <a:noFill/>
                    </a:lnL>
                    <a:lnR>
                      <a:noFill/>
                    </a:lnR>
                    <a:lnT>
                      <a:noFill/>
                    </a:lnT>
                    <a:lnB>
                      <a:noFill/>
                    </a:lnB>
                    <a:solidFill>
                      <a:srgbClr val="A5D9B4"/>
                    </a:solidFill>
                  </a:tcPr>
                </a:tc>
                <a:tc>
                  <a:txBody>
                    <a:bodyPr/>
                    <a:lstStyle/>
                    <a:p>
                      <a:pPr algn="ctr" fontAlgn="ctr"/>
                      <a:r>
                        <a:rPr lang="fr-FR" sz="600" b="0" i="0" u="none" strike="noStrike">
                          <a:solidFill>
                            <a:srgbClr val="000000"/>
                          </a:solidFill>
                          <a:effectLst/>
                          <a:latin typeface="Arial" panose="020B0604020202020204" pitchFamily="34" charset="0"/>
                        </a:rPr>
                        <a:t>37,5</a:t>
                      </a:r>
                    </a:p>
                  </a:txBody>
                  <a:tcPr marL="5572" marR="5572" marT="5572" marB="0" anchor="ctr">
                    <a:lnL>
                      <a:noFill/>
                    </a:lnL>
                    <a:lnR>
                      <a:noFill/>
                    </a:lnR>
                    <a:lnT>
                      <a:noFill/>
                    </a:lnT>
                    <a:lnB>
                      <a:noFill/>
                    </a:lnB>
                    <a:solidFill>
                      <a:srgbClr val="94D2A5"/>
                    </a:solidFill>
                  </a:tcPr>
                </a:tc>
                <a:tc>
                  <a:txBody>
                    <a:bodyPr/>
                    <a:lstStyle/>
                    <a:p>
                      <a:pPr algn="ctr" fontAlgn="ctr"/>
                      <a:r>
                        <a:rPr lang="fr-FR" sz="600" b="0" i="0" u="none" strike="noStrike">
                          <a:solidFill>
                            <a:srgbClr val="000000"/>
                          </a:solidFill>
                          <a:effectLst/>
                          <a:latin typeface="Arial" panose="020B0604020202020204" pitchFamily="34" charset="0"/>
                        </a:rPr>
                        <a:t>89,8</a:t>
                      </a:r>
                    </a:p>
                  </a:txBody>
                  <a:tcPr marL="5572" marR="5572" marT="5572" marB="0" anchor="ctr">
                    <a:lnL>
                      <a:noFill/>
                    </a:lnL>
                    <a:lnR>
                      <a:noFill/>
                    </a:lnR>
                    <a:lnT>
                      <a:noFill/>
                    </a:lnT>
                    <a:lnB>
                      <a:noFill/>
                    </a:lnB>
                    <a:solidFill>
                      <a:srgbClr val="74C58A"/>
                    </a:solidFill>
                  </a:tcPr>
                </a:tc>
                <a:tc>
                  <a:txBody>
                    <a:bodyPr/>
                    <a:lstStyle/>
                    <a:p>
                      <a:pPr algn="ctr" fontAlgn="ctr"/>
                      <a:r>
                        <a:rPr lang="fr-FR" sz="600" b="0" i="0" u="none" strike="noStrike">
                          <a:solidFill>
                            <a:srgbClr val="000000"/>
                          </a:solidFill>
                          <a:effectLst/>
                          <a:latin typeface="Arial" panose="020B0604020202020204" pitchFamily="34" charset="0"/>
                        </a:rPr>
                        <a:t>68</a:t>
                      </a:r>
                    </a:p>
                  </a:txBody>
                  <a:tcPr marL="5572" marR="5572" marT="5572" marB="0" anchor="ctr">
                    <a:lnL>
                      <a:noFill/>
                    </a:lnL>
                    <a:lnR>
                      <a:noFill/>
                    </a:lnR>
                    <a:lnT>
                      <a:noFill/>
                    </a:lnT>
                    <a:lnB>
                      <a:noFill/>
                    </a:lnB>
                    <a:solidFill>
                      <a:srgbClr val="D7EDDF"/>
                    </a:solidFill>
                  </a:tcPr>
                </a:tc>
                <a:tc>
                  <a:txBody>
                    <a:bodyPr/>
                    <a:lstStyle/>
                    <a:p>
                      <a:pPr algn="ctr" fontAlgn="ctr"/>
                      <a:r>
                        <a:rPr lang="fr-FR" sz="600" b="0" i="0" u="none" strike="noStrike" dirty="0">
                          <a:solidFill>
                            <a:srgbClr val="000000"/>
                          </a:solidFill>
                          <a:effectLst/>
                          <a:latin typeface="Arial" panose="020B0604020202020204" pitchFamily="34" charset="0"/>
                        </a:rPr>
                        <a:t>19,9</a:t>
                      </a:r>
                    </a:p>
                  </a:txBody>
                  <a:tcPr marL="5572" marR="5572" marT="5572" marB="0" anchor="ctr">
                    <a:lnL>
                      <a:noFill/>
                    </a:lnL>
                    <a:lnR>
                      <a:noFill/>
                    </a:lnR>
                    <a:lnT>
                      <a:noFill/>
                    </a:lnT>
                    <a:lnB>
                      <a:noFill/>
                    </a:lnB>
                    <a:solidFill>
                      <a:srgbClr val="7DC992"/>
                    </a:solidFill>
                  </a:tcPr>
                </a:tc>
                <a:extLst>
                  <a:ext uri="{0D108BD9-81ED-4DB2-BD59-A6C34878D82A}">
                    <a16:rowId xmlns:a16="http://schemas.microsoft.com/office/drawing/2014/main" val="3049889731"/>
                  </a:ext>
                </a:extLst>
              </a:tr>
              <a:tr h="203589">
                <a:tc>
                  <a:txBody>
                    <a:bodyPr/>
                    <a:lstStyle/>
                    <a:p>
                      <a:pPr algn="l" fontAlgn="ctr"/>
                      <a:r>
                        <a:rPr lang="fr-FR" sz="800" b="0" i="0" u="sng" strike="noStrike">
                          <a:solidFill>
                            <a:srgbClr val="000000"/>
                          </a:solidFill>
                          <a:effectLst/>
                          <a:latin typeface="+mn-lt"/>
                        </a:rPr>
                        <a:t>Anthony Edwards</a:t>
                      </a:r>
                    </a:p>
                  </a:txBody>
                  <a:tcPr marL="5572" marR="5572" marT="5572" marB="0" anchor="ctr">
                    <a:lnL>
                      <a:noFill/>
                    </a:lnL>
                    <a:lnR>
                      <a:noFill/>
                    </a:lnR>
                    <a:lnT>
                      <a:noFill/>
                    </a:lnT>
                    <a:lnB>
                      <a:noFill/>
                    </a:lnB>
                    <a:solidFill>
                      <a:srgbClr val="F8F8F8"/>
                    </a:solidFill>
                  </a:tcPr>
                </a:tc>
                <a:tc>
                  <a:txBody>
                    <a:bodyPr/>
                    <a:lstStyle/>
                    <a:p>
                      <a:pPr algn="ctr" fontAlgn="ctr"/>
                      <a:r>
                        <a:rPr lang="fr-FR" sz="600" b="0" i="0" u="none" strike="noStrike">
                          <a:solidFill>
                            <a:srgbClr val="000000"/>
                          </a:solidFill>
                          <a:effectLst/>
                          <a:latin typeface="Arial" panose="020B0604020202020204" pitchFamily="34" charset="0"/>
                        </a:rPr>
                        <a:t>2180</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719</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dirty="0">
                          <a:solidFill>
                            <a:srgbClr val="000000"/>
                          </a:solidFill>
                          <a:effectLst/>
                          <a:latin typeface="Arial" panose="020B0604020202020204" pitchFamily="34" charset="0"/>
                        </a:rPr>
                        <a:t>44,7</a:t>
                      </a:r>
                    </a:p>
                  </a:txBody>
                  <a:tcPr marL="5572" marR="5572" marT="5572" marB="0" anchor="ctr">
                    <a:lnL>
                      <a:noFill/>
                    </a:lnL>
                    <a:lnR>
                      <a:noFill/>
                    </a:lnR>
                    <a:lnT>
                      <a:noFill/>
                    </a:lnT>
                    <a:lnB>
                      <a:noFill/>
                    </a:lnB>
                    <a:solidFill>
                      <a:srgbClr val="DFF0E6"/>
                    </a:solidFill>
                  </a:tcPr>
                </a:tc>
                <a:tc>
                  <a:txBody>
                    <a:bodyPr/>
                    <a:lstStyle/>
                    <a:p>
                      <a:pPr algn="ctr" fontAlgn="ctr"/>
                      <a:r>
                        <a:rPr lang="fr-FR" sz="600" b="0" i="0" u="none" strike="noStrike">
                          <a:solidFill>
                            <a:srgbClr val="000000"/>
                          </a:solidFill>
                          <a:effectLst/>
                          <a:latin typeface="Arial" panose="020B0604020202020204" pitchFamily="34" charset="0"/>
                        </a:rPr>
                        <a:t>39,5</a:t>
                      </a:r>
                    </a:p>
                  </a:txBody>
                  <a:tcPr marL="5572" marR="5572" marT="5572" marB="0" anchor="ctr">
                    <a:lnL>
                      <a:noFill/>
                    </a:lnL>
                    <a:lnR>
                      <a:noFill/>
                    </a:lnR>
                    <a:lnT>
                      <a:noFill/>
                    </a:lnT>
                    <a:lnB>
                      <a:noFill/>
                    </a:lnB>
                    <a:solidFill>
                      <a:srgbClr val="86CD9A"/>
                    </a:solidFill>
                  </a:tcPr>
                </a:tc>
                <a:tc>
                  <a:txBody>
                    <a:bodyPr/>
                    <a:lstStyle/>
                    <a:p>
                      <a:pPr algn="ctr" fontAlgn="ctr"/>
                      <a:r>
                        <a:rPr lang="fr-FR" sz="600" b="0" i="0" u="none" strike="noStrike">
                          <a:solidFill>
                            <a:srgbClr val="000000"/>
                          </a:solidFill>
                          <a:effectLst/>
                          <a:latin typeface="Arial" panose="020B0604020202020204" pitchFamily="34" charset="0"/>
                        </a:rPr>
                        <a:t>83,7</a:t>
                      </a:r>
                    </a:p>
                  </a:txBody>
                  <a:tcPr marL="5572" marR="5572" marT="5572" marB="0" anchor="ctr">
                    <a:lnL>
                      <a:noFill/>
                    </a:lnL>
                    <a:lnR>
                      <a:noFill/>
                    </a:lnR>
                    <a:lnT>
                      <a:noFill/>
                    </a:lnT>
                    <a:lnB>
                      <a:noFill/>
                    </a:lnB>
                    <a:solidFill>
                      <a:srgbClr val="92D1A4"/>
                    </a:solidFill>
                  </a:tcPr>
                </a:tc>
                <a:tc>
                  <a:txBody>
                    <a:bodyPr/>
                    <a:lstStyle/>
                    <a:p>
                      <a:pPr algn="ctr" fontAlgn="ctr"/>
                      <a:r>
                        <a:rPr lang="fr-FR" sz="600" b="0" i="0" u="none" strike="noStrike">
                          <a:solidFill>
                            <a:srgbClr val="000000"/>
                          </a:solidFill>
                          <a:effectLst/>
                          <a:latin typeface="Arial" panose="020B0604020202020204" pitchFamily="34" charset="0"/>
                        </a:rPr>
                        <a:t>63</a:t>
                      </a:r>
                    </a:p>
                  </a:txBody>
                  <a:tcPr marL="5572" marR="5572" marT="5572" marB="0" anchor="ctr">
                    <a:lnL>
                      <a:noFill/>
                    </a:lnL>
                    <a:lnR>
                      <a:noFill/>
                    </a:lnR>
                    <a:lnT>
                      <a:noFill/>
                    </a:lnT>
                    <a:lnB>
                      <a:noFill/>
                    </a:lnB>
                    <a:solidFill>
                      <a:srgbClr val="DBEFE3"/>
                    </a:solidFill>
                  </a:tcPr>
                </a:tc>
                <a:tc>
                  <a:txBody>
                    <a:bodyPr/>
                    <a:lstStyle/>
                    <a:p>
                      <a:pPr algn="ctr" fontAlgn="ctr"/>
                      <a:r>
                        <a:rPr lang="fr-FR" sz="600" b="0" i="0" u="none" strike="noStrike">
                          <a:solidFill>
                            <a:srgbClr val="000000"/>
                          </a:solidFill>
                          <a:effectLst/>
                          <a:latin typeface="Arial" panose="020B0604020202020204" pitchFamily="34" charset="0"/>
                        </a:rPr>
                        <a:t>14</a:t>
                      </a:r>
                    </a:p>
                  </a:txBody>
                  <a:tcPr marL="5572" marR="5572" marT="5572" marB="0" anchor="ctr">
                    <a:lnL>
                      <a:noFill/>
                    </a:lnL>
                    <a:lnR>
                      <a:noFill/>
                    </a:lnR>
                    <a:lnT>
                      <a:noFill/>
                    </a:lnT>
                    <a:lnB>
                      <a:noFill/>
                    </a:lnB>
                    <a:solidFill>
                      <a:srgbClr val="FBE6E9"/>
                    </a:solidFill>
                  </a:tcPr>
                </a:tc>
                <a:extLst>
                  <a:ext uri="{0D108BD9-81ED-4DB2-BD59-A6C34878D82A}">
                    <a16:rowId xmlns:a16="http://schemas.microsoft.com/office/drawing/2014/main" val="1029944834"/>
                  </a:ext>
                </a:extLst>
              </a:tr>
              <a:tr h="203589">
                <a:tc>
                  <a:txBody>
                    <a:bodyPr/>
                    <a:lstStyle/>
                    <a:p>
                      <a:pPr algn="l" fontAlgn="ctr"/>
                      <a:r>
                        <a:rPr lang="fr-FR" sz="800" b="0" i="0" u="sng" strike="noStrike" dirty="0">
                          <a:solidFill>
                            <a:srgbClr val="000000"/>
                          </a:solidFill>
                          <a:effectLst/>
                          <a:latin typeface="+mn-lt"/>
                        </a:rPr>
                        <a:t>Nikola </a:t>
                      </a:r>
                      <a:r>
                        <a:rPr lang="fr-FR" sz="800" b="0" i="0" u="sng" strike="noStrike" dirty="0" err="1">
                          <a:solidFill>
                            <a:srgbClr val="000000"/>
                          </a:solidFill>
                          <a:effectLst/>
                          <a:latin typeface="+mn-lt"/>
                        </a:rPr>
                        <a:t>Jokić</a:t>
                      </a:r>
                      <a:endParaRPr lang="fr-FR" sz="800" b="0" i="0" u="sng" strike="noStrike" dirty="0">
                        <a:solidFill>
                          <a:srgbClr val="000000"/>
                        </a:solidFill>
                        <a:effectLst/>
                        <a:latin typeface="+mn-lt"/>
                      </a:endParaRPr>
                    </a:p>
                  </a:txBody>
                  <a:tcPr marL="5572" marR="5572" marT="5572" marB="0" anchor="ctr">
                    <a:lnL>
                      <a:noFill/>
                    </a:lnL>
                    <a:lnR>
                      <a:noFill/>
                    </a:lnR>
                    <a:lnT>
                      <a:noFill/>
                    </a:lnT>
                    <a:lnB>
                      <a:noFill/>
                    </a:lnB>
                    <a:solidFill>
                      <a:srgbClr val="F8F8F8"/>
                    </a:solidFill>
                  </a:tcPr>
                </a:tc>
                <a:tc>
                  <a:txBody>
                    <a:bodyPr/>
                    <a:lstStyle/>
                    <a:p>
                      <a:pPr algn="ctr" fontAlgn="ctr"/>
                      <a:r>
                        <a:rPr lang="fr-FR" sz="600" b="0" i="0" u="none" strike="noStrike">
                          <a:solidFill>
                            <a:srgbClr val="000000"/>
                          </a:solidFill>
                          <a:effectLst/>
                          <a:latin typeface="Arial" panose="020B0604020202020204" pitchFamily="34" charset="0"/>
                        </a:rPr>
                        <a:t>2072</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784</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dirty="0">
                          <a:solidFill>
                            <a:srgbClr val="000000"/>
                          </a:solidFill>
                          <a:effectLst/>
                          <a:latin typeface="Arial" panose="020B0604020202020204" pitchFamily="34" charset="0"/>
                        </a:rPr>
                        <a:t>57,6</a:t>
                      </a:r>
                    </a:p>
                  </a:txBody>
                  <a:tcPr marL="5572" marR="5572" marT="5572" marB="0" anchor="ctr">
                    <a:lnL>
                      <a:noFill/>
                    </a:lnL>
                    <a:lnR>
                      <a:noFill/>
                    </a:lnR>
                    <a:lnT>
                      <a:noFill/>
                    </a:lnT>
                    <a:lnB>
                      <a:noFill/>
                    </a:lnB>
                    <a:solidFill>
                      <a:srgbClr val="78C78D"/>
                    </a:solidFill>
                  </a:tcPr>
                </a:tc>
                <a:tc>
                  <a:txBody>
                    <a:bodyPr/>
                    <a:lstStyle/>
                    <a:p>
                      <a:pPr algn="ctr" fontAlgn="ctr"/>
                      <a:r>
                        <a:rPr lang="fr-FR" sz="600" b="0" i="0" u="none" strike="noStrike">
                          <a:solidFill>
                            <a:srgbClr val="000000"/>
                          </a:solidFill>
                          <a:effectLst/>
                          <a:latin typeface="Arial" panose="020B0604020202020204" pitchFamily="34" charset="0"/>
                        </a:rPr>
                        <a:t>41,7</a:t>
                      </a:r>
                    </a:p>
                  </a:txBody>
                  <a:tcPr marL="5572" marR="5572" marT="5572" marB="0" anchor="ctr">
                    <a:lnL>
                      <a:noFill/>
                    </a:lnL>
                    <a:lnR>
                      <a:noFill/>
                    </a:lnR>
                    <a:lnT>
                      <a:noFill/>
                    </a:lnT>
                    <a:lnB>
                      <a:noFill/>
                    </a:lnB>
                    <a:solidFill>
                      <a:srgbClr val="77C78D"/>
                    </a:solidFill>
                  </a:tcPr>
                </a:tc>
                <a:tc>
                  <a:txBody>
                    <a:bodyPr/>
                    <a:lstStyle/>
                    <a:p>
                      <a:pPr algn="ctr" fontAlgn="ctr"/>
                      <a:r>
                        <a:rPr lang="fr-FR" sz="600" b="0" i="0" u="none" strike="noStrike" dirty="0">
                          <a:solidFill>
                            <a:srgbClr val="000000"/>
                          </a:solidFill>
                          <a:effectLst/>
                          <a:latin typeface="Arial" panose="020B0604020202020204" pitchFamily="34" charset="0"/>
                        </a:rPr>
                        <a:t>80</a:t>
                      </a:r>
                    </a:p>
                  </a:txBody>
                  <a:tcPr marL="5572" marR="5572" marT="5572" marB="0" anchor="ctr">
                    <a:lnL>
                      <a:noFill/>
                    </a:lnL>
                    <a:lnR>
                      <a:noFill/>
                    </a:lnR>
                    <a:lnT>
                      <a:noFill/>
                    </a:lnT>
                    <a:lnB>
                      <a:noFill/>
                    </a:lnB>
                    <a:solidFill>
                      <a:srgbClr val="A4D9B3"/>
                    </a:solidFill>
                  </a:tcPr>
                </a:tc>
                <a:tc>
                  <a:txBody>
                    <a:bodyPr/>
                    <a:lstStyle/>
                    <a:p>
                      <a:pPr algn="ctr" fontAlgn="ctr"/>
                      <a:r>
                        <a:rPr lang="fr-FR" sz="600" b="0" i="0" u="none" strike="noStrike">
                          <a:solidFill>
                            <a:srgbClr val="000000"/>
                          </a:solidFill>
                          <a:effectLst/>
                          <a:latin typeface="Arial" panose="020B0604020202020204" pitchFamily="34" charset="0"/>
                        </a:rPr>
                        <a:t>203</a:t>
                      </a:r>
                    </a:p>
                  </a:txBody>
                  <a:tcPr marL="5572" marR="5572" marT="5572" marB="0" anchor="ctr">
                    <a:lnL>
                      <a:noFill/>
                    </a:lnL>
                    <a:lnR>
                      <a:noFill/>
                    </a:lnR>
                    <a:lnT>
                      <a:noFill/>
                    </a:lnT>
                    <a:lnB>
                      <a:noFill/>
                    </a:lnB>
                    <a:solidFill>
                      <a:srgbClr val="68C080"/>
                    </a:solidFill>
                  </a:tcPr>
                </a:tc>
                <a:tc>
                  <a:txBody>
                    <a:bodyPr/>
                    <a:lstStyle/>
                    <a:p>
                      <a:pPr algn="ctr" fontAlgn="ctr"/>
                      <a:r>
                        <a:rPr lang="fr-FR" sz="600" b="0" i="0" u="none" strike="noStrike">
                          <a:solidFill>
                            <a:srgbClr val="000000"/>
                          </a:solidFill>
                          <a:effectLst/>
                          <a:latin typeface="Arial" panose="020B0604020202020204" pitchFamily="34" charset="0"/>
                        </a:rPr>
                        <a:t>20,6</a:t>
                      </a:r>
                    </a:p>
                  </a:txBody>
                  <a:tcPr marL="5572" marR="5572" marT="5572" marB="0" anchor="ctr">
                    <a:lnL>
                      <a:noFill/>
                    </a:lnL>
                    <a:lnR>
                      <a:noFill/>
                    </a:lnR>
                    <a:lnT>
                      <a:noFill/>
                    </a:lnT>
                    <a:lnB>
                      <a:noFill/>
                    </a:lnB>
                    <a:solidFill>
                      <a:srgbClr val="6DC284"/>
                    </a:solidFill>
                  </a:tcPr>
                </a:tc>
                <a:extLst>
                  <a:ext uri="{0D108BD9-81ED-4DB2-BD59-A6C34878D82A}">
                    <a16:rowId xmlns:a16="http://schemas.microsoft.com/office/drawing/2014/main" val="3699259227"/>
                  </a:ext>
                </a:extLst>
              </a:tr>
              <a:tr h="243174">
                <a:tc>
                  <a:txBody>
                    <a:bodyPr/>
                    <a:lstStyle/>
                    <a:p>
                      <a:pPr algn="l" fontAlgn="ctr"/>
                      <a:r>
                        <a:rPr lang="fr-FR" sz="800" b="0" i="0" u="sng" strike="noStrike" dirty="0" err="1">
                          <a:solidFill>
                            <a:srgbClr val="000000"/>
                          </a:solidFill>
                          <a:effectLst/>
                          <a:latin typeface="+mn-lt"/>
                        </a:rPr>
                        <a:t>Giannis</a:t>
                      </a:r>
                      <a:r>
                        <a:rPr lang="fr-FR" sz="800" b="0" i="0" u="sng" strike="noStrike" dirty="0">
                          <a:solidFill>
                            <a:srgbClr val="000000"/>
                          </a:solidFill>
                          <a:effectLst/>
                          <a:latin typeface="+mn-lt"/>
                        </a:rPr>
                        <a:t> </a:t>
                      </a:r>
                      <a:r>
                        <a:rPr lang="fr-FR" sz="800" b="0" i="0" u="sng" strike="noStrike" dirty="0" err="1">
                          <a:solidFill>
                            <a:srgbClr val="000000"/>
                          </a:solidFill>
                          <a:effectLst/>
                          <a:latin typeface="+mn-lt"/>
                        </a:rPr>
                        <a:t>Antetokounmpo</a:t>
                      </a:r>
                      <a:endParaRPr lang="fr-FR" sz="800" b="0" i="0" u="sng" strike="noStrike" dirty="0">
                        <a:solidFill>
                          <a:srgbClr val="000000"/>
                        </a:solidFill>
                        <a:effectLst/>
                        <a:latin typeface="+mn-lt"/>
                      </a:endParaRPr>
                    </a:p>
                  </a:txBody>
                  <a:tcPr marL="5572" marR="5572" marT="5572" marB="0" anchor="ctr">
                    <a:lnL>
                      <a:noFill/>
                    </a:lnL>
                    <a:lnR>
                      <a:noFill/>
                    </a:lnR>
                    <a:lnT>
                      <a:noFill/>
                    </a:lnT>
                    <a:lnB>
                      <a:noFill/>
                    </a:lnB>
                    <a:solidFill>
                      <a:srgbClr val="F8F8F8"/>
                    </a:solidFill>
                  </a:tcPr>
                </a:tc>
                <a:tc>
                  <a:txBody>
                    <a:bodyPr/>
                    <a:lstStyle/>
                    <a:p>
                      <a:pPr algn="ctr" fontAlgn="ctr"/>
                      <a:r>
                        <a:rPr lang="fr-FR" sz="600" b="0" i="0" u="none" strike="noStrike">
                          <a:solidFill>
                            <a:srgbClr val="000000"/>
                          </a:solidFill>
                          <a:effectLst/>
                          <a:latin typeface="Arial" panose="020B0604020202020204" pitchFamily="34" charset="0"/>
                        </a:rPr>
                        <a:t>2037</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dirty="0">
                          <a:solidFill>
                            <a:srgbClr val="000000"/>
                          </a:solidFill>
                          <a:effectLst/>
                          <a:latin typeface="Arial" panose="020B0604020202020204" pitchFamily="34" charset="0"/>
                        </a:rPr>
                        <a:t>791</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60,1</a:t>
                      </a:r>
                    </a:p>
                  </a:txBody>
                  <a:tcPr marL="5572" marR="5572" marT="5572" marB="0" anchor="ctr">
                    <a:lnL>
                      <a:noFill/>
                    </a:lnL>
                    <a:lnR>
                      <a:noFill/>
                    </a:lnR>
                    <a:lnT>
                      <a:noFill/>
                    </a:lnT>
                    <a:lnB>
                      <a:noFill/>
                    </a:lnB>
                    <a:solidFill>
                      <a:srgbClr val="63BE7B"/>
                    </a:solidFill>
                  </a:tcPr>
                </a:tc>
                <a:tc>
                  <a:txBody>
                    <a:bodyPr/>
                    <a:lstStyle/>
                    <a:p>
                      <a:pPr algn="ctr" fontAlgn="ctr"/>
                      <a:r>
                        <a:rPr lang="fr-FR" sz="600" b="0" i="0" u="none" strike="noStrike">
                          <a:solidFill>
                            <a:srgbClr val="000000"/>
                          </a:solidFill>
                          <a:effectLst/>
                          <a:latin typeface="Arial" panose="020B0604020202020204" pitchFamily="34" charset="0"/>
                        </a:rPr>
                        <a:t>22,2</a:t>
                      </a:r>
                    </a:p>
                  </a:txBody>
                  <a:tcPr marL="5572" marR="5572" marT="5572" marB="0" anchor="ctr">
                    <a:lnL>
                      <a:noFill/>
                    </a:lnL>
                    <a:lnR>
                      <a:noFill/>
                    </a:lnR>
                    <a:lnT>
                      <a:noFill/>
                    </a:lnT>
                    <a:lnB>
                      <a:noFill/>
                    </a:lnB>
                    <a:solidFill>
                      <a:srgbClr val="FCFCFF"/>
                    </a:solidFill>
                  </a:tcPr>
                </a:tc>
                <a:tc>
                  <a:txBody>
                    <a:bodyPr/>
                    <a:lstStyle/>
                    <a:p>
                      <a:pPr algn="ctr" fontAlgn="ctr"/>
                      <a:r>
                        <a:rPr lang="fr-FR" sz="600" b="0" i="0" u="none" strike="noStrike">
                          <a:solidFill>
                            <a:srgbClr val="000000"/>
                          </a:solidFill>
                          <a:effectLst/>
                          <a:latin typeface="Arial" panose="020B0604020202020204" pitchFamily="34" charset="0"/>
                        </a:rPr>
                        <a:t>61,7</a:t>
                      </a:r>
                    </a:p>
                  </a:txBody>
                  <a:tcPr marL="5572" marR="5572" marT="5572" marB="0" anchor="ctr">
                    <a:lnL>
                      <a:noFill/>
                    </a:lnL>
                    <a:lnR>
                      <a:noFill/>
                    </a:lnR>
                    <a:lnT>
                      <a:noFill/>
                    </a:lnT>
                    <a:lnB>
                      <a:noFill/>
                    </a:lnB>
                    <a:solidFill>
                      <a:srgbClr val="FCFCFF"/>
                    </a:solidFill>
                  </a:tcPr>
                </a:tc>
                <a:tc>
                  <a:txBody>
                    <a:bodyPr/>
                    <a:lstStyle/>
                    <a:p>
                      <a:pPr algn="ctr" fontAlgn="ctr"/>
                      <a:r>
                        <a:rPr lang="fr-FR" sz="600" b="0" i="0" u="none" strike="noStrike">
                          <a:solidFill>
                            <a:srgbClr val="000000"/>
                          </a:solidFill>
                          <a:effectLst/>
                          <a:latin typeface="Arial" panose="020B0604020202020204" pitchFamily="34" charset="0"/>
                        </a:rPr>
                        <a:t>147</a:t>
                      </a:r>
                    </a:p>
                  </a:txBody>
                  <a:tcPr marL="5572" marR="5572" marT="5572" marB="0" anchor="ctr">
                    <a:lnL>
                      <a:noFill/>
                    </a:lnL>
                    <a:lnR>
                      <a:noFill/>
                    </a:lnR>
                    <a:lnT>
                      <a:noFill/>
                    </a:lnT>
                    <a:lnB>
                      <a:noFill/>
                    </a:lnB>
                    <a:solidFill>
                      <a:srgbClr val="96D3A7"/>
                    </a:solidFill>
                  </a:tcPr>
                </a:tc>
                <a:tc>
                  <a:txBody>
                    <a:bodyPr/>
                    <a:lstStyle/>
                    <a:p>
                      <a:pPr algn="ctr" fontAlgn="ctr"/>
                      <a:r>
                        <a:rPr lang="fr-FR" sz="600" b="0" i="0" u="none" strike="noStrike">
                          <a:solidFill>
                            <a:srgbClr val="000000"/>
                          </a:solidFill>
                          <a:effectLst/>
                          <a:latin typeface="Arial" panose="020B0604020202020204" pitchFamily="34" charset="0"/>
                        </a:rPr>
                        <a:t>21</a:t>
                      </a:r>
                    </a:p>
                  </a:txBody>
                  <a:tcPr marL="5572" marR="5572" marT="5572" marB="0" anchor="ctr">
                    <a:lnL>
                      <a:noFill/>
                    </a:lnL>
                    <a:lnR>
                      <a:noFill/>
                    </a:lnR>
                    <a:lnT>
                      <a:noFill/>
                    </a:lnT>
                    <a:lnB>
                      <a:noFill/>
                    </a:lnB>
                    <a:solidFill>
                      <a:srgbClr val="63BE7B"/>
                    </a:solidFill>
                  </a:tcPr>
                </a:tc>
                <a:extLst>
                  <a:ext uri="{0D108BD9-81ED-4DB2-BD59-A6C34878D82A}">
                    <a16:rowId xmlns:a16="http://schemas.microsoft.com/office/drawing/2014/main" val="417942062"/>
                  </a:ext>
                </a:extLst>
              </a:tr>
              <a:tr h="203589">
                <a:tc>
                  <a:txBody>
                    <a:bodyPr/>
                    <a:lstStyle/>
                    <a:p>
                      <a:pPr algn="l" fontAlgn="ctr"/>
                      <a:r>
                        <a:rPr lang="fr-FR" sz="800" b="0" i="0" u="sng" strike="noStrike">
                          <a:solidFill>
                            <a:srgbClr val="000000"/>
                          </a:solidFill>
                          <a:effectLst/>
                          <a:latin typeface="+mn-lt"/>
                        </a:rPr>
                        <a:t>Jayson Tatum</a:t>
                      </a:r>
                    </a:p>
                  </a:txBody>
                  <a:tcPr marL="5572" marR="5572" marT="5572" marB="0" anchor="ctr">
                    <a:lnL>
                      <a:noFill/>
                    </a:lnL>
                    <a:lnR>
                      <a:noFill/>
                    </a:lnR>
                    <a:lnT>
                      <a:noFill/>
                    </a:lnT>
                    <a:lnB>
                      <a:noFill/>
                    </a:lnB>
                    <a:solidFill>
                      <a:srgbClr val="F8F8F8"/>
                    </a:solidFill>
                  </a:tcPr>
                </a:tc>
                <a:tc>
                  <a:txBody>
                    <a:bodyPr/>
                    <a:lstStyle/>
                    <a:p>
                      <a:pPr algn="ctr" fontAlgn="ctr"/>
                      <a:r>
                        <a:rPr lang="fr-FR" sz="600" b="0" i="0" u="none" strike="noStrike">
                          <a:solidFill>
                            <a:srgbClr val="000000"/>
                          </a:solidFill>
                          <a:effectLst/>
                          <a:latin typeface="Arial" panose="020B0604020202020204" pitchFamily="34" charset="0"/>
                        </a:rPr>
                        <a:t>1930</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662</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45,2</a:t>
                      </a:r>
                    </a:p>
                  </a:txBody>
                  <a:tcPr marL="5572" marR="5572" marT="5572" marB="0" anchor="ctr">
                    <a:lnL>
                      <a:noFill/>
                    </a:lnL>
                    <a:lnR>
                      <a:noFill/>
                    </a:lnR>
                    <a:lnT>
                      <a:noFill/>
                    </a:lnT>
                    <a:lnB>
                      <a:noFill/>
                    </a:lnB>
                    <a:solidFill>
                      <a:srgbClr val="DBEFE2"/>
                    </a:solidFill>
                  </a:tcPr>
                </a:tc>
                <a:tc>
                  <a:txBody>
                    <a:bodyPr/>
                    <a:lstStyle/>
                    <a:p>
                      <a:pPr algn="ctr" fontAlgn="ctr"/>
                      <a:r>
                        <a:rPr lang="fr-FR" sz="600" b="0" i="0" u="none" strike="noStrike">
                          <a:solidFill>
                            <a:srgbClr val="000000"/>
                          </a:solidFill>
                          <a:effectLst/>
                          <a:latin typeface="Arial" panose="020B0604020202020204" pitchFamily="34" charset="0"/>
                        </a:rPr>
                        <a:t>34,3</a:t>
                      </a:r>
                    </a:p>
                  </a:txBody>
                  <a:tcPr marL="5572" marR="5572" marT="5572" marB="0" anchor="ctr">
                    <a:lnL>
                      <a:noFill/>
                    </a:lnL>
                    <a:lnR>
                      <a:noFill/>
                    </a:lnR>
                    <a:lnT>
                      <a:noFill/>
                    </a:lnT>
                    <a:lnB>
                      <a:noFill/>
                    </a:lnB>
                    <a:solidFill>
                      <a:srgbClr val="AADBB8"/>
                    </a:solidFill>
                  </a:tcPr>
                </a:tc>
                <a:tc>
                  <a:txBody>
                    <a:bodyPr/>
                    <a:lstStyle/>
                    <a:p>
                      <a:pPr algn="ctr" fontAlgn="ctr"/>
                      <a:r>
                        <a:rPr lang="fr-FR" sz="600" b="0" i="0" u="none" strike="noStrike">
                          <a:solidFill>
                            <a:srgbClr val="000000"/>
                          </a:solidFill>
                          <a:effectLst/>
                          <a:latin typeface="Arial" panose="020B0604020202020204" pitchFamily="34" charset="0"/>
                        </a:rPr>
                        <a:t>81,4</a:t>
                      </a:r>
                    </a:p>
                  </a:txBody>
                  <a:tcPr marL="5572" marR="5572" marT="5572" marB="0" anchor="ctr">
                    <a:lnL>
                      <a:noFill/>
                    </a:lnL>
                    <a:lnR>
                      <a:noFill/>
                    </a:lnR>
                    <a:lnT>
                      <a:noFill/>
                    </a:lnT>
                    <a:lnB>
                      <a:noFill/>
                    </a:lnB>
                    <a:solidFill>
                      <a:srgbClr val="9DD6AD"/>
                    </a:solidFill>
                  </a:tcPr>
                </a:tc>
                <a:tc>
                  <a:txBody>
                    <a:bodyPr/>
                    <a:lstStyle/>
                    <a:p>
                      <a:pPr algn="ctr" fontAlgn="ctr"/>
                      <a:r>
                        <a:rPr lang="fr-FR" sz="600" b="0" i="0" u="none" strike="noStrike">
                          <a:solidFill>
                            <a:srgbClr val="000000"/>
                          </a:solidFill>
                          <a:effectLst/>
                          <a:latin typeface="Arial" panose="020B0604020202020204" pitchFamily="34" charset="0"/>
                        </a:rPr>
                        <a:t>50</a:t>
                      </a:r>
                    </a:p>
                  </a:txBody>
                  <a:tcPr marL="5572" marR="5572" marT="5572" marB="0" anchor="ctr">
                    <a:lnL>
                      <a:noFill/>
                    </a:lnL>
                    <a:lnR>
                      <a:noFill/>
                    </a:lnR>
                    <a:lnT>
                      <a:noFill/>
                    </a:lnT>
                    <a:lnB>
                      <a:noFill/>
                    </a:lnB>
                    <a:solidFill>
                      <a:srgbClr val="E6F3EC"/>
                    </a:solidFill>
                  </a:tcPr>
                </a:tc>
                <a:tc>
                  <a:txBody>
                    <a:bodyPr/>
                    <a:lstStyle/>
                    <a:p>
                      <a:pPr algn="ctr" fontAlgn="ctr"/>
                      <a:r>
                        <a:rPr lang="fr-FR" sz="600" b="0" i="0" u="none" strike="noStrike">
                          <a:solidFill>
                            <a:srgbClr val="000000"/>
                          </a:solidFill>
                          <a:effectLst/>
                          <a:latin typeface="Arial" panose="020B0604020202020204" pitchFamily="34" charset="0"/>
                        </a:rPr>
                        <a:t>15,8</a:t>
                      </a:r>
                    </a:p>
                  </a:txBody>
                  <a:tcPr marL="5572" marR="5572" marT="5572" marB="0" anchor="ctr">
                    <a:lnL>
                      <a:noFill/>
                    </a:lnL>
                    <a:lnR>
                      <a:noFill/>
                    </a:lnR>
                    <a:lnT>
                      <a:noFill/>
                    </a:lnT>
                    <a:lnB>
                      <a:noFill/>
                    </a:lnB>
                    <a:solidFill>
                      <a:srgbClr val="DEF0E5"/>
                    </a:solidFill>
                  </a:tcPr>
                </a:tc>
                <a:extLst>
                  <a:ext uri="{0D108BD9-81ED-4DB2-BD59-A6C34878D82A}">
                    <a16:rowId xmlns:a16="http://schemas.microsoft.com/office/drawing/2014/main" val="2358808566"/>
                  </a:ext>
                </a:extLst>
              </a:tr>
              <a:tr h="203589">
                <a:tc>
                  <a:txBody>
                    <a:bodyPr/>
                    <a:lstStyle/>
                    <a:p>
                      <a:pPr algn="l" fontAlgn="ctr"/>
                      <a:r>
                        <a:rPr lang="fr-FR" sz="800" b="0" i="0" u="sng" strike="noStrike">
                          <a:solidFill>
                            <a:srgbClr val="000000"/>
                          </a:solidFill>
                          <a:effectLst/>
                          <a:latin typeface="+mn-lt"/>
                        </a:rPr>
                        <a:t>Devin Booker</a:t>
                      </a:r>
                    </a:p>
                  </a:txBody>
                  <a:tcPr marL="5572" marR="5572" marT="5572" marB="0" anchor="ctr">
                    <a:lnL>
                      <a:noFill/>
                    </a:lnL>
                    <a:lnR>
                      <a:noFill/>
                    </a:lnR>
                    <a:lnT>
                      <a:noFill/>
                    </a:lnT>
                    <a:lnB>
                      <a:noFill/>
                    </a:lnB>
                    <a:solidFill>
                      <a:srgbClr val="F8F8F8"/>
                    </a:solidFill>
                  </a:tcPr>
                </a:tc>
                <a:tc>
                  <a:txBody>
                    <a:bodyPr/>
                    <a:lstStyle/>
                    <a:p>
                      <a:pPr algn="ctr" fontAlgn="ctr"/>
                      <a:r>
                        <a:rPr lang="fr-FR" sz="600" b="0" i="0" u="none" strike="noStrike">
                          <a:solidFill>
                            <a:srgbClr val="000000"/>
                          </a:solidFill>
                          <a:effectLst/>
                          <a:latin typeface="Arial" panose="020B0604020202020204" pitchFamily="34" charset="0"/>
                        </a:rPr>
                        <a:t>1920</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653</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46,1</a:t>
                      </a:r>
                    </a:p>
                  </a:txBody>
                  <a:tcPr marL="5572" marR="5572" marT="5572" marB="0" anchor="ctr">
                    <a:lnL>
                      <a:noFill/>
                    </a:lnL>
                    <a:lnR>
                      <a:noFill/>
                    </a:lnR>
                    <a:lnT>
                      <a:noFill/>
                    </a:lnT>
                    <a:lnB>
                      <a:noFill/>
                    </a:lnB>
                    <a:solidFill>
                      <a:srgbClr val="D4ECDC"/>
                    </a:solidFill>
                  </a:tcPr>
                </a:tc>
                <a:tc>
                  <a:txBody>
                    <a:bodyPr/>
                    <a:lstStyle/>
                    <a:p>
                      <a:pPr algn="ctr" fontAlgn="ctr"/>
                      <a:r>
                        <a:rPr lang="fr-FR" sz="600" b="0" i="0" u="none" strike="noStrike" dirty="0">
                          <a:solidFill>
                            <a:srgbClr val="000000"/>
                          </a:solidFill>
                          <a:effectLst/>
                          <a:latin typeface="Arial" panose="020B0604020202020204" pitchFamily="34" charset="0"/>
                        </a:rPr>
                        <a:t>33,2</a:t>
                      </a:r>
                    </a:p>
                  </a:txBody>
                  <a:tcPr marL="5572" marR="5572" marT="5572" marB="0" anchor="ctr">
                    <a:lnL>
                      <a:noFill/>
                    </a:lnL>
                    <a:lnR>
                      <a:noFill/>
                    </a:lnR>
                    <a:lnT>
                      <a:noFill/>
                    </a:lnT>
                    <a:lnB>
                      <a:noFill/>
                    </a:lnB>
                    <a:solidFill>
                      <a:srgbClr val="B1DEBF"/>
                    </a:solidFill>
                  </a:tcPr>
                </a:tc>
                <a:tc>
                  <a:txBody>
                    <a:bodyPr/>
                    <a:lstStyle/>
                    <a:p>
                      <a:pPr algn="ctr" fontAlgn="ctr"/>
                      <a:r>
                        <a:rPr lang="fr-FR" sz="600" b="0" i="0" u="none" strike="noStrike">
                          <a:solidFill>
                            <a:srgbClr val="000000"/>
                          </a:solidFill>
                          <a:effectLst/>
                          <a:latin typeface="Arial" panose="020B0604020202020204" pitchFamily="34" charset="0"/>
                        </a:rPr>
                        <a:t>89,4</a:t>
                      </a:r>
                    </a:p>
                  </a:txBody>
                  <a:tcPr marL="5572" marR="5572" marT="5572" marB="0" anchor="ctr">
                    <a:lnL>
                      <a:noFill/>
                    </a:lnL>
                    <a:lnR>
                      <a:noFill/>
                    </a:lnR>
                    <a:lnT>
                      <a:noFill/>
                    </a:lnT>
                    <a:lnB>
                      <a:noFill/>
                    </a:lnB>
                    <a:solidFill>
                      <a:srgbClr val="76C68C"/>
                    </a:solidFill>
                  </a:tcPr>
                </a:tc>
                <a:tc>
                  <a:txBody>
                    <a:bodyPr/>
                    <a:lstStyle/>
                    <a:p>
                      <a:pPr algn="ctr" fontAlgn="ctr"/>
                      <a:r>
                        <a:rPr lang="fr-FR" sz="600" b="0" i="0" u="none" strike="noStrike">
                          <a:solidFill>
                            <a:srgbClr val="000000"/>
                          </a:solidFill>
                          <a:effectLst/>
                          <a:latin typeface="Arial" panose="020B0604020202020204" pitchFamily="34" charset="0"/>
                        </a:rPr>
                        <a:t>75</a:t>
                      </a:r>
                    </a:p>
                  </a:txBody>
                  <a:tcPr marL="5572" marR="5572" marT="5572" marB="0" anchor="ctr">
                    <a:lnL>
                      <a:noFill/>
                    </a:lnL>
                    <a:lnR>
                      <a:noFill/>
                    </a:lnR>
                    <a:lnT>
                      <a:noFill/>
                    </a:lnT>
                    <a:lnB>
                      <a:noFill/>
                    </a:lnB>
                    <a:solidFill>
                      <a:srgbClr val="D1EBDA"/>
                    </a:solidFill>
                  </a:tcPr>
                </a:tc>
                <a:tc>
                  <a:txBody>
                    <a:bodyPr/>
                    <a:lstStyle/>
                    <a:p>
                      <a:pPr algn="ctr" fontAlgn="ctr"/>
                      <a:r>
                        <a:rPr lang="fr-FR" sz="600" b="0" i="0" u="none" strike="noStrike">
                          <a:solidFill>
                            <a:srgbClr val="000000"/>
                          </a:solidFill>
                          <a:effectLst/>
                          <a:latin typeface="Arial" panose="020B0604020202020204" pitchFamily="34" charset="0"/>
                        </a:rPr>
                        <a:t>12,2</a:t>
                      </a:r>
                    </a:p>
                  </a:txBody>
                  <a:tcPr marL="5572" marR="5572" marT="5572" marB="0" anchor="ctr">
                    <a:lnL>
                      <a:noFill/>
                    </a:lnL>
                    <a:lnR>
                      <a:noFill/>
                    </a:lnR>
                    <a:lnT>
                      <a:noFill/>
                    </a:lnT>
                    <a:lnB>
                      <a:noFill/>
                    </a:lnB>
                    <a:solidFill>
                      <a:srgbClr val="F9989A"/>
                    </a:solidFill>
                  </a:tcPr>
                </a:tc>
                <a:extLst>
                  <a:ext uri="{0D108BD9-81ED-4DB2-BD59-A6C34878D82A}">
                    <a16:rowId xmlns:a16="http://schemas.microsoft.com/office/drawing/2014/main" val="677270400"/>
                  </a:ext>
                </a:extLst>
              </a:tr>
              <a:tr h="203589">
                <a:tc>
                  <a:txBody>
                    <a:bodyPr/>
                    <a:lstStyle/>
                    <a:p>
                      <a:pPr algn="l" fontAlgn="ctr"/>
                      <a:r>
                        <a:rPr lang="fr-FR" sz="800" b="0" i="0" u="sng" strike="noStrike">
                          <a:solidFill>
                            <a:srgbClr val="000000"/>
                          </a:solidFill>
                          <a:effectLst/>
                          <a:latin typeface="+mn-lt"/>
                        </a:rPr>
                        <a:t>Tyler Herro</a:t>
                      </a:r>
                    </a:p>
                  </a:txBody>
                  <a:tcPr marL="5572" marR="5572" marT="5572" marB="0" anchor="ctr">
                    <a:lnL>
                      <a:noFill/>
                    </a:lnL>
                    <a:lnR>
                      <a:noFill/>
                    </a:lnR>
                    <a:lnT>
                      <a:noFill/>
                    </a:lnT>
                    <a:lnB>
                      <a:noFill/>
                    </a:lnB>
                    <a:solidFill>
                      <a:srgbClr val="F8F8F8"/>
                    </a:solidFill>
                  </a:tcPr>
                </a:tc>
                <a:tc>
                  <a:txBody>
                    <a:bodyPr/>
                    <a:lstStyle/>
                    <a:p>
                      <a:pPr algn="ctr" fontAlgn="ctr"/>
                      <a:r>
                        <a:rPr lang="fr-FR" sz="600" b="0" i="0" u="none" strike="noStrike">
                          <a:solidFill>
                            <a:srgbClr val="000000"/>
                          </a:solidFill>
                          <a:effectLst/>
                          <a:latin typeface="Arial" panose="020B0604020202020204" pitchFamily="34" charset="0"/>
                        </a:rPr>
                        <a:t>1840</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655</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47,2</a:t>
                      </a:r>
                    </a:p>
                  </a:txBody>
                  <a:tcPr marL="5572" marR="5572" marT="5572" marB="0" anchor="ctr">
                    <a:lnL>
                      <a:noFill/>
                    </a:lnL>
                    <a:lnR>
                      <a:noFill/>
                    </a:lnR>
                    <a:lnT>
                      <a:noFill/>
                    </a:lnT>
                    <a:lnB>
                      <a:noFill/>
                    </a:lnB>
                    <a:solidFill>
                      <a:srgbClr val="CBE8D5"/>
                    </a:solidFill>
                  </a:tcPr>
                </a:tc>
                <a:tc>
                  <a:txBody>
                    <a:bodyPr/>
                    <a:lstStyle/>
                    <a:p>
                      <a:pPr algn="ctr" fontAlgn="ctr"/>
                      <a:r>
                        <a:rPr lang="fr-FR" sz="600" b="0" i="0" u="none" strike="noStrike">
                          <a:solidFill>
                            <a:srgbClr val="000000"/>
                          </a:solidFill>
                          <a:effectLst/>
                          <a:latin typeface="Arial" panose="020B0604020202020204" pitchFamily="34" charset="0"/>
                        </a:rPr>
                        <a:t>37,5</a:t>
                      </a:r>
                    </a:p>
                  </a:txBody>
                  <a:tcPr marL="5572" marR="5572" marT="5572" marB="0" anchor="ctr">
                    <a:lnL>
                      <a:noFill/>
                    </a:lnL>
                    <a:lnR>
                      <a:noFill/>
                    </a:lnR>
                    <a:lnT>
                      <a:noFill/>
                    </a:lnT>
                    <a:lnB>
                      <a:noFill/>
                    </a:lnB>
                    <a:solidFill>
                      <a:srgbClr val="94D2A5"/>
                    </a:solidFill>
                  </a:tcPr>
                </a:tc>
                <a:tc>
                  <a:txBody>
                    <a:bodyPr/>
                    <a:lstStyle/>
                    <a:p>
                      <a:pPr algn="ctr" fontAlgn="ctr"/>
                      <a:r>
                        <a:rPr lang="fr-FR" sz="600" b="0" i="0" u="none" strike="noStrike">
                          <a:solidFill>
                            <a:srgbClr val="000000"/>
                          </a:solidFill>
                          <a:effectLst/>
                          <a:latin typeface="Arial" panose="020B0604020202020204" pitchFamily="34" charset="0"/>
                        </a:rPr>
                        <a:t>87,8</a:t>
                      </a:r>
                    </a:p>
                  </a:txBody>
                  <a:tcPr marL="5572" marR="5572" marT="5572" marB="0" anchor="ctr">
                    <a:lnL>
                      <a:noFill/>
                    </a:lnL>
                    <a:lnR>
                      <a:noFill/>
                    </a:lnR>
                    <a:lnT>
                      <a:noFill/>
                    </a:lnT>
                    <a:lnB>
                      <a:noFill/>
                    </a:lnB>
                    <a:solidFill>
                      <a:srgbClr val="7EC992"/>
                    </a:solidFill>
                  </a:tcPr>
                </a:tc>
                <a:tc>
                  <a:txBody>
                    <a:bodyPr/>
                    <a:lstStyle/>
                    <a:p>
                      <a:pPr algn="ctr" fontAlgn="ctr"/>
                      <a:r>
                        <a:rPr lang="fr-FR" sz="600" b="0" i="0" u="none" strike="noStrike">
                          <a:solidFill>
                            <a:srgbClr val="000000"/>
                          </a:solidFill>
                          <a:effectLst/>
                          <a:latin typeface="Arial" panose="020B0604020202020204" pitchFamily="34" charset="0"/>
                        </a:rPr>
                        <a:t>39</a:t>
                      </a:r>
                    </a:p>
                  </a:txBody>
                  <a:tcPr marL="5572" marR="5572" marT="5572" marB="0" anchor="ctr">
                    <a:lnL>
                      <a:noFill/>
                    </a:lnL>
                    <a:lnR>
                      <a:noFill/>
                    </a:lnR>
                    <a:lnT>
                      <a:noFill/>
                    </a:lnT>
                    <a:lnB>
                      <a:noFill/>
                    </a:lnB>
                    <a:solidFill>
                      <a:srgbClr val="EFF7F3"/>
                    </a:solidFill>
                  </a:tcPr>
                </a:tc>
                <a:tc>
                  <a:txBody>
                    <a:bodyPr/>
                    <a:lstStyle/>
                    <a:p>
                      <a:pPr algn="ctr" fontAlgn="ctr"/>
                      <a:r>
                        <a:rPr lang="fr-FR" sz="600" b="0" i="0" u="none" strike="noStrike">
                          <a:solidFill>
                            <a:srgbClr val="000000"/>
                          </a:solidFill>
                          <a:effectLst/>
                          <a:latin typeface="Arial" panose="020B0604020202020204" pitchFamily="34" charset="0"/>
                        </a:rPr>
                        <a:t>13,9</a:t>
                      </a:r>
                    </a:p>
                  </a:txBody>
                  <a:tcPr marL="5572" marR="5572" marT="5572" marB="0" anchor="ctr">
                    <a:lnL>
                      <a:noFill/>
                    </a:lnL>
                    <a:lnR>
                      <a:noFill/>
                    </a:lnR>
                    <a:lnT>
                      <a:noFill/>
                    </a:lnT>
                    <a:lnB>
                      <a:noFill/>
                    </a:lnB>
                    <a:solidFill>
                      <a:srgbClr val="FBE2E4"/>
                    </a:solidFill>
                  </a:tcPr>
                </a:tc>
                <a:extLst>
                  <a:ext uri="{0D108BD9-81ED-4DB2-BD59-A6C34878D82A}">
                    <a16:rowId xmlns:a16="http://schemas.microsoft.com/office/drawing/2014/main" val="674653294"/>
                  </a:ext>
                </a:extLst>
              </a:tr>
              <a:tr h="203589">
                <a:tc>
                  <a:txBody>
                    <a:bodyPr/>
                    <a:lstStyle/>
                    <a:p>
                      <a:pPr algn="l" fontAlgn="ctr"/>
                      <a:r>
                        <a:rPr lang="fr-FR" sz="800" b="0" i="0" u="sng" strike="noStrike">
                          <a:solidFill>
                            <a:srgbClr val="000000"/>
                          </a:solidFill>
                          <a:effectLst/>
                          <a:latin typeface="+mn-lt"/>
                        </a:rPr>
                        <a:t>Trae Young</a:t>
                      </a:r>
                    </a:p>
                  </a:txBody>
                  <a:tcPr marL="5572" marR="5572" marT="5572" marB="0" anchor="ctr">
                    <a:lnL>
                      <a:noFill/>
                    </a:lnL>
                    <a:lnR>
                      <a:noFill/>
                    </a:lnR>
                    <a:lnT>
                      <a:noFill/>
                    </a:lnT>
                    <a:lnB>
                      <a:noFill/>
                    </a:lnB>
                    <a:solidFill>
                      <a:srgbClr val="F8F8F8"/>
                    </a:solidFill>
                  </a:tcPr>
                </a:tc>
                <a:tc>
                  <a:txBody>
                    <a:bodyPr/>
                    <a:lstStyle/>
                    <a:p>
                      <a:pPr algn="ctr" fontAlgn="ctr"/>
                      <a:r>
                        <a:rPr lang="fr-FR" sz="600" b="0" i="0" u="none" strike="noStrike">
                          <a:solidFill>
                            <a:srgbClr val="000000"/>
                          </a:solidFill>
                          <a:effectLst/>
                          <a:latin typeface="Arial" panose="020B0604020202020204" pitchFamily="34" charset="0"/>
                        </a:rPr>
                        <a:t>1839</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562</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41,1</a:t>
                      </a:r>
                    </a:p>
                  </a:txBody>
                  <a:tcPr marL="5572" marR="5572" marT="5572" marB="0" anchor="ctr">
                    <a:lnL>
                      <a:noFill/>
                    </a:lnL>
                    <a:lnR>
                      <a:noFill/>
                    </a:lnR>
                    <a:lnT>
                      <a:noFill/>
                    </a:lnT>
                    <a:lnB>
                      <a:noFill/>
                    </a:lnB>
                    <a:solidFill>
                      <a:srgbClr val="FCFCFF"/>
                    </a:solidFill>
                  </a:tcPr>
                </a:tc>
                <a:tc>
                  <a:txBody>
                    <a:bodyPr/>
                    <a:lstStyle/>
                    <a:p>
                      <a:pPr algn="ctr" fontAlgn="ctr"/>
                      <a:r>
                        <a:rPr lang="fr-FR" sz="600" b="0" i="0" u="none" strike="noStrike">
                          <a:solidFill>
                            <a:srgbClr val="000000"/>
                          </a:solidFill>
                          <a:effectLst/>
                          <a:latin typeface="Arial" panose="020B0604020202020204" pitchFamily="34" charset="0"/>
                        </a:rPr>
                        <a:t>34</a:t>
                      </a:r>
                    </a:p>
                  </a:txBody>
                  <a:tcPr marL="5572" marR="5572" marT="5572" marB="0" anchor="ctr">
                    <a:lnL>
                      <a:noFill/>
                    </a:lnL>
                    <a:lnR>
                      <a:noFill/>
                    </a:lnR>
                    <a:lnT>
                      <a:noFill/>
                    </a:lnT>
                    <a:lnB>
                      <a:noFill/>
                    </a:lnB>
                    <a:solidFill>
                      <a:srgbClr val="ACDCBA"/>
                    </a:solidFill>
                  </a:tcPr>
                </a:tc>
                <a:tc>
                  <a:txBody>
                    <a:bodyPr/>
                    <a:lstStyle/>
                    <a:p>
                      <a:pPr algn="ctr" fontAlgn="ctr"/>
                      <a:r>
                        <a:rPr lang="fr-FR" sz="600" b="0" i="0" u="none" strike="noStrike">
                          <a:solidFill>
                            <a:srgbClr val="000000"/>
                          </a:solidFill>
                          <a:effectLst/>
                          <a:latin typeface="Arial" panose="020B0604020202020204" pitchFamily="34" charset="0"/>
                        </a:rPr>
                        <a:t>87,5</a:t>
                      </a:r>
                    </a:p>
                  </a:txBody>
                  <a:tcPr marL="5572" marR="5572" marT="5572" marB="0" anchor="ctr">
                    <a:lnL>
                      <a:noFill/>
                    </a:lnL>
                    <a:lnR>
                      <a:noFill/>
                    </a:lnR>
                    <a:lnT>
                      <a:noFill/>
                    </a:lnT>
                    <a:lnB>
                      <a:noFill/>
                    </a:lnB>
                    <a:solidFill>
                      <a:srgbClr val="80CA94"/>
                    </a:solidFill>
                  </a:tcPr>
                </a:tc>
                <a:tc>
                  <a:txBody>
                    <a:bodyPr/>
                    <a:lstStyle/>
                    <a:p>
                      <a:pPr algn="ctr" fontAlgn="ctr"/>
                      <a:r>
                        <a:rPr lang="fr-FR" sz="600" b="0" i="0" u="none" strike="noStrike">
                          <a:solidFill>
                            <a:srgbClr val="000000"/>
                          </a:solidFill>
                          <a:effectLst/>
                          <a:latin typeface="Arial" panose="020B0604020202020204" pitchFamily="34" charset="0"/>
                        </a:rPr>
                        <a:t>38</a:t>
                      </a:r>
                    </a:p>
                  </a:txBody>
                  <a:tcPr marL="5572" marR="5572" marT="5572" marB="0" anchor="ctr">
                    <a:lnL>
                      <a:noFill/>
                    </a:lnL>
                    <a:lnR>
                      <a:noFill/>
                    </a:lnR>
                    <a:lnT>
                      <a:noFill/>
                    </a:lnT>
                    <a:lnB>
                      <a:noFill/>
                    </a:lnB>
                    <a:solidFill>
                      <a:srgbClr val="EFF7F4"/>
                    </a:solidFill>
                  </a:tcPr>
                </a:tc>
                <a:tc>
                  <a:txBody>
                    <a:bodyPr/>
                    <a:lstStyle/>
                    <a:p>
                      <a:pPr algn="ctr" fontAlgn="ctr"/>
                      <a:r>
                        <a:rPr lang="fr-FR" sz="600" b="0" i="0" u="none" strike="noStrike">
                          <a:solidFill>
                            <a:srgbClr val="000000"/>
                          </a:solidFill>
                          <a:effectLst/>
                          <a:latin typeface="Arial" panose="020B0604020202020204" pitchFamily="34" charset="0"/>
                        </a:rPr>
                        <a:t>12,9</a:t>
                      </a:r>
                    </a:p>
                  </a:txBody>
                  <a:tcPr marL="5572" marR="5572" marT="5572" marB="0" anchor="ctr">
                    <a:lnL>
                      <a:noFill/>
                    </a:lnL>
                    <a:lnR>
                      <a:noFill/>
                    </a:lnR>
                    <a:lnT>
                      <a:noFill/>
                    </a:lnT>
                    <a:lnB>
                      <a:noFill/>
                    </a:lnB>
                    <a:solidFill>
                      <a:srgbClr val="FAB6B9"/>
                    </a:solidFill>
                  </a:tcPr>
                </a:tc>
                <a:extLst>
                  <a:ext uri="{0D108BD9-81ED-4DB2-BD59-A6C34878D82A}">
                    <a16:rowId xmlns:a16="http://schemas.microsoft.com/office/drawing/2014/main" val="2291661010"/>
                  </a:ext>
                </a:extLst>
              </a:tr>
              <a:tr h="203589">
                <a:tc>
                  <a:txBody>
                    <a:bodyPr/>
                    <a:lstStyle/>
                    <a:p>
                      <a:pPr algn="l" fontAlgn="ctr"/>
                      <a:r>
                        <a:rPr lang="fr-FR" sz="800" b="0" i="0" u="sng" strike="noStrike">
                          <a:solidFill>
                            <a:srgbClr val="000000"/>
                          </a:solidFill>
                          <a:effectLst/>
                          <a:latin typeface="+mn-lt"/>
                        </a:rPr>
                        <a:t>Cade Cunningham</a:t>
                      </a:r>
                    </a:p>
                  </a:txBody>
                  <a:tcPr marL="5572" marR="5572" marT="5572" marB="0" anchor="ctr">
                    <a:lnL>
                      <a:noFill/>
                    </a:lnL>
                    <a:lnR>
                      <a:noFill/>
                    </a:lnR>
                    <a:lnT>
                      <a:noFill/>
                    </a:lnT>
                    <a:lnB>
                      <a:noFill/>
                    </a:lnB>
                    <a:solidFill>
                      <a:srgbClr val="F8F8F8"/>
                    </a:solidFill>
                  </a:tcPr>
                </a:tc>
                <a:tc>
                  <a:txBody>
                    <a:bodyPr/>
                    <a:lstStyle/>
                    <a:p>
                      <a:pPr algn="ctr" fontAlgn="ctr"/>
                      <a:r>
                        <a:rPr lang="fr-FR" sz="600" b="0" i="0" u="none" strike="noStrike">
                          <a:solidFill>
                            <a:srgbClr val="000000"/>
                          </a:solidFill>
                          <a:effectLst/>
                          <a:latin typeface="Arial" panose="020B0604020202020204" pitchFamily="34" charset="0"/>
                        </a:rPr>
                        <a:t>1827</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686</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46,9</a:t>
                      </a:r>
                    </a:p>
                  </a:txBody>
                  <a:tcPr marL="5572" marR="5572" marT="5572" marB="0" anchor="ctr">
                    <a:lnL>
                      <a:noFill/>
                    </a:lnL>
                    <a:lnR>
                      <a:noFill/>
                    </a:lnR>
                    <a:lnT>
                      <a:noFill/>
                    </a:lnT>
                    <a:lnB>
                      <a:noFill/>
                    </a:lnB>
                    <a:solidFill>
                      <a:srgbClr val="CDE9D7"/>
                    </a:solidFill>
                  </a:tcPr>
                </a:tc>
                <a:tc>
                  <a:txBody>
                    <a:bodyPr/>
                    <a:lstStyle/>
                    <a:p>
                      <a:pPr algn="ctr" fontAlgn="ctr"/>
                      <a:r>
                        <a:rPr lang="fr-FR" sz="600" b="0" i="0" u="none" strike="noStrike">
                          <a:solidFill>
                            <a:srgbClr val="000000"/>
                          </a:solidFill>
                          <a:effectLst/>
                          <a:latin typeface="Arial" panose="020B0604020202020204" pitchFamily="34" charset="0"/>
                        </a:rPr>
                        <a:t>35,6</a:t>
                      </a:r>
                    </a:p>
                  </a:txBody>
                  <a:tcPr marL="5572" marR="5572" marT="5572" marB="0" anchor="ctr">
                    <a:lnL>
                      <a:noFill/>
                    </a:lnL>
                    <a:lnR>
                      <a:noFill/>
                    </a:lnR>
                    <a:lnT>
                      <a:noFill/>
                    </a:lnT>
                    <a:lnB>
                      <a:noFill/>
                    </a:lnB>
                    <a:solidFill>
                      <a:srgbClr val="A1D7B1"/>
                    </a:solidFill>
                  </a:tcPr>
                </a:tc>
                <a:tc>
                  <a:txBody>
                    <a:bodyPr/>
                    <a:lstStyle/>
                    <a:p>
                      <a:pPr algn="ctr" fontAlgn="ctr"/>
                      <a:r>
                        <a:rPr lang="fr-FR" sz="600" b="0" i="0" u="none" strike="noStrike">
                          <a:solidFill>
                            <a:srgbClr val="000000"/>
                          </a:solidFill>
                          <a:effectLst/>
                          <a:latin typeface="Arial" panose="020B0604020202020204" pitchFamily="34" charset="0"/>
                        </a:rPr>
                        <a:t>84,6</a:t>
                      </a:r>
                    </a:p>
                  </a:txBody>
                  <a:tcPr marL="5572" marR="5572" marT="5572" marB="0" anchor="ctr">
                    <a:lnL>
                      <a:noFill/>
                    </a:lnL>
                    <a:lnR>
                      <a:noFill/>
                    </a:lnR>
                    <a:lnT>
                      <a:noFill/>
                    </a:lnT>
                    <a:lnB>
                      <a:noFill/>
                    </a:lnB>
                    <a:solidFill>
                      <a:srgbClr val="8ED0A0"/>
                    </a:solidFill>
                  </a:tcPr>
                </a:tc>
                <a:tc>
                  <a:txBody>
                    <a:bodyPr/>
                    <a:lstStyle/>
                    <a:p>
                      <a:pPr algn="ctr" fontAlgn="ctr"/>
                      <a:r>
                        <a:rPr lang="fr-FR" sz="600" b="0" i="0" u="none" strike="noStrike">
                          <a:solidFill>
                            <a:srgbClr val="000000"/>
                          </a:solidFill>
                          <a:effectLst/>
                          <a:latin typeface="Arial" panose="020B0604020202020204" pitchFamily="34" charset="0"/>
                        </a:rPr>
                        <a:t>56</a:t>
                      </a:r>
                    </a:p>
                  </a:txBody>
                  <a:tcPr marL="5572" marR="5572" marT="5572" marB="0" anchor="ctr">
                    <a:lnL>
                      <a:noFill/>
                    </a:lnL>
                    <a:lnR>
                      <a:noFill/>
                    </a:lnR>
                    <a:lnT>
                      <a:noFill/>
                    </a:lnT>
                    <a:lnB>
                      <a:noFill/>
                    </a:lnB>
                    <a:solidFill>
                      <a:srgbClr val="E1F1E7"/>
                    </a:solidFill>
                  </a:tcPr>
                </a:tc>
                <a:tc>
                  <a:txBody>
                    <a:bodyPr/>
                    <a:lstStyle/>
                    <a:p>
                      <a:pPr algn="ctr" fontAlgn="ctr"/>
                      <a:r>
                        <a:rPr lang="fr-FR" sz="600" b="0" i="0" u="none" strike="noStrike">
                          <a:solidFill>
                            <a:srgbClr val="000000"/>
                          </a:solidFill>
                          <a:effectLst/>
                          <a:latin typeface="Arial" panose="020B0604020202020204" pitchFamily="34" charset="0"/>
                        </a:rPr>
                        <a:t>15,2</a:t>
                      </a:r>
                    </a:p>
                  </a:txBody>
                  <a:tcPr marL="5572" marR="5572" marT="5572" marB="0" anchor="ctr">
                    <a:lnL>
                      <a:noFill/>
                    </a:lnL>
                    <a:lnR>
                      <a:noFill/>
                    </a:lnR>
                    <a:lnT>
                      <a:noFill/>
                    </a:lnT>
                    <a:lnB>
                      <a:noFill/>
                    </a:lnB>
                    <a:solidFill>
                      <a:srgbClr val="ECF6F1"/>
                    </a:solidFill>
                  </a:tcPr>
                </a:tc>
                <a:extLst>
                  <a:ext uri="{0D108BD9-81ED-4DB2-BD59-A6C34878D82A}">
                    <a16:rowId xmlns:a16="http://schemas.microsoft.com/office/drawing/2014/main" val="1799213051"/>
                  </a:ext>
                </a:extLst>
              </a:tr>
              <a:tr h="203589">
                <a:tc>
                  <a:txBody>
                    <a:bodyPr/>
                    <a:lstStyle/>
                    <a:p>
                      <a:pPr algn="l" fontAlgn="ctr"/>
                      <a:r>
                        <a:rPr lang="fr-FR" sz="800" b="0" i="0" u="sng" strike="noStrike">
                          <a:solidFill>
                            <a:srgbClr val="000000"/>
                          </a:solidFill>
                          <a:effectLst/>
                          <a:latin typeface="+mn-lt"/>
                        </a:rPr>
                        <a:t>James Harden</a:t>
                      </a:r>
                    </a:p>
                  </a:txBody>
                  <a:tcPr marL="5572" marR="5572" marT="5572" marB="0" anchor="ctr">
                    <a:lnL>
                      <a:noFill/>
                    </a:lnL>
                    <a:lnR>
                      <a:noFill/>
                    </a:lnR>
                    <a:lnT>
                      <a:noFill/>
                    </a:lnT>
                    <a:lnB>
                      <a:noFill/>
                    </a:lnB>
                    <a:solidFill>
                      <a:srgbClr val="F8F8F8"/>
                    </a:solidFill>
                  </a:tcPr>
                </a:tc>
                <a:tc>
                  <a:txBody>
                    <a:bodyPr/>
                    <a:lstStyle/>
                    <a:p>
                      <a:pPr algn="ctr" fontAlgn="ctr"/>
                      <a:r>
                        <a:rPr lang="fr-FR" sz="600" b="0" i="0" u="none" strike="noStrike">
                          <a:solidFill>
                            <a:srgbClr val="000000"/>
                          </a:solidFill>
                          <a:effectLst/>
                          <a:latin typeface="Arial" panose="020B0604020202020204" pitchFamily="34" charset="0"/>
                        </a:rPr>
                        <a:t>1801</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529</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41</a:t>
                      </a:r>
                    </a:p>
                  </a:txBody>
                  <a:tcPr marL="5572" marR="5572" marT="5572" marB="0" anchor="ctr">
                    <a:lnL>
                      <a:noFill/>
                    </a:lnL>
                    <a:lnR>
                      <a:noFill/>
                    </a:lnR>
                    <a:lnT>
                      <a:noFill/>
                    </a:lnT>
                    <a:lnB>
                      <a:noFill/>
                    </a:lnB>
                    <a:solidFill>
                      <a:srgbClr val="FCFCFF"/>
                    </a:solidFill>
                  </a:tcPr>
                </a:tc>
                <a:tc>
                  <a:txBody>
                    <a:bodyPr/>
                    <a:lstStyle/>
                    <a:p>
                      <a:pPr algn="ctr" fontAlgn="ctr"/>
                      <a:r>
                        <a:rPr lang="fr-FR" sz="600" b="0" i="0" u="none" strike="noStrike">
                          <a:solidFill>
                            <a:srgbClr val="000000"/>
                          </a:solidFill>
                          <a:effectLst/>
                          <a:latin typeface="Arial" panose="020B0604020202020204" pitchFamily="34" charset="0"/>
                        </a:rPr>
                        <a:t>35,2</a:t>
                      </a:r>
                    </a:p>
                  </a:txBody>
                  <a:tcPr marL="5572" marR="5572" marT="5572" marB="0" anchor="ctr">
                    <a:lnL>
                      <a:noFill/>
                    </a:lnL>
                    <a:lnR>
                      <a:noFill/>
                    </a:lnR>
                    <a:lnT>
                      <a:noFill/>
                    </a:lnT>
                    <a:lnB>
                      <a:noFill/>
                    </a:lnB>
                    <a:solidFill>
                      <a:srgbClr val="A4D9B3"/>
                    </a:solidFill>
                  </a:tcPr>
                </a:tc>
                <a:tc>
                  <a:txBody>
                    <a:bodyPr/>
                    <a:lstStyle/>
                    <a:p>
                      <a:pPr algn="ctr" fontAlgn="ctr"/>
                      <a:r>
                        <a:rPr lang="fr-FR" sz="600" b="0" i="0" u="none" strike="noStrike">
                          <a:solidFill>
                            <a:srgbClr val="000000"/>
                          </a:solidFill>
                          <a:effectLst/>
                          <a:latin typeface="Arial" panose="020B0604020202020204" pitchFamily="34" charset="0"/>
                        </a:rPr>
                        <a:t>87,4</a:t>
                      </a:r>
                    </a:p>
                  </a:txBody>
                  <a:tcPr marL="5572" marR="5572" marT="5572" marB="0" anchor="ctr">
                    <a:lnL>
                      <a:noFill/>
                    </a:lnL>
                    <a:lnR>
                      <a:noFill/>
                    </a:lnR>
                    <a:lnT>
                      <a:noFill/>
                    </a:lnT>
                    <a:lnB>
                      <a:noFill/>
                    </a:lnB>
                    <a:solidFill>
                      <a:srgbClr val="80CA94"/>
                    </a:solidFill>
                  </a:tcPr>
                </a:tc>
                <a:tc>
                  <a:txBody>
                    <a:bodyPr/>
                    <a:lstStyle/>
                    <a:p>
                      <a:pPr algn="ctr" fontAlgn="ctr"/>
                      <a:r>
                        <a:rPr lang="fr-FR" sz="600" b="0" i="0" u="none" strike="noStrike">
                          <a:solidFill>
                            <a:srgbClr val="000000"/>
                          </a:solidFill>
                          <a:effectLst/>
                          <a:latin typeface="Arial" panose="020B0604020202020204" pitchFamily="34" charset="0"/>
                        </a:rPr>
                        <a:t>55</a:t>
                      </a:r>
                    </a:p>
                  </a:txBody>
                  <a:tcPr marL="5572" marR="5572" marT="5572" marB="0" anchor="ctr">
                    <a:lnL>
                      <a:noFill/>
                    </a:lnL>
                    <a:lnR>
                      <a:noFill/>
                    </a:lnR>
                    <a:lnT>
                      <a:noFill/>
                    </a:lnT>
                    <a:lnB>
                      <a:noFill/>
                    </a:lnB>
                    <a:solidFill>
                      <a:srgbClr val="E1F2E8"/>
                    </a:solidFill>
                  </a:tcPr>
                </a:tc>
                <a:tc>
                  <a:txBody>
                    <a:bodyPr/>
                    <a:lstStyle/>
                    <a:p>
                      <a:pPr algn="ctr" fontAlgn="ctr"/>
                      <a:r>
                        <a:rPr lang="fr-FR" sz="600" b="0" i="0" u="none" strike="noStrike">
                          <a:solidFill>
                            <a:srgbClr val="000000"/>
                          </a:solidFill>
                          <a:effectLst/>
                          <a:latin typeface="Arial" panose="020B0604020202020204" pitchFamily="34" charset="0"/>
                        </a:rPr>
                        <a:t>14,5</a:t>
                      </a:r>
                    </a:p>
                  </a:txBody>
                  <a:tcPr marL="5572" marR="5572" marT="5572" marB="0" anchor="ctr">
                    <a:lnL>
                      <a:noFill/>
                    </a:lnL>
                    <a:lnR>
                      <a:noFill/>
                    </a:lnR>
                    <a:lnT>
                      <a:noFill/>
                    </a:lnT>
                    <a:lnB>
                      <a:noFill/>
                    </a:lnB>
                    <a:solidFill>
                      <a:srgbClr val="FCFCFF"/>
                    </a:solidFill>
                  </a:tcPr>
                </a:tc>
                <a:extLst>
                  <a:ext uri="{0D108BD9-81ED-4DB2-BD59-A6C34878D82A}">
                    <a16:rowId xmlns:a16="http://schemas.microsoft.com/office/drawing/2014/main" val="1886216331"/>
                  </a:ext>
                </a:extLst>
              </a:tr>
              <a:tr h="243174">
                <a:tc>
                  <a:txBody>
                    <a:bodyPr/>
                    <a:lstStyle/>
                    <a:p>
                      <a:pPr algn="l" fontAlgn="ctr"/>
                      <a:r>
                        <a:rPr lang="fr-FR" sz="800" b="0" i="0" u="sng" strike="noStrike">
                          <a:solidFill>
                            <a:srgbClr val="000000"/>
                          </a:solidFill>
                          <a:effectLst/>
                          <a:latin typeface="+mn-lt"/>
                        </a:rPr>
                        <a:t>Karl-Anthony Towns</a:t>
                      </a:r>
                    </a:p>
                  </a:txBody>
                  <a:tcPr marL="5572" marR="5572" marT="5572" marB="0" anchor="ctr">
                    <a:lnL>
                      <a:noFill/>
                    </a:lnL>
                    <a:lnR>
                      <a:noFill/>
                    </a:lnR>
                    <a:lnT>
                      <a:noFill/>
                    </a:lnT>
                    <a:lnB>
                      <a:noFill/>
                    </a:lnB>
                    <a:solidFill>
                      <a:srgbClr val="F8F8F8"/>
                    </a:solidFill>
                  </a:tcPr>
                </a:tc>
                <a:tc>
                  <a:txBody>
                    <a:bodyPr/>
                    <a:lstStyle/>
                    <a:p>
                      <a:pPr algn="ctr" fontAlgn="ctr"/>
                      <a:r>
                        <a:rPr lang="fr-FR" sz="600" b="0" i="0" u="none" strike="noStrike">
                          <a:solidFill>
                            <a:srgbClr val="000000"/>
                          </a:solidFill>
                          <a:effectLst/>
                          <a:latin typeface="Arial" panose="020B0604020202020204" pitchFamily="34" charset="0"/>
                        </a:rPr>
                        <a:t>1757</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641</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52,6</a:t>
                      </a:r>
                    </a:p>
                  </a:txBody>
                  <a:tcPr marL="5572" marR="5572" marT="5572" marB="0" anchor="ctr">
                    <a:lnL>
                      <a:noFill/>
                    </a:lnL>
                    <a:lnR>
                      <a:noFill/>
                    </a:lnR>
                    <a:lnT>
                      <a:noFill/>
                    </a:lnT>
                    <a:lnB>
                      <a:noFill/>
                    </a:lnB>
                    <a:solidFill>
                      <a:srgbClr val="A0D7AF"/>
                    </a:solidFill>
                  </a:tcPr>
                </a:tc>
                <a:tc>
                  <a:txBody>
                    <a:bodyPr/>
                    <a:lstStyle/>
                    <a:p>
                      <a:pPr algn="ctr" fontAlgn="ctr"/>
                      <a:r>
                        <a:rPr lang="fr-FR" sz="600" b="0" i="0" u="none" strike="noStrike">
                          <a:solidFill>
                            <a:srgbClr val="000000"/>
                          </a:solidFill>
                          <a:effectLst/>
                          <a:latin typeface="Arial" panose="020B0604020202020204" pitchFamily="34" charset="0"/>
                        </a:rPr>
                        <a:t>42</a:t>
                      </a:r>
                    </a:p>
                  </a:txBody>
                  <a:tcPr marL="5572" marR="5572" marT="5572" marB="0" anchor="ctr">
                    <a:lnL>
                      <a:noFill/>
                    </a:lnL>
                    <a:lnR>
                      <a:noFill/>
                    </a:lnR>
                    <a:lnT>
                      <a:noFill/>
                    </a:lnT>
                    <a:lnB>
                      <a:noFill/>
                    </a:lnB>
                    <a:solidFill>
                      <a:srgbClr val="75C68B"/>
                    </a:solidFill>
                  </a:tcPr>
                </a:tc>
                <a:tc>
                  <a:txBody>
                    <a:bodyPr/>
                    <a:lstStyle/>
                    <a:p>
                      <a:pPr algn="ctr" fontAlgn="ctr"/>
                      <a:r>
                        <a:rPr lang="fr-FR" sz="600" b="0" i="0" u="none" strike="noStrike">
                          <a:solidFill>
                            <a:srgbClr val="000000"/>
                          </a:solidFill>
                          <a:effectLst/>
                          <a:latin typeface="Arial" panose="020B0604020202020204" pitchFamily="34" charset="0"/>
                        </a:rPr>
                        <a:t>82,9</a:t>
                      </a:r>
                    </a:p>
                  </a:txBody>
                  <a:tcPr marL="5572" marR="5572" marT="5572" marB="0" anchor="ctr">
                    <a:lnL>
                      <a:noFill/>
                    </a:lnL>
                    <a:lnR>
                      <a:noFill/>
                    </a:lnR>
                    <a:lnT>
                      <a:noFill/>
                    </a:lnT>
                    <a:lnB>
                      <a:noFill/>
                    </a:lnB>
                    <a:solidFill>
                      <a:srgbClr val="96D3A7"/>
                    </a:solidFill>
                  </a:tcPr>
                </a:tc>
                <a:tc>
                  <a:txBody>
                    <a:bodyPr/>
                    <a:lstStyle/>
                    <a:p>
                      <a:pPr algn="ctr" fontAlgn="ctr"/>
                      <a:r>
                        <a:rPr lang="fr-FR" sz="600" b="0" i="0" u="none" strike="noStrike" dirty="0">
                          <a:solidFill>
                            <a:srgbClr val="000000"/>
                          </a:solidFill>
                          <a:effectLst/>
                          <a:latin typeface="Arial" panose="020B0604020202020204" pitchFamily="34" charset="0"/>
                        </a:rPr>
                        <a:t>209</a:t>
                      </a:r>
                    </a:p>
                  </a:txBody>
                  <a:tcPr marL="5572" marR="5572" marT="5572" marB="0" anchor="ctr">
                    <a:lnL>
                      <a:noFill/>
                    </a:lnL>
                    <a:lnR>
                      <a:noFill/>
                    </a:lnR>
                    <a:lnT>
                      <a:noFill/>
                    </a:lnT>
                    <a:lnB>
                      <a:noFill/>
                    </a:lnB>
                    <a:solidFill>
                      <a:srgbClr val="63BE7B"/>
                    </a:solidFill>
                  </a:tcPr>
                </a:tc>
                <a:tc>
                  <a:txBody>
                    <a:bodyPr/>
                    <a:lstStyle/>
                    <a:p>
                      <a:pPr algn="ctr" fontAlgn="ctr"/>
                      <a:r>
                        <a:rPr lang="fr-FR" sz="600" b="0" i="0" u="none" strike="noStrike">
                          <a:solidFill>
                            <a:srgbClr val="000000"/>
                          </a:solidFill>
                          <a:effectLst/>
                          <a:latin typeface="Arial" panose="020B0604020202020204" pitchFamily="34" charset="0"/>
                        </a:rPr>
                        <a:t>16,1</a:t>
                      </a:r>
                    </a:p>
                  </a:txBody>
                  <a:tcPr marL="5572" marR="5572" marT="5572" marB="0" anchor="ctr">
                    <a:lnL>
                      <a:noFill/>
                    </a:lnL>
                    <a:lnR>
                      <a:noFill/>
                    </a:lnR>
                    <a:lnT>
                      <a:noFill/>
                    </a:lnT>
                    <a:lnB>
                      <a:noFill/>
                    </a:lnB>
                    <a:solidFill>
                      <a:srgbClr val="D7EDDF"/>
                    </a:solidFill>
                  </a:tcPr>
                </a:tc>
                <a:extLst>
                  <a:ext uri="{0D108BD9-81ED-4DB2-BD59-A6C34878D82A}">
                    <a16:rowId xmlns:a16="http://schemas.microsoft.com/office/drawing/2014/main" val="3512191254"/>
                  </a:ext>
                </a:extLst>
              </a:tr>
              <a:tr h="203589">
                <a:tc>
                  <a:txBody>
                    <a:bodyPr/>
                    <a:lstStyle/>
                    <a:p>
                      <a:pPr algn="l" fontAlgn="ctr"/>
                      <a:r>
                        <a:rPr lang="fr-FR" sz="800" b="0" i="0" u="sng" strike="noStrike">
                          <a:solidFill>
                            <a:srgbClr val="000000"/>
                          </a:solidFill>
                          <a:effectLst/>
                          <a:latin typeface="+mn-lt"/>
                        </a:rPr>
                        <a:t>Zach LaVine</a:t>
                      </a:r>
                    </a:p>
                  </a:txBody>
                  <a:tcPr marL="5572" marR="5572" marT="5572" marB="0" anchor="ctr">
                    <a:lnL>
                      <a:noFill/>
                    </a:lnL>
                    <a:lnR>
                      <a:noFill/>
                    </a:lnR>
                    <a:lnT>
                      <a:noFill/>
                    </a:lnT>
                    <a:lnB>
                      <a:noFill/>
                    </a:lnB>
                    <a:solidFill>
                      <a:srgbClr val="F8F8F8"/>
                    </a:solidFill>
                  </a:tcPr>
                </a:tc>
                <a:tc>
                  <a:txBody>
                    <a:bodyPr/>
                    <a:lstStyle/>
                    <a:p>
                      <a:pPr algn="ctr" fontAlgn="ctr"/>
                      <a:r>
                        <a:rPr lang="fr-FR" sz="600" b="0" i="0" u="none" strike="noStrike">
                          <a:solidFill>
                            <a:srgbClr val="000000"/>
                          </a:solidFill>
                          <a:effectLst/>
                          <a:latin typeface="Arial" panose="020B0604020202020204" pitchFamily="34" charset="0"/>
                        </a:rPr>
                        <a:t>1724</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622</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51,1</a:t>
                      </a:r>
                    </a:p>
                  </a:txBody>
                  <a:tcPr marL="5572" marR="5572" marT="5572" marB="0" anchor="ctr">
                    <a:lnL>
                      <a:noFill/>
                    </a:lnL>
                    <a:lnR>
                      <a:noFill/>
                    </a:lnR>
                    <a:lnT>
                      <a:noFill/>
                    </a:lnT>
                    <a:lnB>
                      <a:noFill/>
                    </a:lnB>
                    <a:solidFill>
                      <a:srgbClr val="ACDCBA"/>
                    </a:solidFill>
                  </a:tcPr>
                </a:tc>
                <a:tc>
                  <a:txBody>
                    <a:bodyPr/>
                    <a:lstStyle/>
                    <a:p>
                      <a:pPr algn="ctr" fontAlgn="ctr"/>
                      <a:r>
                        <a:rPr lang="fr-FR" sz="600" b="0" i="0" u="none" strike="noStrike">
                          <a:solidFill>
                            <a:srgbClr val="000000"/>
                          </a:solidFill>
                          <a:effectLst/>
                          <a:latin typeface="Arial" panose="020B0604020202020204" pitchFamily="34" charset="0"/>
                        </a:rPr>
                        <a:t>44,6</a:t>
                      </a:r>
                    </a:p>
                  </a:txBody>
                  <a:tcPr marL="5572" marR="5572" marT="5572" marB="0" anchor="ctr">
                    <a:lnL>
                      <a:noFill/>
                    </a:lnL>
                    <a:lnR>
                      <a:noFill/>
                    </a:lnR>
                    <a:lnT>
                      <a:noFill/>
                    </a:lnT>
                    <a:lnB>
                      <a:noFill/>
                    </a:lnB>
                    <a:solidFill>
                      <a:srgbClr val="63BE7B"/>
                    </a:solidFill>
                  </a:tcPr>
                </a:tc>
                <a:tc>
                  <a:txBody>
                    <a:bodyPr/>
                    <a:lstStyle/>
                    <a:p>
                      <a:pPr algn="ctr" fontAlgn="ctr"/>
                      <a:r>
                        <a:rPr lang="fr-FR" sz="600" b="0" i="0" u="none" strike="noStrike">
                          <a:solidFill>
                            <a:srgbClr val="000000"/>
                          </a:solidFill>
                          <a:effectLst/>
                          <a:latin typeface="Arial" panose="020B0604020202020204" pitchFamily="34" charset="0"/>
                        </a:rPr>
                        <a:t>82,5</a:t>
                      </a:r>
                    </a:p>
                  </a:txBody>
                  <a:tcPr marL="5572" marR="5572" marT="5572" marB="0" anchor="ctr">
                    <a:lnL>
                      <a:noFill/>
                    </a:lnL>
                    <a:lnR>
                      <a:noFill/>
                    </a:lnR>
                    <a:lnT>
                      <a:noFill/>
                    </a:lnT>
                    <a:lnB>
                      <a:noFill/>
                    </a:lnB>
                    <a:solidFill>
                      <a:srgbClr val="98D4A9"/>
                    </a:solidFill>
                  </a:tcPr>
                </a:tc>
                <a:tc>
                  <a:txBody>
                    <a:bodyPr/>
                    <a:lstStyle/>
                    <a:p>
                      <a:pPr algn="ctr" fontAlgn="ctr"/>
                      <a:r>
                        <a:rPr lang="fr-FR" sz="600" b="0" i="0" u="none" strike="noStrike">
                          <a:solidFill>
                            <a:srgbClr val="000000"/>
                          </a:solidFill>
                          <a:effectLst/>
                          <a:latin typeface="Arial" panose="020B0604020202020204" pitchFamily="34" charset="0"/>
                        </a:rPr>
                        <a:t>22</a:t>
                      </a:r>
                    </a:p>
                  </a:txBody>
                  <a:tcPr marL="5572" marR="5572" marT="5572" marB="0" anchor="ctr">
                    <a:lnL>
                      <a:noFill/>
                    </a:lnL>
                    <a:lnR>
                      <a:noFill/>
                    </a:lnR>
                    <a:lnT>
                      <a:noFill/>
                    </a:lnT>
                    <a:lnB>
                      <a:noFill/>
                    </a:lnB>
                    <a:solidFill>
                      <a:srgbClr val="FCFCFF"/>
                    </a:solidFill>
                  </a:tcPr>
                </a:tc>
                <a:tc>
                  <a:txBody>
                    <a:bodyPr/>
                    <a:lstStyle/>
                    <a:p>
                      <a:pPr algn="ctr" fontAlgn="ctr"/>
                      <a:r>
                        <a:rPr lang="fr-FR" sz="600" b="0" i="0" u="none" strike="noStrike">
                          <a:solidFill>
                            <a:srgbClr val="000000"/>
                          </a:solidFill>
                          <a:effectLst/>
                          <a:latin typeface="Arial" panose="020B0604020202020204" pitchFamily="34" charset="0"/>
                        </a:rPr>
                        <a:t>11,5</a:t>
                      </a:r>
                    </a:p>
                  </a:txBody>
                  <a:tcPr marL="5572" marR="5572" marT="5572" marB="0" anchor="ctr">
                    <a:lnL>
                      <a:noFill/>
                    </a:lnL>
                    <a:lnR>
                      <a:noFill/>
                    </a:lnR>
                    <a:lnT>
                      <a:noFill/>
                    </a:lnT>
                    <a:lnB>
                      <a:noFill/>
                    </a:lnB>
                    <a:solidFill>
                      <a:srgbClr val="F87A7C"/>
                    </a:solidFill>
                  </a:tcPr>
                </a:tc>
                <a:extLst>
                  <a:ext uri="{0D108BD9-81ED-4DB2-BD59-A6C34878D82A}">
                    <a16:rowId xmlns:a16="http://schemas.microsoft.com/office/drawing/2014/main" val="384302819"/>
                  </a:ext>
                </a:extLst>
              </a:tr>
              <a:tr h="203589">
                <a:tc>
                  <a:txBody>
                    <a:bodyPr/>
                    <a:lstStyle/>
                    <a:p>
                      <a:pPr algn="l" fontAlgn="ctr"/>
                      <a:r>
                        <a:rPr lang="fr-FR" sz="800" b="0" i="0" u="sng" strike="noStrike">
                          <a:solidFill>
                            <a:srgbClr val="000000"/>
                          </a:solidFill>
                          <a:effectLst/>
                          <a:latin typeface="+mn-lt"/>
                        </a:rPr>
                        <a:t>Jalen Green</a:t>
                      </a:r>
                    </a:p>
                  </a:txBody>
                  <a:tcPr marL="5572" marR="5572" marT="5572" marB="0" anchor="ctr">
                    <a:lnL>
                      <a:noFill/>
                    </a:lnL>
                    <a:lnR>
                      <a:noFill/>
                    </a:lnR>
                    <a:lnT>
                      <a:noFill/>
                    </a:lnT>
                    <a:lnB>
                      <a:noFill/>
                    </a:lnB>
                    <a:solidFill>
                      <a:srgbClr val="F8F8F8"/>
                    </a:solidFill>
                  </a:tcPr>
                </a:tc>
                <a:tc>
                  <a:txBody>
                    <a:bodyPr/>
                    <a:lstStyle/>
                    <a:p>
                      <a:pPr algn="ctr" fontAlgn="ctr"/>
                      <a:r>
                        <a:rPr lang="fr-FR" sz="600" b="0" i="0" u="none" strike="noStrike">
                          <a:solidFill>
                            <a:srgbClr val="000000"/>
                          </a:solidFill>
                          <a:effectLst/>
                          <a:latin typeface="Arial" panose="020B0604020202020204" pitchFamily="34" charset="0"/>
                        </a:rPr>
                        <a:t>1722</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607</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42,3</a:t>
                      </a:r>
                    </a:p>
                  </a:txBody>
                  <a:tcPr marL="5572" marR="5572" marT="5572" marB="0" anchor="ctr">
                    <a:lnL>
                      <a:noFill/>
                    </a:lnL>
                    <a:lnR>
                      <a:noFill/>
                    </a:lnR>
                    <a:lnT>
                      <a:noFill/>
                    </a:lnT>
                    <a:lnB>
                      <a:noFill/>
                    </a:lnB>
                    <a:solidFill>
                      <a:srgbClr val="F2F8F7"/>
                    </a:solidFill>
                  </a:tcPr>
                </a:tc>
                <a:tc>
                  <a:txBody>
                    <a:bodyPr/>
                    <a:lstStyle/>
                    <a:p>
                      <a:pPr algn="ctr" fontAlgn="ctr"/>
                      <a:r>
                        <a:rPr lang="fr-FR" sz="600" b="0" i="0" u="none" strike="noStrike">
                          <a:solidFill>
                            <a:srgbClr val="000000"/>
                          </a:solidFill>
                          <a:effectLst/>
                          <a:latin typeface="Arial" panose="020B0604020202020204" pitchFamily="34" charset="0"/>
                        </a:rPr>
                        <a:t>35,4</a:t>
                      </a:r>
                    </a:p>
                  </a:txBody>
                  <a:tcPr marL="5572" marR="5572" marT="5572" marB="0" anchor="ctr">
                    <a:lnL>
                      <a:noFill/>
                    </a:lnL>
                    <a:lnR>
                      <a:noFill/>
                    </a:lnR>
                    <a:lnT>
                      <a:noFill/>
                    </a:lnT>
                    <a:lnB>
                      <a:noFill/>
                    </a:lnB>
                    <a:solidFill>
                      <a:srgbClr val="A2D8B2"/>
                    </a:solidFill>
                  </a:tcPr>
                </a:tc>
                <a:tc>
                  <a:txBody>
                    <a:bodyPr/>
                    <a:lstStyle/>
                    <a:p>
                      <a:pPr algn="ctr" fontAlgn="ctr"/>
                      <a:r>
                        <a:rPr lang="fr-FR" sz="600" b="0" i="0" u="none" strike="noStrike">
                          <a:solidFill>
                            <a:srgbClr val="000000"/>
                          </a:solidFill>
                          <a:effectLst/>
                          <a:latin typeface="Arial" panose="020B0604020202020204" pitchFamily="34" charset="0"/>
                        </a:rPr>
                        <a:t>81,3</a:t>
                      </a:r>
                    </a:p>
                  </a:txBody>
                  <a:tcPr marL="5572" marR="5572" marT="5572" marB="0" anchor="ctr">
                    <a:lnL>
                      <a:noFill/>
                    </a:lnL>
                    <a:lnR>
                      <a:noFill/>
                    </a:lnR>
                    <a:lnT>
                      <a:noFill/>
                    </a:lnT>
                    <a:lnB>
                      <a:noFill/>
                    </a:lnB>
                    <a:solidFill>
                      <a:srgbClr val="9ED6AE"/>
                    </a:solidFill>
                  </a:tcPr>
                </a:tc>
                <a:tc>
                  <a:txBody>
                    <a:bodyPr/>
                    <a:lstStyle/>
                    <a:p>
                      <a:pPr algn="ctr" fontAlgn="ctr"/>
                      <a:r>
                        <a:rPr lang="fr-FR" sz="600" b="0" i="0" u="none" strike="noStrike">
                          <a:solidFill>
                            <a:srgbClr val="000000"/>
                          </a:solidFill>
                          <a:effectLst/>
                          <a:latin typeface="Arial" panose="020B0604020202020204" pitchFamily="34" charset="0"/>
                        </a:rPr>
                        <a:t>41</a:t>
                      </a:r>
                    </a:p>
                  </a:txBody>
                  <a:tcPr marL="5572" marR="5572" marT="5572" marB="0" anchor="ctr">
                    <a:lnL>
                      <a:noFill/>
                    </a:lnL>
                    <a:lnR>
                      <a:noFill/>
                    </a:lnR>
                    <a:lnT>
                      <a:noFill/>
                    </a:lnT>
                    <a:lnB>
                      <a:noFill/>
                    </a:lnB>
                    <a:solidFill>
                      <a:srgbClr val="EDF6F2"/>
                    </a:solidFill>
                  </a:tcPr>
                </a:tc>
                <a:tc>
                  <a:txBody>
                    <a:bodyPr/>
                    <a:lstStyle/>
                    <a:p>
                      <a:pPr algn="ctr" fontAlgn="ctr"/>
                      <a:r>
                        <a:rPr lang="fr-FR" sz="600" b="0" i="0" u="none" strike="noStrike">
                          <a:solidFill>
                            <a:srgbClr val="000000"/>
                          </a:solidFill>
                          <a:effectLst/>
                          <a:latin typeface="Arial" panose="020B0604020202020204" pitchFamily="34" charset="0"/>
                        </a:rPr>
                        <a:t>11,1</a:t>
                      </a:r>
                    </a:p>
                  </a:txBody>
                  <a:tcPr marL="5572" marR="5572" marT="5572" marB="0" anchor="ctr">
                    <a:lnL>
                      <a:noFill/>
                    </a:lnL>
                    <a:lnR>
                      <a:noFill/>
                    </a:lnR>
                    <a:lnT>
                      <a:noFill/>
                    </a:lnT>
                    <a:lnB>
                      <a:noFill/>
                    </a:lnB>
                    <a:solidFill>
                      <a:srgbClr val="F8696B"/>
                    </a:solidFill>
                  </a:tcPr>
                </a:tc>
                <a:extLst>
                  <a:ext uri="{0D108BD9-81ED-4DB2-BD59-A6C34878D82A}">
                    <a16:rowId xmlns:a16="http://schemas.microsoft.com/office/drawing/2014/main" val="253061314"/>
                  </a:ext>
                </a:extLst>
              </a:tr>
              <a:tr h="203589">
                <a:tc>
                  <a:txBody>
                    <a:bodyPr/>
                    <a:lstStyle/>
                    <a:p>
                      <a:pPr algn="l" fontAlgn="ctr"/>
                      <a:r>
                        <a:rPr lang="fr-FR" sz="800" b="0" i="0" u="sng" strike="noStrike">
                          <a:solidFill>
                            <a:srgbClr val="000000"/>
                          </a:solidFill>
                          <a:effectLst/>
                          <a:latin typeface="+mn-lt"/>
                        </a:rPr>
                        <a:t>Stephen Curry</a:t>
                      </a:r>
                    </a:p>
                  </a:txBody>
                  <a:tcPr marL="5572" marR="5572" marT="5572" marB="0" anchor="ctr">
                    <a:lnL>
                      <a:noFill/>
                    </a:lnL>
                    <a:lnR>
                      <a:noFill/>
                    </a:lnR>
                    <a:lnT>
                      <a:noFill/>
                    </a:lnT>
                    <a:lnB>
                      <a:noFill/>
                    </a:lnB>
                    <a:solidFill>
                      <a:srgbClr val="F8F8F8"/>
                    </a:solidFill>
                  </a:tcPr>
                </a:tc>
                <a:tc>
                  <a:txBody>
                    <a:bodyPr/>
                    <a:lstStyle/>
                    <a:p>
                      <a:pPr algn="ctr" fontAlgn="ctr"/>
                      <a:r>
                        <a:rPr lang="fr-FR" sz="600" b="0" i="0" u="none" strike="noStrike">
                          <a:solidFill>
                            <a:srgbClr val="000000"/>
                          </a:solidFill>
                          <a:effectLst/>
                          <a:latin typeface="Arial" panose="020B0604020202020204" pitchFamily="34" charset="0"/>
                        </a:rPr>
                        <a:t>1715</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567</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44,8</a:t>
                      </a:r>
                    </a:p>
                  </a:txBody>
                  <a:tcPr marL="5572" marR="5572" marT="5572" marB="0" anchor="ctr">
                    <a:lnL>
                      <a:noFill/>
                    </a:lnL>
                    <a:lnR>
                      <a:noFill/>
                    </a:lnR>
                    <a:lnT>
                      <a:noFill/>
                    </a:lnT>
                    <a:lnB>
                      <a:noFill/>
                    </a:lnB>
                    <a:solidFill>
                      <a:srgbClr val="DEF0E5"/>
                    </a:solidFill>
                  </a:tcPr>
                </a:tc>
                <a:tc>
                  <a:txBody>
                    <a:bodyPr/>
                    <a:lstStyle/>
                    <a:p>
                      <a:pPr algn="ctr" fontAlgn="ctr"/>
                      <a:r>
                        <a:rPr lang="fr-FR" sz="600" b="0" i="0" u="none" strike="noStrike">
                          <a:solidFill>
                            <a:srgbClr val="000000"/>
                          </a:solidFill>
                          <a:effectLst/>
                          <a:latin typeface="Arial" panose="020B0604020202020204" pitchFamily="34" charset="0"/>
                        </a:rPr>
                        <a:t>39,7</a:t>
                      </a:r>
                    </a:p>
                  </a:txBody>
                  <a:tcPr marL="5572" marR="5572" marT="5572" marB="0" anchor="ctr">
                    <a:lnL>
                      <a:noFill/>
                    </a:lnL>
                    <a:lnR>
                      <a:noFill/>
                    </a:lnR>
                    <a:lnT>
                      <a:noFill/>
                    </a:lnT>
                    <a:lnB>
                      <a:noFill/>
                    </a:lnB>
                    <a:solidFill>
                      <a:srgbClr val="85CC98"/>
                    </a:solidFill>
                  </a:tcPr>
                </a:tc>
                <a:tc>
                  <a:txBody>
                    <a:bodyPr/>
                    <a:lstStyle/>
                    <a:p>
                      <a:pPr algn="ctr" fontAlgn="ctr"/>
                      <a:r>
                        <a:rPr lang="fr-FR" sz="600" b="0" i="0" u="none" strike="noStrike">
                          <a:solidFill>
                            <a:srgbClr val="000000"/>
                          </a:solidFill>
                          <a:effectLst/>
                          <a:latin typeface="Arial" panose="020B0604020202020204" pitchFamily="34" charset="0"/>
                        </a:rPr>
                        <a:t>93,3</a:t>
                      </a:r>
                    </a:p>
                  </a:txBody>
                  <a:tcPr marL="5572" marR="5572" marT="5572" marB="0" anchor="ctr">
                    <a:lnL>
                      <a:noFill/>
                    </a:lnL>
                    <a:lnR>
                      <a:noFill/>
                    </a:lnR>
                    <a:lnT>
                      <a:noFill/>
                    </a:lnT>
                    <a:lnB>
                      <a:noFill/>
                    </a:lnB>
                    <a:solidFill>
                      <a:srgbClr val="63BE7B"/>
                    </a:solidFill>
                  </a:tcPr>
                </a:tc>
                <a:tc>
                  <a:txBody>
                    <a:bodyPr/>
                    <a:lstStyle/>
                    <a:p>
                      <a:pPr algn="ctr" fontAlgn="ctr"/>
                      <a:r>
                        <a:rPr lang="fr-FR" sz="600" b="0" i="0" u="none" strike="noStrike">
                          <a:solidFill>
                            <a:srgbClr val="000000"/>
                          </a:solidFill>
                          <a:effectLst/>
                          <a:latin typeface="Arial" panose="020B0604020202020204" pitchFamily="34" charset="0"/>
                        </a:rPr>
                        <a:t>42</a:t>
                      </a:r>
                    </a:p>
                  </a:txBody>
                  <a:tcPr marL="5572" marR="5572" marT="5572" marB="0" anchor="ctr">
                    <a:lnL>
                      <a:noFill/>
                    </a:lnL>
                    <a:lnR>
                      <a:noFill/>
                    </a:lnR>
                    <a:lnT>
                      <a:noFill/>
                    </a:lnT>
                    <a:lnB>
                      <a:noFill/>
                    </a:lnB>
                    <a:solidFill>
                      <a:srgbClr val="ECF6F1"/>
                    </a:solidFill>
                  </a:tcPr>
                </a:tc>
                <a:tc>
                  <a:txBody>
                    <a:bodyPr/>
                    <a:lstStyle/>
                    <a:p>
                      <a:pPr algn="ctr" fontAlgn="ctr"/>
                      <a:r>
                        <a:rPr lang="fr-FR" sz="600" b="0" i="0" u="none" strike="noStrike">
                          <a:solidFill>
                            <a:srgbClr val="000000"/>
                          </a:solidFill>
                          <a:effectLst/>
                          <a:latin typeface="Arial" panose="020B0604020202020204" pitchFamily="34" charset="0"/>
                        </a:rPr>
                        <a:t>14,5</a:t>
                      </a:r>
                    </a:p>
                  </a:txBody>
                  <a:tcPr marL="5572" marR="5572" marT="5572" marB="0" anchor="ctr">
                    <a:lnL>
                      <a:noFill/>
                    </a:lnL>
                    <a:lnR>
                      <a:noFill/>
                    </a:lnR>
                    <a:lnT>
                      <a:noFill/>
                    </a:lnT>
                    <a:lnB>
                      <a:noFill/>
                    </a:lnB>
                    <a:solidFill>
                      <a:srgbClr val="FCFCFF"/>
                    </a:solidFill>
                  </a:tcPr>
                </a:tc>
                <a:extLst>
                  <a:ext uri="{0D108BD9-81ED-4DB2-BD59-A6C34878D82A}">
                    <a16:rowId xmlns:a16="http://schemas.microsoft.com/office/drawing/2014/main" val="2915648736"/>
                  </a:ext>
                </a:extLst>
              </a:tr>
              <a:tr h="203589">
                <a:tc>
                  <a:txBody>
                    <a:bodyPr/>
                    <a:lstStyle/>
                    <a:p>
                      <a:pPr algn="l" fontAlgn="ctr"/>
                      <a:r>
                        <a:rPr lang="fr-FR" sz="800" b="0" i="0" u="sng" strike="noStrike" dirty="0" err="1">
                          <a:solidFill>
                            <a:srgbClr val="000000"/>
                          </a:solidFill>
                          <a:effectLst/>
                          <a:latin typeface="+mn-lt"/>
                        </a:rPr>
                        <a:t>DeMar</a:t>
                      </a:r>
                      <a:r>
                        <a:rPr lang="fr-FR" sz="800" b="0" i="0" u="sng" strike="noStrike" dirty="0">
                          <a:solidFill>
                            <a:srgbClr val="000000"/>
                          </a:solidFill>
                          <a:effectLst/>
                          <a:latin typeface="+mn-lt"/>
                        </a:rPr>
                        <a:t> </a:t>
                      </a:r>
                      <a:r>
                        <a:rPr lang="fr-FR" sz="800" b="0" i="0" u="sng" strike="noStrike" dirty="0" err="1">
                          <a:solidFill>
                            <a:srgbClr val="000000"/>
                          </a:solidFill>
                          <a:effectLst/>
                          <a:latin typeface="+mn-lt"/>
                        </a:rPr>
                        <a:t>DeRozan</a:t>
                      </a:r>
                      <a:endParaRPr lang="fr-FR" sz="800" b="0" i="0" u="sng" strike="noStrike" dirty="0">
                        <a:solidFill>
                          <a:srgbClr val="000000"/>
                        </a:solidFill>
                        <a:effectLst/>
                        <a:latin typeface="+mn-lt"/>
                      </a:endParaRPr>
                    </a:p>
                  </a:txBody>
                  <a:tcPr marL="5572" marR="5572" marT="5572" marB="0" anchor="ctr">
                    <a:lnL>
                      <a:noFill/>
                    </a:lnL>
                    <a:lnR>
                      <a:noFill/>
                    </a:lnR>
                    <a:lnT>
                      <a:noFill/>
                    </a:lnT>
                    <a:lnB>
                      <a:noFill/>
                    </a:lnB>
                    <a:solidFill>
                      <a:srgbClr val="F8F8F8"/>
                    </a:solidFill>
                  </a:tcPr>
                </a:tc>
                <a:tc>
                  <a:txBody>
                    <a:bodyPr/>
                    <a:lstStyle/>
                    <a:p>
                      <a:pPr algn="ctr" fontAlgn="ctr"/>
                      <a:r>
                        <a:rPr lang="fr-FR" sz="600" b="0" i="0" u="none" strike="noStrike">
                          <a:solidFill>
                            <a:srgbClr val="000000"/>
                          </a:solidFill>
                          <a:effectLst/>
                          <a:latin typeface="Arial" panose="020B0604020202020204" pitchFamily="34" charset="0"/>
                        </a:rPr>
                        <a:t>1709</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624</a:t>
                      </a:r>
                    </a:p>
                  </a:txBody>
                  <a:tcPr marL="5572" marR="5572" marT="5572" marB="0" anchor="ctr">
                    <a:lnL>
                      <a:noFill/>
                    </a:lnL>
                    <a:lnR>
                      <a:noFill/>
                    </a:lnR>
                    <a:lnT>
                      <a:noFill/>
                    </a:lnT>
                    <a:lnB>
                      <a:noFill/>
                    </a:lnB>
                    <a:solidFill>
                      <a:srgbClr val="FFFFFF"/>
                    </a:solidFill>
                  </a:tcPr>
                </a:tc>
                <a:tc>
                  <a:txBody>
                    <a:bodyPr/>
                    <a:lstStyle/>
                    <a:p>
                      <a:pPr algn="ctr" fontAlgn="ctr"/>
                      <a:r>
                        <a:rPr lang="fr-FR" sz="600" b="0" i="0" u="none" strike="noStrike">
                          <a:solidFill>
                            <a:srgbClr val="000000"/>
                          </a:solidFill>
                          <a:effectLst/>
                          <a:latin typeface="Arial" panose="020B0604020202020204" pitchFamily="34" charset="0"/>
                        </a:rPr>
                        <a:t>47,7</a:t>
                      </a:r>
                    </a:p>
                  </a:txBody>
                  <a:tcPr marL="5572" marR="5572" marT="5572" marB="0" anchor="ctr">
                    <a:lnL>
                      <a:noFill/>
                    </a:lnL>
                    <a:lnR>
                      <a:noFill/>
                    </a:lnR>
                    <a:lnT>
                      <a:noFill/>
                    </a:lnT>
                    <a:lnB>
                      <a:noFill/>
                    </a:lnB>
                    <a:solidFill>
                      <a:srgbClr val="C7E7D1"/>
                    </a:solidFill>
                  </a:tcPr>
                </a:tc>
                <a:tc>
                  <a:txBody>
                    <a:bodyPr/>
                    <a:lstStyle/>
                    <a:p>
                      <a:pPr algn="ctr" fontAlgn="ctr"/>
                      <a:r>
                        <a:rPr lang="fr-FR" sz="600" b="0" i="0" u="none" strike="noStrike">
                          <a:solidFill>
                            <a:srgbClr val="000000"/>
                          </a:solidFill>
                          <a:effectLst/>
                          <a:latin typeface="Arial" panose="020B0604020202020204" pitchFamily="34" charset="0"/>
                        </a:rPr>
                        <a:t>32,8</a:t>
                      </a:r>
                    </a:p>
                  </a:txBody>
                  <a:tcPr marL="5572" marR="5572" marT="5572" marB="0" anchor="ctr">
                    <a:lnL>
                      <a:noFill/>
                    </a:lnL>
                    <a:lnR>
                      <a:noFill/>
                    </a:lnR>
                    <a:lnT>
                      <a:noFill/>
                    </a:lnT>
                    <a:lnB>
                      <a:noFill/>
                    </a:lnB>
                    <a:solidFill>
                      <a:srgbClr val="B4DFC1"/>
                    </a:solidFill>
                  </a:tcPr>
                </a:tc>
                <a:tc>
                  <a:txBody>
                    <a:bodyPr/>
                    <a:lstStyle/>
                    <a:p>
                      <a:pPr algn="ctr" fontAlgn="ctr"/>
                      <a:r>
                        <a:rPr lang="fr-FR" sz="600" b="0" i="0" u="none" strike="noStrike">
                          <a:solidFill>
                            <a:srgbClr val="000000"/>
                          </a:solidFill>
                          <a:effectLst/>
                          <a:latin typeface="Arial" panose="020B0604020202020204" pitchFamily="34" charset="0"/>
                        </a:rPr>
                        <a:t>85,7</a:t>
                      </a:r>
                    </a:p>
                  </a:txBody>
                  <a:tcPr marL="5572" marR="5572" marT="5572" marB="0" anchor="ctr">
                    <a:lnL>
                      <a:noFill/>
                    </a:lnL>
                    <a:lnR>
                      <a:noFill/>
                    </a:lnR>
                    <a:lnT>
                      <a:noFill/>
                    </a:lnT>
                    <a:lnB>
                      <a:noFill/>
                    </a:lnB>
                    <a:solidFill>
                      <a:srgbClr val="88CD9B"/>
                    </a:solidFill>
                  </a:tcPr>
                </a:tc>
                <a:tc>
                  <a:txBody>
                    <a:bodyPr/>
                    <a:lstStyle/>
                    <a:p>
                      <a:pPr algn="ctr" fontAlgn="ctr"/>
                      <a:r>
                        <a:rPr lang="fr-FR" sz="600" b="0" i="0" u="none" strike="noStrike">
                          <a:solidFill>
                            <a:srgbClr val="000000"/>
                          </a:solidFill>
                          <a:effectLst/>
                          <a:latin typeface="Arial" panose="020B0604020202020204" pitchFamily="34" charset="0"/>
                        </a:rPr>
                        <a:t>46</a:t>
                      </a:r>
                    </a:p>
                  </a:txBody>
                  <a:tcPr marL="5572" marR="5572" marT="5572" marB="0" anchor="ctr">
                    <a:lnL>
                      <a:noFill/>
                    </a:lnL>
                    <a:lnR>
                      <a:noFill/>
                    </a:lnR>
                    <a:lnT>
                      <a:noFill/>
                    </a:lnT>
                    <a:lnB>
                      <a:noFill/>
                    </a:lnB>
                    <a:solidFill>
                      <a:srgbClr val="E9F5EF"/>
                    </a:solidFill>
                  </a:tcPr>
                </a:tc>
                <a:tc>
                  <a:txBody>
                    <a:bodyPr/>
                    <a:lstStyle/>
                    <a:p>
                      <a:pPr algn="ctr" fontAlgn="ctr"/>
                      <a:r>
                        <a:rPr lang="fr-FR" sz="600" b="0" i="0" u="none" strike="noStrike" dirty="0">
                          <a:solidFill>
                            <a:srgbClr val="000000"/>
                          </a:solidFill>
                          <a:effectLst/>
                          <a:latin typeface="Arial" panose="020B0604020202020204" pitchFamily="34" charset="0"/>
                        </a:rPr>
                        <a:t>11,2</a:t>
                      </a:r>
                    </a:p>
                  </a:txBody>
                  <a:tcPr marL="5572" marR="5572" marT="5572" marB="0" anchor="ctr">
                    <a:lnL>
                      <a:noFill/>
                    </a:lnL>
                    <a:lnR>
                      <a:noFill/>
                    </a:lnR>
                    <a:lnT>
                      <a:noFill/>
                    </a:lnT>
                    <a:lnB>
                      <a:noFill/>
                    </a:lnB>
                    <a:solidFill>
                      <a:srgbClr val="F86D6F"/>
                    </a:solidFill>
                  </a:tcPr>
                </a:tc>
                <a:extLst>
                  <a:ext uri="{0D108BD9-81ED-4DB2-BD59-A6C34878D82A}">
                    <a16:rowId xmlns:a16="http://schemas.microsoft.com/office/drawing/2014/main" val="3786273263"/>
                  </a:ext>
                </a:extLst>
              </a:tr>
            </a:tbl>
          </a:graphicData>
        </a:graphic>
      </p:graphicFrame>
    </p:spTree>
    <p:extLst>
      <p:ext uri="{BB962C8B-B14F-4D97-AF65-F5344CB8AC3E}">
        <p14:creationId xmlns:p14="http://schemas.microsoft.com/office/powerpoint/2010/main" val="2253101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Analyse du top 15 (points)</a:t>
            </a:r>
            <a:endParaRPr dirty="0"/>
          </a:p>
        </p:txBody>
      </p:sp>
      <p:pic>
        <p:nvPicPr>
          <p:cNvPr id="3" name="Google Shape;278;p13">
            <a:extLst>
              <a:ext uri="{FF2B5EF4-FFF2-40B4-BE49-F238E27FC236}">
                <a16:creationId xmlns:a16="http://schemas.microsoft.com/office/drawing/2014/main" id="{8B96A690-B28F-0811-6095-6A472C341280}"/>
              </a:ext>
            </a:extLst>
          </p:cNvPr>
          <p:cNvPicPr preferRelativeResize="0"/>
          <p:nvPr/>
        </p:nvPicPr>
        <p:blipFill>
          <a:blip r:embed="rId3">
            <a:alphaModFix/>
          </a:blip>
          <a:stretch>
            <a:fillRect/>
          </a:stretch>
        </p:blipFill>
        <p:spPr>
          <a:xfrm>
            <a:off x="8774747" y="4802092"/>
            <a:ext cx="268716" cy="253439"/>
          </a:xfrm>
          <a:prstGeom prst="rect">
            <a:avLst/>
          </a:prstGeom>
          <a:noFill/>
          <a:ln>
            <a:noFill/>
          </a:ln>
        </p:spPr>
      </p:pic>
      <p:graphicFrame>
        <p:nvGraphicFramePr>
          <p:cNvPr id="2" name="Graphique 1">
            <a:extLst>
              <a:ext uri="{FF2B5EF4-FFF2-40B4-BE49-F238E27FC236}">
                <a16:creationId xmlns:a16="http://schemas.microsoft.com/office/drawing/2014/main" id="{318ABE5C-9D44-54D6-9634-13056FE010F7}"/>
              </a:ext>
            </a:extLst>
          </p:cNvPr>
          <p:cNvGraphicFramePr>
            <a:graphicFrameLocks/>
          </p:cNvGraphicFramePr>
          <p:nvPr/>
        </p:nvGraphicFramePr>
        <p:xfrm>
          <a:off x="0" y="1226457"/>
          <a:ext cx="9144000" cy="391704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8660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Analyse du top 15 (points)</a:t>
            </a:r>
            <a:endParaRPr dirty="0"/>
          </a:p>
        </p:txBody>
      </p:sp>
      <p:pic>
        <p:nvPicPr>
          <p:cNvPr id="3" name="Google Shape;278;p13">
            <a:extLst>
              <a:ext uri="{FF2B5EF4-FFF2-40B4-BE49-F238E27FC236}">
                <a16:creationId xmlns:a16="http://schemas.microsoft.com/office/drawing/2014/main" id="{8B96A690-B28F-0811-6095-6A472C341280}"/>
              </a:ext>
            </a:extLst>
          </p:cNvPr>
          <p:cNvPicPr preferRelativeResize="0"/>
          <p:nvPr/>
        </p:nvPicPr>
        <p:blipFill>
          <a:blip r:embed="rId3">
            <a:alphaModFix/>
          </a:blip>
          <a:stretch>
            <a:fillRect/>
          </a:stretch>
        </p:blipFill>
        <p:spPr>
          <a:xfrm>
            <a:off x="8774747" y="4802092"/>
            <a:ext cx="268716" cy="253439"/>
          </a:xfrm>
          <a:prstGeom prst="rect">
            <a:avLst/>
          </a:prstGeom>
          <a:noFill/>
          <a:ln>
            <a:noFill/>
          </a:ln>
        </p:spPr>
      </p:pic>
      <p:graphicFrame>
        <p:nvGraphicFramePr>
          <p:cNvPr id="4" name="Graphique 3">
            <a:extLst>
              <a:ext uri="{FF2B5EF4-FFF2-40B4-BE49-F238E27FC236}">
                <a16:creationId xmlns:a16="http://schemas.microsoft.com/office/drawing/2014/main" id="{0D916BA7-1E5B-0D39-D5D6-21B9E93D1438}"/>
              </a:ext>
            </a:extLst>
          </p:cNvPr>
          <p:cNvGraphicFramePr>
            <a:graphicFrameLocks/>
          </p:cNvGraphicFramePr>
          <p:nvPr>
            <p:extLst>
              <p:ext uri="{D42A27DB-BD31-4B8C-83A1-F6EECF244321}">
                <p14:modId xmlns:p14="http://schemas.microsoft.com/office/powerpoint/2010/main" val="3848909045"/>
              </p:ext>
            </p:extLst>
          </p:nvPr>
        </p:nvGraphicFramePr>
        <p:xfrm>
          <a:off x="0" y="1182913"/>
          <a:ext cx="9144000" cy="396058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24228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Analyse(s) complémentaire(s)</a:t>
            </a:r>
            <a:endParaRPr dirty="0"/>
          </a:p>
        </p:txBody>
      </p:sp>
      <p:pic>
        <p:nvPicPr>
          <p:cNvPr id="3" name="Google Shape;278;p13">
            <a:extLst>
              <a:ext uri="{FF2B5EF4-FFF2-40B4-BE49-F238E27FC236}">
                <a16:creationId xmlns:a16="http://schemas.microsoft.com/office/drawing/2014/main" id="{8B96A690-B28F-0811-6095-6A472C341280}"/>
              </a:ext>
            </a:extLst>
          </p:cNvPr>
          <p:cNvPicPr preferRelativeResize="0"/>
          <p:nvPr/>
        </p:nvPicPr>
        <p:blipFill>
          <a:blip r:embed="rId3">
            <a:alphaModFix/>
          </a:blip>
          <a:stretch>
            <a:fillRect/>
          </a:stretch>
        </p:blipFill>
        <p:spPr>
          <a:xfrm>
            <a:off x="8774747" y="4802092"/>
            <a:ext cx="268716" cy="253439"/>
          </a:xfrm>
          <a:prstGeom prst="rect">
            <a:avLst/>
          </a:prstGeom>
          <a:noFill/>
          <a:ln>
            <a:noFill/>
          </a:ln>
        </p:spPr>
      </p:pic>
      <p:graphicFrame>
        <p:nvGraphicFramePr>
          <p:cNvPr id="4" name="Graphique 3">
            <a:extLst>
              <a:ext uri="{FF2B5EF4-FFF2-40B4-BE49-F238E27FC236}">
                <a16:creationId xmlns:a16="http://schemas.microsoft.com/office/drawing/2014/main" id="{67D3F35A-4EC1-3185-5D69-389E81B565BB}"/>
              </a:ext>
            </a:extLst>
          </p:cNvPr>
          <p:cNvGraphicFramePr>
            <a:graphicFrameLocks/>
          </p:cNvGraphicFramePr>
          <p:nvPr>
            <p:extLst>
              <p:ext uri="{D42A27DB-BD31-4B8C-83A1-F6EECF244321}">
                <p14:modId xmlns:p14="http://schemas.microsoft.com/office/powerpoint/2010/main" val="1765544831"/>
              </p:ext>
            </p:extLst>
          </p:nvPr>
        </p:nvGraphicFramePr>
        <p:xfrm>
          <a:off x="755196" y="1234966"/>
          <a:ext cx="7742418" cy="386295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53014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Analyse(s) complémentaire(s)</a:t>
            </a:r>
            <a:endParaRPr dirty="0"/>
          </a:p>
        </p:txBody>
      </p:sp>
      <p:pic>
        <p:nvPicPr>
          <p:cNvPr id="3" name="Google Shape;278;p13">
            <a:extLst>
              <a:ext uri="{FF2B5EF4-FFF2-40B4-BE49-F238E27FC236}">
                <a16:creationId xmlns:a16="http://schemas.microsoft.com/office/drawing/2014/main" id="{8B96A690-B28F-0811-6095-6A472C341280}"/>
              </a:ext>
            </a:extLst>
          </p:cNvPr>
          <p:cNvPicPr preferRelativeResize="0"/>
          <p:nvPr/>
        </p:nvPicPr>
        <p:blipFill>
          <a:blip r:embed="rId3">
            <a:alphaModFix/>
          </a:blip>
          <a:stretch>
            <a:fillRect/>
          </a:stretch>
        </p:blipFill>
        <p:spPr>
          <a:xfrm>
            <a:off x="8774747" y="4802092"/>
            <a:ext cx="268716" cy="253439"/>
          </a:xfrm>
          <a:prstGeom prst="rect">
            <a:avLst/>
          </a:prstGeom>
          <a:noFill/>
          <a:ln>
            <a:noFill/>
          </a:ln>
        </p:spPr>
      </p:pic>
      <p:graphicFrame>
        <p:nvGraphicFramePr>
          <p:cNvPr id="4" name="Graphique 3">
            <a:extLst>
              <a:ext uri="{FF2B5EF4-FFF2-40B4-BE49-F238E27FC236}">
                <a16:creationId xmlns:a16="http://schemas.microsoft.com/office/drawing/2014/main" id="{A59DEE9A-BDD3-A44B-0315-C2E3659FA898}"/>
              </a:ext>
            </a:extLst>
          </p:cNvPr>
          <p:cNvGraphicFramePr>
            <a:graphicFrameLocks/>
          </p:cNvGraphicFramePr>
          <p:nvPr>
            <p:extLst>
              <p:ext uri="{D42A27DB-BD31-4B8C-83A1-F6EECF244321}">
                <p14:modId xmlns:p14="http://schemas.microsoft.com/office/powerpoint/2010/main" val="173910264"/>
              </p:ext>
            </p:extLst>
          </p:nvPr>
        </p:nvGraphicFramePr>
        <p:xfrm>
          <a:off x="0" y="1303283"/>
          <a:ext cx="9143999" cy="384021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998630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Analyse(s) complémentaire(s)</a:t>
            </a:r>
            <a:endParaRPr dirty="0"/>
          </a:p>
        </p:txBody>
      </p:sp>
      <p:pic>
        <p:nvPicPr>
          <p:cNvPr id="3" name="Google Shape;278;p13">
            <a:extLst>
              <a:ext uri="{FF2B5EF4-FFF2-40B4-BE49-F238E27FC236}">
                <a16:creationId xmlns:a16="http://schemas.microsoft.com/office/drawing/2014/main" id="{8B96A690-B28F-0811-6095-6A472C341280}"/>
              </a:ext>
            </a:extLst>
          </p:cNvPr>
          <p:cNvPicPr preferRelativeResize="0"/>
          <p:nvPr/>
        </p:nvPicPr>
        <p:blipFill>
          <a:blip r:embed="rId3">
            <a:alphaModFix/>
          </a:blip>
          <a:stretch>
            <a:fillRect/>
          </a:stretch>
        </p:blipFill>
        <p:spPr>
          <a:xfrm>
            <a:off x="8774747" y="4802092"/>
            <a:ext cx="268716" cy="253439"/>
          </a:xfrm>
          <a:prstGeom prst="rect">
            <a:avLst/>
          </a:prstGeom>
          <a:noFill/>
          <a:ln>
            <a:noFill/>
          </a:ln>
        </p:spPr>
      </p:pic>
      <p:graphicFrame>
        <p:nvGraphicFramePr>
          <p:cNvPr id="5" name="Graphique 4">
            <a:extLst>
              <a:ext uri="{FF2B5EF4-FFF2-40B4-BE49-F238E27FC236}">
                <a16:creationId xmlns:a16="http://schemas.microsoft.com/office/drawing/2014/main" id="{62C2E260-B504-B849-7F41-EB415BFA8C33}"/>
              </a:ext>
            </a:extLst>
          </p:cNvPr>
          <p:cNvGraphicFramePr>
            <a:graphicFrameLocks/>
          </p:cNvGraphicFramePr>
          <p:nvPr>
            <p:extLst>
              <p:ext uri="{D42A27DB-BD31-4B8C-83A1-F6EECF244321}">
                <p14:modId xmlns:p14="http://schemas.microsoft.com/office/powerpoint/2010/main" val="3460232460"/>
              </p:ext>
            </p:extLst>
          </p:nvPr>
        </p:nvGraphicFramePr>
        <p:xfrm>
          <a:off x="-1" y="1240220"/>
          <a:ext cx="8774747" cy="390328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891126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Synthèse</a:t>
            </a:r>
            <a:endParaRPr dirty="0"/>
          </a:p>
        </p:txBody>
      </p:sp>
      <p:sp>
        <p:nvSpPr>
          <p:cNvPr id="284" name="Google Shape;284;p1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fr-FR" dirty="0"/>
              <a:t>1 – Inutile de recruter trop de joueurs, se concentrer sur 2/3 joueurs ultra performants.</a:t>
            </a:r>
          </a:p>
          <a:p>
            <a:pPr marL="0" lvl="0" indent="0" algn="l" rtl="0">
              <a:spcBef>
                <a:spcPts val="0"/>
              </a:spcBef>
              <a:spcAft>
                <a:spcPts val="1200"/>
              </a:spcAft>
              <a:buNone/>
            </a:pPr>
            <a:r>
              <a:rPr lang="fr-FR" dirty="0"/>
              <a:t>2 – Priorité à l’impact global et à l’efficacité (PIE et FG%) dans le recrutement de ces joueurs.</a:t>
            </a:r>
          </a:p>
          <a:p>
            <a:pPr marL="0" lvl="0" indent="0" algn="l" rtl="0">
              <a:spcBef>
                <a:spcPts val="0"/>
              </a:spcBef>
              <a:spcAft>
                <a:spcPts val="1200"/>
              </a:spcAft>
              <a:buNone/>
            </a:pPr>
            <a:r>
              <a:rPr lang="fr-FR" dirty="0"/>
              <a:t>3 – Le rôle des joueurs de soutien est essentiel à l’impact général (rebonds / passes).</a:t>
            </a:r>
          </a:p>
          <a:p>
            <a:pPr marL="0" lvl="0" indent="0" algn="l" rtl="0">
              <a:spcBef>
                <a:spcPts val="0"/>
              </a:spcBef>
              <a:spcAft>
                <a:spcPts val="1200"/>
              </a:spcAft>
              <a:buNone/>
            </a:pPr>
            <a:r>
              <a:rPr lang="fr-FR" dirty="0"/>
              <a:t>4 – Il faut concentrer le recrutement sur les joueurs de soutien qui ont un impact sur les deux côtés du terrain.</a:t>
            </a:r>
          </a:p>
          <a:p>
            <a:pPr marL="0" lvl="0" indent="0" algn="l" rtl="0">
              <a:spcBef>
                <a:spcPts val="0"/>
              </a:spcBef>
              <a:spcAft>
                <a:spcPts val="1200"/>
              </a:spcAft>
              <a:buNone/>
            </a:pPr>
            <a:r>
              <a:rPr lang="fr-FR" dirty="0"/>
              <a:t>5 – Travailler l’état d’esprit de l’équipe qui doit donner son maximum pour marquer ET empêcher de marquer les adversaires.</a:t>
            </a:r>
            <a:endParaRPr dirty="0"/>
          </a:p>
        </p:txBody>
      </p:sp>
      <p:pic>
        <p:nvPicPr>
          <p:cNvPr id="3" name="Google Shape;278;p13">
            <a:extLst>
              <a:ext uri="{FF2B5EF4-FFF2-40B4-BE49-F238E27FC236}">
                <a16:creationId xmlns:a16="http://schemas.microsoft.com/office/drawing/2014/main" id="{8B96A690-B28F-0811-6095-6A472C341280}"/>
              </a:ext>
            </a:extLst>
          </p:cNvPr>
          <p:cNvPicPr preferRelativeResize="0"/>
          <p:nvPr/>
        </p:nvPicPr>
        <p:blipFill>
          <a:blip r:embed="rId3">
            <a:alphaModFix/>
          </a:blip>
          <a:stretch>
            <a:fillRect/>
          </a:stretch>
        </p:blipFill>
        <p:spPr>
          <a:xfrm>
            <a:off x="8774747" y="4802092"/>
            <a:ext cx="268716" cy="253439"/>
          </a:xfrm>
          <a:prstGeom prst="rect">
            <a:avLst/>
          </a:prstGeom>
          <a:noFill/>
          <a:ln>
            <a:noFill/>
          </a:ln>
        </p:spPr>
      </p:pic>
    </p:spTree>
    <p:extLst>
      <p:ext uri="{BB962C8B-B14F-4D97-AF65-F5344CB8AC3E}">
        <p14:creationId xmlns:p14="http://schemas.microsoft.com/office/powerpoint/2010/main" val="1864044771"/>
      </p:ext>
    </p:extLst>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353</TotalTime>
  <Words>1443</Words>
  <Application>Microsoft Office PowerPoint</Application>
  <PresentationFormat>Affichage à l'écran (16:9)</PresentationFormat>
  <Paragraphs>293</Paragraphs>
  <Slides>13</Slides>
  <Notes>13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13</vt:i4>
      </vt:variant>
    </vt:vector>
  </HeadingPairs>
  <TitlesOfParts>
    <vt:vector size="18" baseType="lpstr">
      <vt:lpstr>Nunito</vt:lpstr>
      <vt:lpstr>Arial</vt:lpstr>
      <vt:lpstr>Segoe UI</vt:lpstr>
      <vt:lpstr>Maven Pro</vt:lpstr>
      <vt:lpstr>Momentum</vt:lpstr>
      <vt:lpstr>Exemple d’analyse NBA</vt:lpstr>
      <vt:lpstr>Données les plus importantes dans le fichier NBA</vt:lpstr>
      <vt:lpstr>Méthodologie d’analyse</vt:lpstr>
      <vt:lpstr>Saison 2024/2025</vt:lpstr>
      <vt:lpstr>Analyse d’une équipe</vt:lpstr>
      <vt:lpstr>Analyse d’une équipe</vt:lpstr>
      <vt:lpstr>Analyse du top 15 (points)</vt:lpstr>
      <vt:lpstr>Analyse du top 15 (points)</vt:lpstr>
      <vt:lpstr>Analyse du top 15 (points)</vt:lpstr>
      <vt:lpstr>Analyse(s) complémentaire(s)</vt:lpstr>
      <vt:lpstr>Analyse(s) complémentaire(s)</vt:lpstr>
      <vt:lpstr>Analyse(s) complémentaire(s)</vt:lpstr>
      <vt:lpstr>Synthèse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Zied Belhocine</cp:lastModifiedBy>
  <cp:revision>4</cp:revision>
  <dcterms:modified xsi:type="dcterms:W3CDTF">2025-10-10T09:31:07Z</dcterms:modified>
</cp:coreProperties>
</file>